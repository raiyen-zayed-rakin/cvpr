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75" r:id="rId15"/>
    <p:sldId id="274" r:id="rId16"/>
    <p:sldId id="280" r:id="rId17"/>
    <p:sldId id="279" r:id="rId18"/>
    <p:sldId id="276" r:id="rId19"/>
    <p:sldId id="272" r:id="rId20"/>
    <p:sldId id="273" r:id="rId21"/>
    <p:sldId id="278"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712" autoAdjust="0"/>
  </p:normalViewPr>
  <p:slideViewPr>
    <p:cSldViewPr snapToGrid="0" snapToObjects="1">
      <p:cViewPr varScale="1">
        <p:scale>
          <a:sx n="95" d="100"/>
          <a:sy n="95" d="100"/>
        </p:scale>
        <p:origin x="109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AE59FE-DA30-4EAA-8D80-EF8CB6E263E5}" type="datetimeFigureOut">
              <a:rPr lang="en-US" smtClean="0"/>
              <a:t>12/30/2025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BD15EB-690A-42DA-ADFA-97DE906BE420}" type="slidenum">
              <a:rPr lang="en-US" smtClean="0"/>
              <a:t>‹#›</a:t>
            </a:fld>
            <a:endParaRPr lang="en-US"/>
          </a:p>
        </p:txBody>
      </p:sp>
    </p:spTree>
    <p:extLst>
      <p:ext uri="{BB962C8B-B14F-4D97-AF65-F5344CB8AC3E}">
        <p14:creationId xmlns:p14="http://schemas.microsoft.com/office/powerpoint/2010/main" val="4275113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Step 2: Shared MLP (Multi-Layer Perceptron)</a:t>
            </a:r>
          </a:p>
          <a:p>
            <a:r>
              <a:rPr lang="en-US" dirty="0"/>
              <a:t>Both pooled features go through the same neural network:</a:t>
            </a:r>
          </a:p>
          <a:p>
            <a:pPr rtl="0" latinLnBrk="0"/>
            <a:r>
              <a:rPr lang="en-US" sz="1200" kern="1200" dirty="0" err="1">
                <a:solidFill>
                  <a:schemeClr val="tx1"/>
                </a:solidFill>
                <a:effectLst/>
                <a:latin typeface="+mn-lt"/>
                <a:ea typeface="+mn-ea"/>
                <a:cs typeface="+mn-cs"/>
              </a:rPr>
              <a:t>AvgPool</a:t>
            </a:r>
            <a:r>
              <a:rPr lang="en-US" sz="1200" kern="1200" dirty="0">
                <a:solidFill>
                  <a:schemeClr val="tx1"/>
                </a:solidFill>
                <a:effectLst/>
                <a:latin typeface="+mn-lt"/>
                <a:ea typeface="+mn-ea"/>
                <a:cs typeface="+mn-cs"/>
              </a:rPr>
              <a:t> output: 1×1×256  ──┐</a:t>
            </a:r>
          </a:p>
          <a:p>
            <a:pPr rtl="0" latinLnBrk="0"/>
            <a:r>
              <a:rPr lang="en-US" sz="1200" kern="1200" dirty="0">
                <a:solidFill>
                  <a:schemeClr val="tx1"/>
                </a:solidFill>
                <a:effectLst/>
                <a:latin typeface="+mn-lt"/>
                <a:ea typeface="+mn-ea"/>
                <a:cs typeface="+mn-cs"/>
              </a:rPr>
              <a:t>                           ├──→ MLP (Shared weights)</a:t>
            </a:r>
          </a:p>
          <a:p>
            <a:pPr rtl="0" latinLnBrk="0"/>
            <a:r>
              <a:rPr lang="en-US" sz="1200" kern="1200" dirty="0" err="1">
                <a:solidFill>
                  <a:schemeClr val="tx1"/>
                </a:solidFill>
                <a:effectLst/>
                <a:latin typeface="+mn-lt"/>
                <a:ea typeface="+mn-ea"/>
                <a:cs typeface="+mn-cs"/>
              </a:rPr>
              <a:t>MaxPool</a:t>
            </a:r>
            <a:r>
              <a:rPr lang="en-US" sz="1200" kern="1200" dirty="0">
                <a:solidFill>
                  <a:schemeClr val="tx1"/>
                </a:solidFill>
                <a:effectLst/>
                <a:latin typeface="+mn-lt"/>
                <a:ea typeface="+mn-ea"/>
                <a:cs typeface="+mn-cs"/>
              </a:rPr>
              <a:t> output: 1×1×256  ──┘</a:t>
            </a:r>
          </a:p>
          <a:p>
            <a:r>
              <a:rPr lang="en-US" b="1" dirty="0"/>
              <a:t>Inside the MLP:</a:t>
            </a:r>
            <a:endParaRPr lang="en-US" dirty="0"/>
          </a:p>
          <a:p>
            <a:pPr rtl="0" latinLnBrk="0"/>
            <a:r>
              <a:rPr lang="en-US" sz="1200" kern="1200" dirty="0">
                <a:solidFill>
                  <a:schemeClr val="tx1"/>
                </a:solidFill>
                <a:effectLst/>
                <a:latin typeface="+mn-lt"/>
                <a:ea typeface="+mn-ea"/>
                <a:cs typeface="+mn-cs"/>
              </a:rPr>
              <a:t>Input: 1×1×256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Dense Layer 1: 1×1×256 → 1×1×(256/r)  [r = reduction ratio, typically 16]</a:t>
            </a:r>
          </a:p>
          <a:p>
            <a:pPr rtl="0" latinLnBrk="0"/>
            <a:r>
              <a:rPr lang="en-US" sz="1200" kern="1200" dirty="0">
                <a:solidFill>
                  <a:schemeClr val="tx1"/>
                </a:solidFill>
                <a:effectLst/>
                <a:latin typeface="+mn-lt"/>
                <a:ea typeface="+mn-ea"/>
                <a:cs typeface="+mn-cs"/>
              </a:rPr>
              <a:t>    ↓</a:t>
            </a:r>
          </a:p>
          <a:p>
            <a:pPr rtl="0" latinLnBrk="0"/>
            <a:r>
              <a:rPr lang="en-US" sz="1200" kern="1200" dirty="0" err="1">
                <a:solidFill>
                  <a:schemeClr val="tx1"/>
                </a:solidFill>
                <a:effectLst/>
                <a:latin typeface="+mn-lt"/>
                <a:ea typeface="+mn-ea"/>
                <a:cs typeface="+mn-cs"/>
              </a:rPr>
              <a:t>ReLU</a:t>
            </a:r>
            <a:r>
              <a:rPr lang="en-US" sz="1200" kern="1200" dirty="0">
                <a:solidFill>
                  <a:schemeClr val="tx1"/>
                </a:solidFill>
                <a:effectLst/>
                <a:latin typeface="+mn-lt"/>
                <a:ea typeface="+mn-ea"/>
                <a:cs typeface="+mn-cs"/>
              </a:rPr>
              <a:t> activation</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Dense Layer 2: 1×1×(256/r) → 1×1×256  [back to original channels]</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Output: 1×1×256 (for each path)</a:t>
            </a:r>
          </a:p>
          <a:p>
            <a:r>
              <a:rPr lang="en-US" b="1" dirty="0"/>
              <a:t>What's happening?</a:t>
            </a:r>
            <a:r>
              <a:rPr lang="en-US" dirty="0"/>
              <a:t> The network is learning: </a:t>
            </a:r>
            <a:r>
              <a:rPr lang="en-US" i="1" dirty="0"/>
              <a:t>"Given the global statistics of each channel, how important is it for detecting fractures?"</a:t>
            </a:r>
            <a:endParaRPr lang="en-US" dirty="0"/>
          </a:p>
          <a:p>
            <a:br>
              <a:rPr lang="en-US" dirty="0"/>
            </a:br>
            <a:endParaRPr lang="en-US" dirty="0"/>
          </a:p>
          <a:p>
            <a:r>
              <a:rPr lang="en-US" b="1" dirty="0"/>
              <a:t>Step 3: Element-wise Summation</a:t>
            </a:r>
          </a:p>
          <a:p>
            <a:pPr rtl="0" latinLnBrk="0"/>
            <a:r>
              <a:rPr lang="en-US" sz="1200" kern="1200" dirty="0" err="1">
                <a:solidFill>
                  <a:schemeClr val="tx1"/>
                </a:solidFill>
                <a:effectLst/>
                <a:latin typeface="+mn-lt"/>
                <a:ea typeface="+mn-ea"/>
                <a:cs typeface="+mn-cs"/>
              </a:rPr>
              <a:t>AvgPool</a:t>
            </a:r>
            <a:r>
              <a:rPr lang="en-US" sz="1200" kern="1200" dirty="0">
                <a:solidFill>
                  <a:schemeClr val="tx1"/>
                </a:solidFill>
                <a:effectLst/>
                <a:latin typeface="+mn-lt"/>
                <a:ea typeface="+mn-ea"/>
                <a:cs typeface="+mn-cs"/>
              </a:rPr>
              <a:t> → MLP output: 1×1×256</a:t>
            </a:r>
          </a:p>
          <a:p>
            <a:pPr rtl="0" latinLnBrk="0"/>
            <a:r>
              <a:rPr lang="en-US" sz="1200" kern="1200" dirty="0">
                <a:solidFill>
                  <a:schemeClr val="tx1"/>
                </a:solidFill>
                <a:effectLst/>
                <a:latin typeface="+mn-lt"/>
                <a:ea typeface="+mn-ea"/>
                <a:cs typeface="+mn-cs"/>
              </a:rPr>
              <a:t>                    +</a:t>
            </a:r>
          </a:p>
          <a:p>
            <a:pPr rtl="0" latinLnBrk="0"/>
            <a:r>
              <a:rPr lang="en-US" sz="1200" kern="1200" dirty="0" err="1">
                <a:solidFill>
                  <a:schemeClr val="tx1"/>
                </a:solidFill>
                <a:effectLst/>
                <a:latin typeface="+mn-lt"/>
                <a:ea typeface="+mn-ea"/>
                <a:cs typeface="+mn-cs"/>
              </a:rPr>
              <a:t>MaxPool</a:t>
            </a:r>
            <a:r>
              <a:rPr lang="en-US" sz="1200" kern="1200" dirty="0">
                <a:solidFill>
                  <a:schemeClr val="tx1"/>
                </a:solidFill>
                <a:effectLst/>
                <a:latin typeface="+mn-lt"/>
                <a:ea typeface="+mn-ea"/>
                <a:cs typeface="+mn-cs"/>
              </a:rPr>
              <a:t> → MLP output: 1×1×256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Combined: 1×1×256</a:t>
            </a:r>
          </a:p>
          <a:p>
            <a:r>
              <a:rPr lang="en-US" b="1" dirty="0"/>
              <a:t>That ⊕ symbol</a:t>
            </a:r>
            <a:r>
              <a:rPr lang="en-US" dirty="0"/>
              <a:t> in your diagram! We're merging both perspectives.</a:t>
            </a:r>
          </a:p>
          <a:p>
            <a:br>
              <a:rPr lang="en-US" dirty="0"/>
            </a:br>
            <a:endParaRPr lang="en-US" dirty="0"/>
          </a:p>
          <a:p>
            <a:r>
              <a:rPr lang="en-US" b="1" dirty="0"/>
              <a:t>Step 4: Sigmoid Activation</a:t>
            </a:r>
          </a:p>
          <a:p>
            <a:pPr rtl="0" latinLnBrk="0"/>
            <a:r>
              <a:rPr lang="en-US" sz="1200" kern="1200" dirty="0">
                <a:solidFill>
                  <a:schemeClr val="tx1"/>
                </a:solidFill>
                <a:effectLst/>
                <a:latin typeface="+mn-lt"/>
                <a:ea typeface="+mn-ea"/>
                <a:cs typeface="+mn-cs"/>
              </a:rPr>
              <a:t>Combined: 1×1×256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Sigmoid(x) = 1/(1+e^(-x))</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Channel Weights Mc: 1×1×256 [values between 0 and 1]</a:t>
            </a:r>
          </a:p>
          <a:p>
            <a:r>
              <a:rPr lang="en-US" b="1" dirty="0"/>
              <a:t>Example weights learned:</a:t>
            </a:r>
            <a:endParaRPr lang="en-US" dirty="0"/>
          </a:p>
          <a:p>
            <a:pPr rtl="0" latinLnBrk="0"/>
            <a:r>
              <a:rPr lang="en-US" sz="1200" kern="1200" dirty="0">
                <a:solidFill>
                  <a:schemeClr val="tx1"/>
                </a:solidFill>
                <a:effectLst/>
                <a:latin typeface="+mn-lt"/>
                <a:ea typeface="+mn-ea"/>
                <a:cs typeface="+mn-cs"/>
              </a:rPr>
              <a:t>Channel 0 (fracture edge detector): Mc[0] = 0.94  ← Important!</a:t>
            </a:r>
          </a:p>
          <a:p>
            <a:pPr rtl="0" latinLnBrk="0"/>
            <a:r>
              <a:rPr lang="en-US" sz="1200" kern="1200" dirty="0">
                <a:solidFill>
                  <a:schemeClr val="tx1"/>
                </a:solidFill>
                <a:effectLst/>
                <a:latin typeface="+mn-lt"/>
                <a:ea typeface="+mn-ea"/>
                <a:cs typeface="+mn-cs"/>
              </a:rPr>
              <a:t>Channel 1 (background noise):       Mc[1] = 0.12  ← Not important</a:t>
            </a:r>
          </a:p>
          <a:p>
            <a:pPr rtl="0" latinLnBrk="0"/>
            <a:r>
              <a:rPr lang="en-US" sz="1200" kern="1200" dirty="0">
                <a:solidFill>
                  <a:schemeClr val="tx1"/>
                </a:solidFill>
                <a:effectLst/>
                <a:latin typeface="+mn-lt"/>
                <a:ea typeface="+mn-ea"/>
                <a:cs typeface="+mn-cs"/>
              </a:rPr>
              <a:t>Channel 2 (bone density):           Mc[2] = 0.87  ← Important!</a:t>
            </a:r>
          </a:p>
          <a:p>
            <a:pPr rtl="0" latinLnBrk="0"/>
            <a:r>
              <a:rPr lang="en-US" sz="1200" kern="1200" dirty="0">
                <a:solidFill>
                  <a:schemeClr val="tx1"/>
                </a:solidFill>
                <a:effectLst/>
                <a:latin typeface="+mn-lt"/>
                <a:ea typeface="+mn-ea"/>
                <a:cs typeface="+mn-cs"/>
              </a:rPr>
              <a:t>Channel 3 (soft tissue):            Mc[3] = 0.23  ← Less important</a:t>
            </a:r>
          </a:p>
          <a:p>
            <a:pPr rtl="0" latinLnBrk="0"/>
            <a:r>
              <a:rPr lang="en-US" sz="1200" kern="1200" dirty="0">
                <a:solidFill>
                  <a:schemeClr val="tx1"/>
                </a:solidFill>
                <a:effectLst/>
                <a:latin typeface="+mn-lt"/>
                <a:ea typeface="+mn-ea"/>
                <a:cs typeface="+mn-cs"/>
              </a:rPr>
              <a:t>...</a:t>
            </a:r>
          </a:p>
          <a:p>
            <a:pPr rtl="0" latinLnBrk="0"/>
            <a:r>
              <a:rPr lang="en-US" sz="1200" kern="1200" dirty="0">
                <a:solidFill>
                  <a:schemeClr val="tx1"/>
                </a:solidFill>
                <a:effectLst/>
                <a:latin typeface="+mn-lt"/>
                <a:ea typeface="+mn-ea"/>
                <a:cs typeface="+mn-cs"/>
              </a:rPr>
              <a:t>Channel 255:                        Mc[255] = 0.56  ← Moderate</a:t>
            </a:r>
          </a:p>
          <a:p>
            <a:br>
              <a:rPr lang="en-US" dirty="0"/>
            </a:br>
            <a:endParaRPr lang="en-US" dirty="0"/>
          </a:p>
          <a:p>
            <a:r>
              <a:rPr lang="en-US" b="1" dirty="0"/>
              <a:t>Step 5: Channel-wise Multiplication (Recalibration)</a:t>
            </a:r>
          </a:p>
          <a:p>
            <a:pPr rtl="0" latinLnBrk="0"/>
            <a:r>
              <a:rPr lang="en-US" sz="1200" kern="1200" dirty="0">
                <a:solidFill>
                  <a:schemeClr val="tx1"/>
                </a:solidFill>
                <a:effectLst/>
                <a:latin typeface="+mn-lt"/>
                <a:ea typeface="+mn-ea"/>
                <a:cs typeface="+mn-cs"/>
              </a:rPr>
              <a:t>Original Feature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Channel Weights Mc: 1×1×256 (broadcast to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Refined Feature F': 80×80×256</a:t>
            </a:r>
          </a:p>
          <a:p>
            <a:r>
              <a:rPr lang="en-US" b="1" dirty="0"/>
              <a:t>The ⊗ symbol</a:t>
            </a:r>
            <a:r>
              <a:rPr lang="en-US" dirty="0"/>
              <a:t> - broadcasting multiplication!</a:t>
            </a:r>
          </a:p>
          <a:p>
            <a:r>
              <a:rPr lang="en-US" b="1" dirty="0"/>
              <a:t>What happens to each channel:</a:t>
            </a:r>
            <a:endParaRPr lang="en-US" dirty="0"/>
          </a:p>
          <a:p>
            <a:pPr rtl="0" latinLnBrk="0"/>
            <a:r>
              <a:rPr lang="en-US" sz="1200" kern="1200" dirty="0">
                <a:solidFill>
                  <a:schemeClr val="tx1"/>
                </a:solidFill>
                <a:effectLst/>
                <a:latin typeface="+mn-lt"/>
                <a:ea typeface="+mn-ea"/>
                <a:cs typeface="+mn-cs"/>
              </a:rPr>
              <a:t>Channel 0: [80×80 pixel values] × 0.94 = [All values multiplied by 0.94] ⬆️ BOOSTED</a:t>
            </a:r>
          </a:p>
          <a:p>
            <a:pPr rtl="0" latinLnBrk="0"/>
            <a:r>
              <a:rPr lang="en-US" sz="1200" kern="1200" dirty="0">
                <a:solidFill>
                  <a:schemeClr val="tx1"/>
                </a:solidFill>
                <a:effectLst/>
                <a:latin typeface="+mn-lt"/>
                <a:ea typeface="+mn-ea"/>
                <a:cs typeface="+mn-cs"/>
              </a:rPr>
              <a:t>Channel 1: [80×80 pixel values] × 0.12 = [All values multiplied by 0.12] ⬇️ SUPPRESSED</a:t>
            </a:r>
          </a:p>
          <a:p>
            <a:pPr rtl="0" latinLnBrk="0"/>
            <a:r>
              <a:rPr lang="en-US" sz="1200" kern="1200" dirty="0">
                <a:solidFill>
                  <a:schemeClr val="tx1"/>
                </a:solidFill>
                <a:effectLst/>
                <a:latin typeface="+mn-lt"/>
                <a:ea typeface="+mn-ea"/>
                <a:cs typeface="+mn-cs"/>
              </a:rPr>
              <a:t>Channel 2: [80×80 pixel values] × 0.87 = [All values multiplied by 0.87] ⬆️ BOOSTED</a:t>
            </a:r>
          </a:p>
          <a:p>
            <a:pPr rtl="0" latinLnBrk="0"/>
            <a:r>
              <a:rPr lang="en-US" sz="1200" kern="1200" dirty="0">
                <a:solidFill>
                  <a:schemeClr val="tx1"/>
                </a:solidFill>
                <a:effectLst/>
                <a:latin typeface="+mn-lt"/>
                <a:ea typeface="+mn-ea"/>
                <a:cs typeface="+mn-cs"/>
              </a:rPr>
              <a:t>...</a:t>
            </a:r>
          </a:p>
          <a:p>
            <a:r>
              <a:rPr lang="en-US" b="1" dirty="0"/>
              <a:t>Output</a:t>
            </a:r>
            <a:r>
              <a:rPr lang="en-US" dirty="0"/>
              <a:t>: </a:t>
            </a:r>
            <a:r>
              <a:rPr lang="en-US" b="1" dirty="0"/>
              <a:t>F' = 80×80×256</a:t>
            </a:r>
            <a:r>
              <a:rPr lang="en-US" dirty="0"/>
              <a:t> (channel-refined features)</a:t>
            </a:r>
          </a:p>
          <a:p>
            <a:br>
              <a:rPr lang="en-US" dirty="0"/>
            </a:br>
            <a:endParaRPr lang="en-US" dirty="0"/>
          </a:p>
          <a:p>
            <a:r>
              <a:rPr lang="en-US" b="1" dirty="0"/>
              <a:t>PART 2: SPATIAL ATTENTION - "Where should we look?"</a:t>
            </a:r>
          </a:p>
          <a:p>
            <a:r>
              <a:rPr lang="en-US" dirty="0"/>
              <a:t>Now the channel-refined features </a:t>
            </a:r>
            <a:r>
              <a:rPr lang="en-US" b="1" dirty="0"/>
              <a:t>F'</a:t>
            </a:r>
            <a:r>
              <a:rPr lang="en-US" dirty="0"/>
              <a:t> enter the </a:t>
            </a:r>
            <a:r>
              <a:rPr lang="en-US" b="1" dirty="0"/>
              <a:t>Spatial Attention</a:t>
            </a:r>
            <a:r>
              <a:rPr lang="en-US" dirty="0"/>
              <a:t> module:</a:t>
            </a:r>
          </a:p>
          <a:p>
            <a:r>
              <a:rPr lang="en-US" b="1" dirty="0"/>
              <a:t>Step 6: Channel Pooling - Channel Compression</a:t>
            </a:r>
          </a:p>
          <a:p>
            <a:pPr rtl="0" latinLnBrk="0"/>
            <a:r>
              <a:rPr lang="en-US" sz="1200" kern="1200" dirty="0">
                <a:solidFill>
                  <a:schemeClr val="tx1"/>
                </a:solidFill>
                <a:effectLst/>
                <a:latin typeface="+mn-lt"/>
                <a:ea typeface="+mn-ea"/>
                <a:cs typeface="+mn-cs"/>
              </a:rPr>
              <a:t>Input Feature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Split into two operations</a:t>
            </a:r>
          </a:p>
          <a:p>
            <a:pPr rtl="0" latinLnBrk="0"/>
            <a:r>
              <a:rPr lang="en-US" sz="1200" kern="1200" dirty="0">
                <a:solidFill>
                  <a:schemeClr val="tx1"/>
                </a:solidFill>
                <a:effectLst/>
                <a:latin typeface="+mn-lt"/>
                <a:ea typeface="+mn-ea"/>
                <a:cs typeface="+mn-cs"/>
              </a:rPr>
              <a:t>         ↓</a:t>
            </a:r>
          </a:p>
          <a:p>
            <a:r>
              <a:rPr lang="en-US" b="1" dirty="0"/>
              <a:t>Path A - </a:t>
            </a:r>
            <a:r>
              <a:rPr lang="en-US" b="1" dirty="0" err="1"/>
              <a:t>AvgPool</a:t>
            </a:r>
            <a:r>
              <a:rPr lang="en-US" b="1" dirty="0"/>
              <a:t> across channels:</a:t>
            </a:r>
            <a:endParaRPr lang="en-US" dirty="0"/>
          </a:p>
          <a:p>
            <a:pPr rtl="0" latinLnBrk="0"/>
            <a:r>
              <a:rPr lang="en-US" sz="1200" kern="1200" dirty="0">
                <a:solidFill>
                  <a:schemeClr val="tx1"/>
                </a:solidFill>
                <a:effectLst/>
                <a:latin typeface="+mn-lt"/>
                <a:ea typeface="+mn-ea"/>
                <a:cs typeface="+mn-cs"/>
              </a:rPr>
              <a:t>80×80×256 → [Average across all 256 channels for each pixel]</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80×80×1 (one average value per spatial location)</a:t>
            </a:r>
          </a:p>
          <a:p>
            <a:r>
              <a:rPr lang="en-US" b="1" dirty="0"/>
              <a:t>Path B - </a:t>
            </a:r>
            <a:r>
              <a:rPr lang="en-US" b="1" dirty="0" err="1"/>
              <a:t>MaxPool</a:t>
            </a:r>
            <a:r>
              <a:rPr lang="en-US" b="1" dirty="0"/>
              <a:t> across channels:</a:t>
            </a:r>
            <a:endParaRPr lang="en-US" dirty="0"/>
          </a:p>
          <a:p>
            <a:pPr rtl="0" latinLnBrk="0"/>
            <a:r>
              <a:rPr lang="en-US" sz="1200" kern="1200" dirty="0">
                <a:solidFill>
                  <a:schemeClr val="tx1"/>
                </a:solidFill>
                <a:effectLst/>
                <a:latin typeface="+mn-lt"/>
                <a:ea typeface="+mn-ea"/>
                <a:cs typeface="+mn-cs"/>
              </a:rPr>
              <a:t>80×80×256 → [Take maximum across all 256 channels for each pixel]</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80×80×1 (one max value per spatial location)</a:t>
            </a:r>
          </a:p>
          <a:p>
            <a:r>
              <a:rPr lang="en-US" b="1" dirty="0"/>
              <a:t>Think of it as</a:t>
            </a:r>
            <a:r>
              <a:rPr lang="en-US" dirty="0"/>
              <a:t>: For each of the 6,400 pixels (80×80), we compute:</a:t>
            </a:r>
          </a:p>
          <a:p>
            <a:r>
              <a:rPr lang="en-US" dirty="0"/>
              <a:t>What's the average response across all 256 channels?</a:t>
            </a:r>
          </a:p>
          <a:p>
            <a:r>
              <a:rPr lang="en-US" dirty="0"/>
              <a:t>What's the maximum response across all 256 channels?</a:t>
            </a:r>
          </a:p>
          <a:p>
            <a:br>
              <a:rPr lang="en-US" dirty="0"/>
            </a:br>
            <a:endParaRPr lang="en-US" dirty="0"/>
          </a:p>
          <a:p>
            <a:r>
              <a:rPr lang="en-US" b="1" dirty="0"/>
              <a:t>Step 7: Concatenation</a:t>
            </a:r>
          </a:p>
          <a:p>
            <a:pPr rtl="0" latinLnBrk="0"/>
            <a:r>
              <a:rPr lang="en-US" sz="1200" kern="1200" dirty="0" err="1">
                <a:solidFill>
                  <a:schemeClr val="tx1"/>
                </a:solidFill>
                <a:effectLst/>
                <a:latin typeface="+mn-lt"/>
                <a:ea typeface="+mn-ea"/>
                <a:cs typeface="+mn-cs"/>
              </a:rPr>
              <a:t>AvgPool</a:t>
            </a:r>
            <a:r>
              <a:rPr lang="en-US" sz="1200" kern="1200" dirty="0">
                <a:solidFill>
                  <a:schemeClr val="tx1"/>
                </a:solidFill>
                <a:effectLst/>
                <a:latin typeface="+mn-lt"/>
                <a:ea typeface="+mn-ea"/>
                <a:cs typeface="+mn-cs"/>
              </a:rPr>
              <a:t> result: 80×80×1</a:t>
            </a:r>
          </a:p>
          <a:p>
            <a:pPr rtl="0" latinLnBrk="0"/>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concat</a:t>
            </a:r>
            <a:r>
              <a:rPr lang="en-US" sz="1200" kern="1200" dirty="0">
                <a:solidFill>
                  <a:schemeClr val="tx1"/>
                </a:solidFill>
                <a:effectLst/>
                <a:latin typeface="+mn-lt"/>
                <a:ea typeface="+mn-ea"/>
                <a:cs typeface="+mn-cs"/>
              </a:rPr>
              <a:t> along channel dimension)</a:t>
            </a:r>
          </a:p>
          <a:p>
            <a:pPr rtl="0" latinLnBrk="0"/>
            <a:r>
              <a:rPr lang="en-US" sz="1200" kern="1200" dirty="0" err="1">
                <a:solidFill>
                  <a:schemeClr val="tx1"/>
                </a:solidFill>
                <a:effectLst/>
                <a:latin typeface="+mn-lt"/>
                <a:ea typeface="+mn-ea"/>
                <a:cs typeface="+mn-cs"/>
              </a:rPr>
              <a:t>MaxPool</a:t>
            </a:r>
            <a:r>
              <a:rPr lang="en-US" sz="1200" kern="1200" dirty="0">
                <a:solidFill>
                  <a:schemeClr val="tx1"/>
                </a:solidFill>
                <a:effectLst/>
                <a:latin typeface="+mn-lt"/>
                <a:ea typeface="+mn-ea"/>
                <a:cs typeface="+mn-cs"/>
              </a:rPr>
              <a:t> result: 80×80×1</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Combined: 80×80×2</a:t>
            </a:r>
          </a:p>
          <a:p>
            <a:r>
              <a:rPr lang="en-US" b="1" dirty="0"/>
              <a:t>That </a:t>
            </a:r>
            <a:r>
              <a:rPr lang="en-US" b="1" dirty="0" err="1"/>
              <a:t>concat</a:t>
            </a:r>
            <a:r>
              <a:rPr lang="en-US" b="1" dirty="0"/>
              <a:t> symbol</a:t>
            </a:r>
            <a:r>
              <a:rPr lang="en-US" dirty="0"/>
              <a:t> in your diagram!</a:t>
            </a:r>
          </a:p>
          <a:p>
            <a:br>
              <a:rPr lang="en-US" dirty="0"/>
            </a:br>
            <a:endParaRPr lang="en-US" dirty="0"/>
          </a:p>
          <a:p>
            <a:r>
              <a:rPr lang="en-US" b="1" dirty="0"/>
              <a:t>Step 8: Convolution Layer</a:t>
            </a:r>
          </a:p>
          <a:p>
            <a:pPr rtl="0" latinLnBrk="0"/>
            <a:r>
              <a:rPr lang="en-US" sz="1200" kern="1200" dirty="0">
                <a:solidFill>
                  <a:schemeClr val="tx1"/>
                </a:solidFill>
                <a:effectLst/>
                <a:latin typeface="+mn-lt"/>
                <a:ea typeface="+mn-ea"/>
                <a:cs typeface="+mn-cs"/>
              </a:rPr>
              <a:t>Input: 80×80×2</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Conv2D: kernel=7×7, filters=1, padding=same</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Output: 80×80×1</a:t>
            </a:r>
          </a:p>
          <a:p>
            <a:r>
              <a:rPr lang="en-US" b="1" dirty="0"/>
              <a:t>What's happening?</a:t>
            </a:r>
            <a:r>
              <a:rPr lang="en-US" dirty="0"/>
              <a:t> The 7×7 convolution looks at each pixel and its neighbors to decide: </a:t>
            </a:r>
            <a:r>
              <a:rPr lang="en-US" i="1" dirty="0"/>
              <a:t>"Is this spatial location important for fracture detection?"</a:t>
            </a:r>
            <a:endParaRPr lang="en-US" dirty="0"/>
          </a:p>
          <a:p>
            <a:r>
              <a:rPr lang="en-US" dirty="0"/>
              <a:t>For example:</a:t>
            </a:r>
          </a:p>
          <a:p>
            <a:r>
              <a:rPr lang="en-US" dirty="0"/>
              <a:t>Pixels near fracture lines → high importance</a:t>
            </a:r>
          </a:p>
          <a:p>
            <a:r>
              <a:rPr lang="en-US" dirty="0"/>
              <a:t>Pixels in empty background → low importance</a:t>
            </a:r>
          </a:p>
          <a:p>
            <a:r>
              <a:rPr lang="en-US" dirty="0"/>
              <a:t>Pixels on bone edges → moderate importance</a:t>
            </a:r>
          </a:p>
          <a:p>
            <a:br>
              <a:rPr lang="en-US" dirty="0"/>
            </a:br>
            <a:endParaRPr lang="en-US" dirty="0"/>
          </a:p>
          <a:p>
            <a:r>
              <a:rPr lang="en-US" b="1" dirty="0"/>
              <a:t>Step 9: Sigmoid Activation</a:t>
            </a:r>
          </a:p>
          <a:p>
            <a:pPr rtl="0" latinLnBrk="0"/>
            <a:r>
              <a:rPr lang="en-US" sz="1200" kern="1200" dirty="0">
                <a:solidFill>
                  <a:schemeClr val="tx1"/>
                </a:solidFill>
                <a:effectLst/>
                <a:latin typeface="+mn-lt"/>
                <a:ea typeface="+mn-ea"/>
                <a:cs typeface="+mn-cs"/>
              </a:rPr>
              <a:t>Conv output: 80×80×1</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    Sigmoid</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Spatial Weights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80×80×1 [values between 0 and 1]</a:t>
            </a:r>
          </a:p>
          <a:p>
            <a:r>
              <a:rPr lang="en-US" b="1" dirty="0"/>
              <a:t>Example spatial attention map:</a:t>
            </a:r>
            <a:endParaRPr lang="en-US" dirty="0"/>
          </a:p>
          <a:p>
            <a:pPr rtl="0" latinLnBrk="0"/>
            <a:r>
              <a:rPr lang="en-US" sz="1200" kern="1200" dirty="0">
                <a:solidFill>
                  <a:schemeClr val="tx1"/>
                </a:solidFill>
                <a:effectLst/>
                <a:latin typeface="+mn-lt"/>
                <a:ea typeface="+mn-ea"/>
                <a:cs typeface="+mn-cs"/>
              </a:rPr>
              <a:t>Position (10, 15):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 0.95  ← Fracture line here! PAY ATTENTION!</a:t>
            </a:r>
          </a:p>
          <a:p>
            <a:pPr rtl="0" latinLnBrk="0"/>
            <a:r>
              <a:rPr lang="en-US" sz="1200" kern="1200" dirty="0">
                <a:solidFill>
                  <a:schemeClr val="tx1"/>
                </a:solidFill>
                <a:effectLst/>
                <a:latin typeface="+mn-lt"/>
                <a:ea typeface="+mn-ea"/>
                <a:cs typeface="+mn-cs"/>
              </a:rPr>
              <a:t>Position (20, 30):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 0.08  ← Empty background, ignore</a:t>
            </a:r>
          </a:p>
          <a:p>
            <a:pPr rtl="0" latinLnBrk="0"/>
            <a:r>
              <a:rPr lang="en-US" sz="1200" kern="1200" dirty="0">
                <a:solidFill>
                  <a:schemeClr val="tx1"/>
                </a:solidFill>
                <a:effectLst/>
                <a:latin typeface="+mn-lt"/>
                <a:ea typeface="+mn-ea"/>
                <a:cs typeface="+mn-cs"/>
              </a:rPr>
              <a:t>Position (45, 50):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 0.72  ← Bone edge, somewhat important</a:t>
            </a:r>
          </a:p>
          <a:p>
            <a:pPr rtl="0" latinLnBrk="0"/>
            <a:r>
              <a:rPr lang="en-US" sz="1200" kern="1200" dirty="0">
                <a:solidFill>
                  <a:schemeClr val="tx1"/>
                </a:solidFill>
                <a:effectLst/>
                <a:latin typeface="+mn-lt"/>
                <a:ea typeface="+mn-ea"/>
                <a:cs typeface="+mn-cs"/>
              </a:rPr>
              <a:t>Position (60, 70):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 0.15  ← Soft tissue, less relevant</a:t>
            </a:r>
          </a:p>
          <a:p>
            <a:pPr rtl="0" latinLnBrk="0"/>
            <a:r>
              <a:rPr lang="en-US" sz="1200" kern="1200" dirty="0">
                <a:solidFill>
                  <a:schemeClr val="tx1"/>
                </a:solidFill>
                <a:effectLst/>
                <a:latin typeface="+mn-lt"/>
                <a:ea typeface="+mn-ea"/>
                <a:cs typeface="+mn-cs"/>
              </a:rPr>
              <a:t>...</a:t>
            </a:r>
          </a:p>
          <a:p>
            <a:r>
              <a:rPr lang="en-US" dirty="0"/>
              <a:t>This creates a </a:t>
            </a:r>
            <a:r>
              <a:rPr lang="en-US" b="1" dirty="0"/>
              <a:t>heatmap</a:t>
            </a:r>
            <a:r>
              <a:rPr lang="en-US" dirty="0"/>
              <a:t> of importance!</a:t>
            </a:r>
          </a:p>
          <a:p>
            <a:br>
              <a:rPr lang="en-US" dirty="0"/>
            </a:br>
            <a:endParaRPr lang="en-US" dirty="0"/>
          </a:p>
          <a:p>
            <a:r>
              <a:rPr lang="en-US" b="1" dirty="0"/>
              <a:t>Step 10: Spatial-wise Multiplication (Final Refinement)</a:t>
            </a:r>
          </a:p>
          <a:p>
            <a:pPr rtl="0" latinLnBrk="0"/>
            <a:r>
              <a:rPr lang="en-US" sz="1200" kern="1200" dirty="0">
                <a:solidFill>
                  <a:schemeClr val="tx1"/>
                </a:solidFill>
                <a:effectLst/>
                <a:latin typeface="+mn-lt"/>
                <a:ea typeface="+mn-ea"/>
                <a:cs typeface="+mn-cs"/>
              </a:rPr>
              <a:t>Channel-refined Feature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Spatial Weights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80×80×1 (broadcast to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Final Output F'': 80×80×256</a:t>
            </a:r>
          </a:p>
          <a:p>
            <a:r>
              <a:rPr lang="en-US" b="1" dirty="0"/>
              <a:t>The final ⊗ symbol!</a:t>
            </a:r>
            <a:endParaRPr lang="en-US" dirty="0"/>
          </a:p>
          <a:p>
            <a:r>
              <a:rPr lang="en-US" b="1" dirty="0"/>
              <a:t>What happens:</a:t>
            </a:r>
            <a:endParaRPr lang="en-US" dirty="0"/>
          </a:p>
          <a:p>
            <a:pPr rtl="0" latinLnBrk="0"/>
            <a:r>
              <a:rPr lang="en-US" sz="1200" kern="1200" dirty="0">
                <a:solidFill>
                  <a:schemeClr val="tx1"/>
                </a:solidFill>
                <a:effectLst/>
                <a:latin typeface="+mn-lt"/>
                <a:ea typeface="+mn-ea"/>
                <a:cs typeface="+mn-cs"/>
              </a:rPr>
              <a:t>At position (10, 15) - fracture line:</a:t>
            </a:r>
          </a:p>
          <a:p>
            <a:pPr rtl="0" latinLnBrk="0"/>
            <a:r>
              <a:rPr lang="en-US" sz="1200" kern="1200" dirty="0">
                <a:solidFill>
                  <a:schemeClr val="tx1"/>
                </a:solidFill>
                <a:effectLst/>
                <a:latin typeface="+mn-lt"/>
                <a:ea typeface="+mn-ea"/>
                <a:cs typeface="+mn-cs"/>
              </a:rPr>
              <a:t>All 256 channels × 0.95 = STRONGLY ACTIVATED</a:t>
            </a:r>
          </a:p>
          <a:p>
            <a:pPr rtl="0" latinLnBrk="0"/>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At position (20, 30) - background:</a:t>
            </a:r>
          </a:p>
          <a:p>
            <a:pPr rtl="0" latinLnBrk="0"/>
            <a:r>
              <a:rPr lang="en-US" sz="1200" kern="1200" dirty="0">
                <a:solidFill>
                  <a:schemeClr val="tx1"/>
                </a:solidFill>
                <a:effectLst/>
                <a:latin typeface="+mn-lt"/>
                <a:ea typeface="+mn-ea"/>
                <a:cs typeface="+mn-cs"/>
              </a:rPr>
              <a:t>All 256 channels × 0.08 = HEAVILY SUPPRESSED</a:t>
            </a:r>
          </a:p>
          <a:p>
            <a:pPr rtl="0" latinLnBrk="0"/>
            <a:endParaRPr lang="en-US" sz="1200" kern="1200" dirty="0">
              <a:solidFill>
                <a:schemeClr val="tx1"/>
              </a:solidFill>
              <a:effectLst/>
              <a:latin typeface="+mn-lt"/>
              <a:ea typeface="+mn-ea"/>
              <a:cs typeface="+mn-cs"/>
            </a:endParaRPr>
          </a:p>
          <a:p>
            <a:pPr rtl="0" latinLnBrk="0"/>
            <a:r>
              <a:rPr lang="en-US" sz="1200" kern="1200" dirty="0">
                <a:solidFill>
                  <a:schemeClr val="tx1"/>
                </a:solidFill>
                <a:effectLst/>
                <a:latin typeface="+mn-lt"/>
                <a:ea typeface="+mn-ea"/>
                <a:cs typeface="+mn-cs"/>
              </a:rPr>
              <a:t>At position (45, 50) - bone edge:</a:t>
            </a:r>
          </a:p>
          <a:p>
            <a:pPr rtl="0" latinLnBrk="0"/>
            <a:r>
              <a:rPr lang="en-US" sz="1200" kern="1200" dirty="0">
                <a:solidFill>
                  <a:schemeClr val="tx1"/>
                </a:solidFill>
                <a:effectLst/>
                <a:latin typeface="+mn-lt"/>
                <a:ea typeface="+mn-ea"/>
                <a:cs typeface="+mn-cs"/>
              </a:rPr>
              <a:t>All 256 channels × 0.72 = MODERATELY ACTIVATED</a:t>
            </a:r>
          </a:p>
          <a:p>
            <a:br>
              <a:rPr lang="en-US" dirty="0"/>
            </a:br>
            <a:endParaRPr lang="en-US" dirty="0"/>
          </a:p>
          <a:p>
            <a:r>
              <a:rPr lang="en-US" b="1" dirty="0"/>
              <a:t>Final Output: Refined Feature F''</a:t>
            </a:r>
          </a:p>
          <a:p>
            <a:pPr rtl="0" latinLnBrk="0"/>
            <a:r>
              <a:rPr lang="en-US" sz="1200" kern="1200" dirty="0">
                <a:solidFill>
                  <a:schemeClr val="tx1"/>
                </a:solidFill>
                <a:effectLst/>
                <a:latin typeface="+mn-lt"/>
                <a:ea typeface="+mn-ea"/>
                <a:cs typeface="+mn-cs"/>
              </a:rPr>
              <a:t>Dimensions: Still 80×80×256</a:t>
            </a:r>
          </a:p>
          <a:p>
            <a:pPr rtl="0" latinLnBrk="0"/>
            <a:r>
              <a:rPr lang="en-US" sz="1200" kern="1200" dirty="0">
                <a:solidFill>
                  <a:schemeClr val="tx1"/>
                </a:solidFill>
                <a:effectLst/>
                <a:latin typeface="+mn-lt"/>
                <a:ea typeface="+mn-ea"/>
                <a:cs typeface="+mn-cs"/>
              </a:rPr>
              <a:t>BUT NOW:</a:t>
            </a:r>
          </a:p>
          <a:p>
            <a:pPr rtl="0" latinLnBrk="0"/>
            <a:r>
              <a:rPr lang="en-US" sz="1200" kern="1200" dirty="0">
                <a:solidFill>
                  <a:schemeClr val="tx1"/>
                </a:solidFill>
                <a:effectLst/>
                <a:latin typeface="+mn-lt"/>
                <a:ea typeface="+mn-ea"/>
                <a:cs typeface="+mn-cs"/>
              </a:rPr>
              <a:t>✓ Important channels are amplified (Channel Attention)</a:t>
            </a:r>
          </a:p>
          <a:p>
            <a:pPr rtl="0" latinLnBrk="0"/>
            <a:r>
              <a:rPr lang="en-US" sz="1200" kern="1200" dirty="0">
                <a:solidFill>
                  <a:schemeClr val="tx1"/>
                </a:solidFill>
                <a:effectLst/>
                <a:latin typeface="+mn-lt"/>
                <a:ea typeface="+mn-ea"/>
                <a:cs typeface="+mn-cs"/>
              </a:rPr>
              <a:t>✓ Important spatial regions are highlighted (Spatial Attention)</a:t>
            </a:r>
          </a:p>
          <a:p>
            <a:pPr rtl="0" latinLnBrk="0"/>
            <a:r>
              <a:rPr lang="en-US" sz="1200" kern="1200" dirty="0">
                <a:solidFill>
                  <a:schemeClr val="tx1"/>
                </a:solidFill>
                <a:effectLst/>
                <a:latin typeface="+mn-lt"/>
                <a:ea typeface="+mn-ea"/>
                <a:cs typeface="+mn-cs"/>
              </a:rPr>
              <a:t>✓ Fracture-relevant information is BOOSTED</a:t>
            </a:r>
          </a:p>
          <a:p>
            <a:pPr rtl="0" latinLnBrk="0"/>
            <a:r>
              <a:rPr lang="en-US" sz="1200" kern="1200" dirty="0">
                <a:solidFill>
                  <a:schemeClr val="tx1"/>
                </a:solidFill>
                <a:effectLst/>
                <a:latin typeface="+mn-lt"/>
                <a:ea typeface="+mn-ea"/>
                <a:cs typeface="+mn-cs"/>
              </a:rPr>
              <a:t>✓ Background noise and irrelevant features are SUPPRESSED</a:t>
            </a:r>
          </a:p>
          <a:p>
            <a:br>
              <a:rPr lang="en-US" dirty="0"/>
            </a:br>
            <a:endParaRPr lang="en-US" dirty="0"/>
          </a:p>
          <a:p>
            <a:r>
              <a:rPr lang="en-US" b="1" dirty="0"/>
              <a:t>The Complete Journey - Summary</a:t>
            </a:r>
          </a:p>
          <a:p>
            <a:pPr rtl="0" latinLnBrk="0"/>
            <a:r>
              <a:rPr lang="en-US" sz="1200" kern="1200" dirty="0">
                <a:solidFill>
                  <a:schemeClr val="tx1"/>
                </a:solidFill>
                <a:effectLst/>
                <a:latin typeface="+mn-lt"/>
                <a:ea typeface="+mn-ea"/>
                <a:cs typeface="+mn-cs"/>
              </a:rPr>
              <a:t>Original Feature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[CHANNEL ATTENTION]</a:t>
            </a:r>
          </a:p>
          <a:p>
            <a:pPr rtl="0" latinLnBrk="0"/>
            <a:r>
              <a:rPr lang="en-US" sz="1200" kern="1200" dirty="0">
                <a:solidFill>
                  <a:schemeClr val="tx1"/>
                </a:solidFill>
                <a:effectLst/>
                <a:latin typeface="+mn-lt"/>
                <a:ea typeface="+mn-ea"/>
                <a:cs typeface="+mn-cs"/>
              </a:rPr>
              <a:t>   • Squeeze spatial: 80×80×256 → 1×1×256</a:t>
            </a:r>
          </a:p>
          <a:p>
            <a:pPr rtl="0" latinLnBrk="0"/>
            <a:r>
              <a:rPr lang="en-US" sz="1200" kern="1200" dirty="0">
                <a:solidFill>
                  <a:schemeClr val="tx1"/>
                </a:solidFill>
                <a:effectLst/>
                <a:latin typeface="+mn-lt"/>
                <a:ea typeface="+mn-ea"/>
                <a:cs typeface="+mn-cs"/>
              </a:rPr>
              <a:t>   • Learn channel importance via MLP</a:t>
            </a:r>
          </a:p>
          <a:p>
            <a:pPr rtl="0" latinLnBrk="0"/>
            <a:r>
              <a:rPr lang="en-US" sz="1200" kern="1200" dirty="0">
                <a:solidFill>
                  <a:schemeClr val="tx1"/>
                </a:solidFill>
                <a:effectLst/>
                <a:latin typeface="+mn-lt"/>
                <a:ea typeface="+mn-ea"/>
                <a:cs typeface="+mn-cs"/>
              </a:rPr>
              <a:t>   • Get channel weights Mc (1×1×256)</a:t>
            </a:r>
          </a:p>
          <a:p>
            <a:pPr rtl="0" latinLnBrk="0"/>
            <a:r>
              <a:rPr lang="en-US" sz="1200" kern="1200" dirty="0">
                <a:solidFill>
                  <a:schemeClr val="tx1"/>
                </a:solidFill>
                <a:effectLst/>
                <a:latin typeface="+mn-lt"/>
                <a:ea typeface="+mn-ea"/>
                <a:cs typeface="+mn-cs"/>
              </a:rPr>
              <a:t>   • Multiply: F × Mc =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Channel-Refined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[SPATIAL ATTENTION]</a:t>
            </a:r>
          </a:p>
          <a:p>
            <a:pPr rtl="0" latinLnBrk="0"/>
            <a:r>
              <a:rPr lang="en-US" sz="1200" kern="1200" dirty="0">
                <a:solidFill>
                  <a:schemeClr val="tx1"/>
                </a:solidFill>
                <a:effectLst/>
                <a:latin typeface="+mn-lt"/>
                <a:ea typeface="+mn-ea"/>
                <a:cs typeface="+mn-cs"/>
              </a:rPr>
              <a:t>   • Squeeze channels: 80×80×256 → 80×80×2</a:t>
            </a:r>
          </a:p>
          <a:p>
            <a:pPr rtl="0" latinLnBrk="0"/>
            <a:r>
              <a:rPr lang="en-US" sz="1200" kern="1200" dirty="0">
                <a:solidFill>
                  <a:schemeClr val="tx1"/>
                </a:solidFill>
                <a:effectLst/>
                <a:latin typeface="+mn-lt"/>
                <a:ea typeface="+mn-ea"/>
                <a:cs typeface="+mn-cs"/>
              </a:rPr>
              <a:t>   • Learn spatial importance via Conv</a:t>
            </a:r>
          </a:p>
          <a:p>
            <a:pPr rtl="0" latinLnBrk="0"/>
            <a:r>
              <a:rPr lang="en-US" sz="1200" kern="1200" dirty="0">
                <a:solidFill>
                  <a:schemeClr val="tx1"/>
                </a:solidFill>
                <a:effectLst/>
                <a:latin typeface="+mn-lt"/>
                <a:ea typeface="+mn-ea"/>
                <a:cs typeface="+mn-cs"/>
              </a:rPr>
              <a:t>   • Get spatial weights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(80×80×1)</a:t>
            </a:r>
          </a:p>
          <a:p>
            <a:pPr rtl="0" latinLnBrk="0"/>
            <a:r>
              <a:rPr lang="en-US" sz="1200" kern="1200" dirty="0">
                <a:solidFill>
                  <a:schemeClr val="tx1"/>
                </a:solidFill>
                <a:effectLst/>
                <a:latin typeface="+mn-lt"/>
                <a:ea typeface="+mn-ea"/>
                <a:cs typeface="+mn-cs"/>
              </a:rPr>
              <a:t>   • Multiply: F' × </a:t>
            </a:r>
            <a:r>
              <a:rPr lang="en-US" sz="1200" kern="1200" dirty="0" err="1">
                <a:solidFill>
                  <a:schemeClr val="tx1"/>
                </a:solidFill>
                <a:effectLst/>
                <a:latin typeface="+mn-lt"/>
                <a:ea typeface="+mn-ea"/>
                <a:cs typeface="+mn-cs"/>
              </a:rPr>
              <a:t>Ms</a:t>
            </a:r>
            <a:r>
              <a:rPr lang="en-US" sz="1200" kern="1200" dirty="0">
                <a:solidFill>
                  <a:schemeClr val="tx1"/>
                </a:solidFill>
                <a:effectLst/>
                <a:latin typeface="+mn-lt"/>
                <a:ea typeface="+mn-ea"/>
                <a:cs typeface="+mn-cs"/>
              </a:rPr>
              <a:t> = F'' (80×80×256)</a:t>
            </a:r>
          </a:p>
          <a:p>
            <a:pPr rtl="0" latinLnBrk="0"/>
            <a:r>
              <a:rPr lang="en-US" sz="1200" kern="1200" dirty="0">
                <a:solidFill>
                  <a:schemeClr val="tx1"/>
                </a:solidFill>
                <a:effectLst/>
                <a:latin typeface="+mn-lt"/>
                <a:ea typeface="+mn-ea"/>
                <a:cs typeface="+mn-cs"/>
              </a:rPr>
              <a:t>         ↓</a:t>
            </a:r>
          </a:p>
          <a:p>
            <a:pPr rtl="0" latinLnBrk="0"/>
            <a:r>
              <a:rPr lang="en-US" sz="1200" kern="1200" dirty="0">
                <a:solidFill>
                  <a:schemeClr val="tx1"/>
                </a:solidFill>
                <a:effectLst/>
                <a:latin typeface="+mn-lt"/>
                <a:ea typeface="+mn-ea"/>
                <a:cs typeface="+mn-cs"/>
              </a:rPr>
              <a:t>Fully-Refined Output F'' (80×80×256)</a:t>
            </a:r>
          </a:p>
          <a:p>
            <a:br>
              <a:rPr lang="en-US" dirty="0">
                <a:effectLst/>
              </a:rPr>
            </a:br>
            <a:endParaRPr lang="en-US" dirty="0">
              <a:effectLst/>
            </a:endParaRPr>
          </a:p>
          <a:p>
            <a:r>
              <a:rPr lang="en-US" b="1" dirty="0">
                <a:effectLst/>
              </a:rPr>
              <a:t>For Your Presentation - The Narrative</a:t>
            </a:r>
          </a:p>
          <a:p>
            <a:r>
              <a:rPr lang="en-US" i="1" dirty="0">
                <a:effectLst/>
              </a:rPr>
              <a:t>"Let me walk you through the journey of a single feature map through CBAM.</a:t>
            </a:r>
            <a:endParaRPr lang="en-US" dirty="0">
              <a:effectLst/>
            </a:endParaRPr>
          </a:p>
          <a:p>
            <a:r>
              <a:rPr lang="en-US" i="1" dirty="0">
                <a:effectLst/>
              </a:rPr>
              <a:t>We start with an 80×80×256 feature map extracted from a bone X-ray. First, it enters </a:t>
            </a:r>
            <a:r>
              <a:rPr lang="en-US" b="1" i="1" dirty="0">
                <a:effectLst/>
              </a:rPr>
              <a:t>Channel Attention</a:t>
            </a:r>
            <a:r>
              <a:rPr lang="en-US" i="1" dirty="0">
                <a:effectLst/>
              </a:rPr>
              <a:t>. Here, we ask: 'Which of these 256 channels actually matter for finding fractures?' We compress each channel down to a single number using both average and max pooling, creating two 1×1×256 vectors. These go through a shared neural network that learns channel importance, and after combining them with a sigmoid activation, we get 256 weights—one per channel. Channels detecting fracture lines might get 0.94, while noisy background channels get 0.12. We multiply the original features by these weights, amplifying important channels and suppressing noise.</a:t>
            </a:r>
            <a:endParaRPr lang="en-US" dirty="0">
              <a:effectLst/>
            </a:endParaRPr>
          </a:p>
          <a:p>
            <a:r>
              <a:rPr lang="en-US" i="1" dirty="0">
                <a:effectLst/>
              </a:rPr>
              <a:t>The channel-refined features then flow into </a:t>
            </a:r>
            <a:r>
              <a:rPr lang="en-US" b="1" i="1" dirty="0">
                <a:effectLst/>
              </a:rPr>
              <a:t>Spatial Attention</a:t>
            </a:r>
            <a:r>
              <a:rPr lang="en-US" i="1" dirty="0">
                <a:effectLst/>
              </a:rPr>
              <a:t>. Now we ask: 'WHERE in this 80×80 grid should we focus?' We compress across channels using average and max pooling, creating two 80×80×1 maps showing overall activation at each location. These are concatenated and passed through a 7×7 convolution that learns spatial importance patterns. After sigmoid activation, we get an 80×80 attention map—a heatmap where fracture regions have values near 0.95 and empty background has values near 0.10. We multiply our channel-refined features by this spatial map.</a:t>
            </a:r>
            <a:endParaRPr lang="en-US" dirty="0">
              <a:effectLst/>
            </a:endParaRPr>
          </a:p>
          <a:p>
            <a:r>
              <a:rPr lang="en-US" i="1" dirty="0">
                <a:effectLst/>
              </a:rPr>
              <a:t>The result? An 80×80×256 feature map that looks identical in size, but is fundamentally transformed—it now has laser focus on fracture-relevant information, with the right channels amplified and the right spatial regions highlighted. This is what makes CBAM so powerful for medical image analysis.</a:t>
            </a:r>
            <a:r>
              <a:rPr lang="en-US" dirty="0">
                <a:effectLst/>
              </a:rPr>
              <a:t>"</a:t>
            </a:r>
          </a:p>
          <a:p>
            <a:br>
              <a:rPr lang="en-US" dirty="0">
                <a:effectLst/>
              </a:rPr>
            </a:br>
            <a:endParaRPr lang="en-US" dirty="0">
              <a:effectLst/>
            </a:endParaRPr>
          </a:p>
          <a:p>
            <a:r>
              <a:rPr lang="en-US" dirty="0">
                <a:effectLst/>
              </a:rPr>
              <a:t>Would you like me to create a more visual, step-by-step diagram or animation script for this journey?</a:t>
            </a:r>
          </a:p>
          <a:p>
            <a:r>
              <a:rPr lang="en-US" dirty="0">
                <a:effectLst/>
              </a:rPr>
              <a:t>remake the 3 diagrams with all the labels</a:t>
            </a:r>
          </a:p>
          <a:p>
            <a:r>
              <a:rPr lang="en-US" dirty="0"/>
              <a:t>10:20 AM</a:t>
            </a:r>
          </a:p>
          <a:p>
            <a:r>
              <a:rPr lang="en-US" dirty="0">
                <a:effectLst/>
              </a:rPr>
              <a:t>CBAM Architecture Diagrams</a:t>
            </a:r>
          </a:p>
          <a:p>
            <a:r>
              <a:rPr lang="en-US" dirty="0">
                <a:effectLst/>
              </a:rPr>
              <a:t>Interactive artifact </a:t>
            </a:r>
          </a:p>
          <a:p>
            <a:r>
              <a:rPr lang="en-US" dirty="0">
                <a:effectLst/>
              </a:rPr>
              <a:t>I've created comprehensive interactive diagrams for CBAM with three tabs:</a:t>
            </a:r>
          </a:p>
          <a:p>
            <a:r>
              <a:rPr lang="en-US" b="1" dirty="0">
                <a:effectLst/>
              </a:rPr>
              <a:t>Features:</a:t>
            </a:r>
          </a:p>
          <a:p>
            <a:r>
              <a:rPr lang="en-US" b="1" dirty="0">
                <a:effectLst/>
              </a:rPr>
              <a:t>CBAM Overview Tab</a:t>
            </a:r>
            <a:r>
              <a:rPr lang="en-US" dirty="0">
                <a:effectLst/>
              </a:rPr>
              <a:t> - Shows the complete flow from input feature through both attention modules to final output, with all dimension labels at each stage</a:t>
            </a:r>
          </a:p>
          <a:p>
            <a:r>
              <a:rPr lang="en-US" b="1" dirty="0">
                <a:effectLst/>
              </a:rPr>
              <a:t>Channel Attention Tab</a:t>
            </a:r>
            <a:r>
              <a:rPr lang="en-US" dirty="0">
                <a:effectLst/>
              </a:rPr>
              <a:t> - Detailed step-by-step visualization showing: </a:t>
            </a:r>
          </a:p>
          <a:p>
            <a:pPr lvl="1"/>
            <a:r>
              <a:rPr lang="en-US" dirty="0">
                <a:effectLst/>
              </a:rPr>
              <a:t>Input splitting into </a:t>
            </a:r>
            <a:r>
              <a:rPr lang="en-US" dirty="0" err="1">
                <a:effectLst/>
              </a:rPr>
              <a:t>AvgPool</a:t>
            </a:r>
            <a:r>
              <a:rPr lang="en-US" dirty="0">
                <a:effectLst/>
              </a:rPr>
              <a:t> and </a:t>
            </a:r>
            <a:r>
              <a:rPr lang="en-US" dirty="0" err="1">
                <a:effectLst/>
              </a:rPr>
              <a:t>MaxPool</a:t>
            </a:r>
            <a:r>
              <a:rPr lang="en-US" dirty="0">
                <a:effectLst/>
              </a:rPr>
              <a:t> paths</a:t>
            </a:r>
          </a:p>
          <a:p>
            <a:pPr lvl="1"/>
            <a:r>
              <a:rPr lang="en-US" dirty="0">
                <a:effectLst/>
              </a:rPr>
              <a:t>Both paths going through Shared MLP</a:t>
            </a:r>
          </a:p>
          <a:p>
            <a:pPr lvl="1"/>
            <a:r>
              <a:rPr lang="en-US" dirty="0">
                <a:effectLst/>
              </a:rPr>
              <a:t>Element-wise summation (⊕)</a:t>
            </a:r>
          </a:p>
          <a:p>
            <a:pPr lvl="1"/>
            <a:r>
              <a:rPr lang="en-US" dirty="0">
                <a:effectLst/>
              </a:rPr>
              <a:t>Sigmoid activation producing channel weights</a:t>
            </a:r>
          </a:p>
          <a:p>
            <a:pPr lvl="1"/>
            <a:r>
              <a:rPr lang="en-US" dirty="0">
                <a:effectLst/>
              </a:rPr>
              <a:t>Final dimensions at each step (80×80×256 → 1×1×256 → final recalibration)</a:t>
            </a:r>
          </a:p>
          <a:p>
            <a:r>
              <a:rPr lang="en-US" b="1" dirty="0">
                <a:effectLst/>
              </a:rPr>
              <a:t>Spatial Attention Tab</a:t>
            </a:r>
            <a:r>
              <a:rPr lang="en-US" dirty="0">
                <a:effectLst/>
              </a:rPr>
              <a:t> - Complete spatial attention flow showing: </a:t>
            </a:r>
          </a:p>
          <a:p>
            <a:pPr lvl="1"/>
            <a:r>
              <a:rPr lang="en-US" dirty="0">
                <a:effectLst/>
              </a:rPr>
              <a:t>Channel-wise pooling operations</a:t>
            </a:r>
          </a:p>
          <a:p>
            <a:pPr lvl="1"/>
            <a:r>
              <a:rPr lang="en-US" dirty="0">
                <a:effectLst/>
              </a:rPr>
              <a:t>Concatenation of pooled features</a:t>
            </a:r>
          </a:p>
          <a:p>
            <a:pPr lvl="1"/>
            <a:r>
              <a:rPr lang="en-US" dirty="0">
                <a:effectLst/>
              </a:rPr>
              <a:t>7×7 convolution layer</a:t>
            </a:r>
          </a:p>
          <a:p>
            <a:pPr lvl="1"/>
            <a:r>
              <a:rPr lang="en-US" dirty="0">
                <a:effectLst/>
              </a:rPr>
              <a:t>Sigmoid activation producing spatial weights</a:t>
            </a:r>
          </a:p>
          <a:p>
            <a:pPr lvl="1"/>
            <a:r>
              <a:rPr lang="en-US" dirty="0">
                <a:effectLst/>
              </a:rPr>
              <a:t>Dimension changes (80×80×256 → 80×80×2 → 80×80×1)</a:t>
            </a:r>
          </a:p>
          <a:p>
            <a:r>
              <a:rPr lang="en-US" b="1" dirty="0">
                <a:effectLst/>
              </a:rPr>
              <a:t>All diagrams include:</a:t>
            </a:r>
            <a:endParaRPr lang="en-US" dirty="0">
              <a:effectLst/>
            </a:endParaRPr>
          </a:p>
          <a:p>
            <a:r>
              <a:rPr lang="en-US" dirty="0">
                <a:effectLst/>
              </a:rPr>
              <a:t>Exact dimension labels (80×80×256, 1×1×256, etc.)</a:t>
            </a:r>
          </a:p>
          <a:p>
            <a:r>
              <a:rPr lang="en-US" dirty="0">
                <a:effectLst/>
              </a:rPr>
              <a:t>Operation symbols (⊗ for multiply, ⊕ for sum, ‖ for </a:t>
            </a:r>
            <a:r>
              <a:rPr lang="en-US" dirty="0" err="1">
                <a:effectLst/>
              </a:rPr>
              <a:t>concat</a:t>
            </a:r>
            <a:r>
              <a:rPr lang="en-US" dirty="0">
                <a:effectLst/>
              </a:rPr>
              <a:t>)</a:t>
            </a:r>
          </a:p>
          <a:p>
            <a:r>
              <a:rPr lang="en-US" dirty="0">
                <a:effectLst/>
              </a:rPr>
              <a:t>Color-coded components for easy identification</a:t>
            </a:r>
          </a:p>
          <a:p>
            <a:r>
              <a:rPr lang="en-US" dirty="0">
                <a:effectLst/>
              </a:rPr>
              <a:t>Step-by-step flow with arrows</a:t>
            </a:r>
          </a:p>
          <a:p>
            <a:r>
              <a:rPr lang="en-US" dirty="0">
                <a:effectLst/>
              </a:rPr>
              <a:t>Detailed operation descriptions</a:t>
            </a:r>
          </a:p>
          <a:p>
            <a:r>
              <a:rPr lang="en-US" dirty="0">
                <a:effectLst/>
              </a:rPr>
              <a:t>A legend explaining all symbols</a:t>
            </a:r>
          </a:p>
          <a:p>
            <a:r>
              <a:rPr lang="en-US" dirty="0">
                <a:effectLst/>
              </a:rPr>
              <a:t>You can use these diagrams directly in your presentation or as a reference for creating slides!</a:t>
            </a:r>
          </a:p>
          <a:p>
            <a:r>
              <a:rPr lang="en-US" dirty="0">
                <a:effectLst/>
              </a:rPr>
              <a:t>why </a:t>
            </a:r>
            <a:r>
              <a:rPr lang="en-US" dirty="0" err="1">
                <a:effectLst/>
              </a:rPr>
              <a:t>dont</a:t>
            </a:r>
            <a:r>
              <a:rPr lang="en-US" dirty="0">
                <a:effectLst/>
              </a:rPr>
              <a:t> you make channel attention and </a:t>
            </a:r>
            <a:r>
              <a:rPr lang="en-US" dirty="0" err="1">
                <a:effectLst/>
              </a:rPr>
              <a:t>spacial</a:t>
            </a:r>
            <a:r>
              <a:rPr lang="en-US" dirty="0">
                <a:effectLst/>
              </a:rPr>
              <a:t> attention diagram like horizontally like the given like picture, keep the contents you have right now same. but labels is a must</a:t>
            </a:r>
          </a:p>
          <a:p>
            <a:r>
              <a:rPr lang="en-US" dirty="0"/>
              <a:t>10:30 AM</a:t>
            </a:r>
          </a:p>
          <a:p>
            <a:r>
              <a:rPr lang="en-US" dirty="0">
                <a:effectLst/>
              </a:rPr>
              <a:t>CBAM Architecture Diagrams</a:t>
            </a:r>
          </a:p>
          <a:p>
            <a:r>
              <a:rPr lang="en-US" dirty="0">
                <a:effectLst/>
              </a:rPr>
              <a:t>Interactive artifact ∙ Version 2 </a:t>
            </a:r>
          </a:p>
          <a:p>
            <a:endParaRPr lang="en-US" dirty="0"/>
          </a:p>
        </p:txBody>
      </p:sp>
      <p:sp>
        <p:nvSpPr>
          <p:cNvPr id="4" name="Slide Number Placeholder 3"/>
          <p:cNvSpPr>
            <a:spLocks noGrp="1"/>
          </p:cNvSpPr>
          <p:nvPr>
            <p:ph type="sldNum" sz="quarter" idx="5"/>
          </p:nvPr>
        </p:nvSpPr>
        <p:spPr/>
        <p:txBody>
          <a:bodyPr/>
          <a:lstStyle/>
          <a:p>
            <a:fld id="{2FBD15EB-690A-42DA-ADFA-97DE906BE420}" type="slidenum">
              <a:rPr lang="en-US" smtClean="0"/>
              <a:t>14</a:t>
            </a:fld>
            <a:endParaRPr lang="en-US"/>
          </a:p>
        </p:txBody>
      </p:sp>
    </p:spTree>
    <p:extLst>
      <p:ext uri="{BB962C8B-B14F-4D97-AF65-F5344CB8AC3E}">
        <p14:creationId xmlns:p14="http://schemas.microsoft.com/office/powerpoint/2010/main" val="289968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1371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1956" y="2417862"/>
            <a:ext cx="9407913" cy="954107"/>
          </a:xfrm>
          <a:prstGeom prst="rect">
            <a:avLst/>
          </a:prstGeom>
          <a:noFill/>
        </p:spPr>
        <p:txBody>
          <a:bodyPr wrap="square">
            <a:spAutoFit/>
          </a:bodyPr>
          <a:lstStyle/>
          <a:p>
            <a:pPr algn="ctr"/>
            <a:r>
              <a:rPr lang="en-US" sz="2800" dirty="0">
                <a:ln w="0"/>
                <a:solidFill>
                  <a:schemeClr val="bg1"/>
                </a:solidFill>
              </a:rPr>
              <a:t>A real-time human bone fracture detection and classification</a:t>
            </a:r>
          </a:p>
          <a:p>
            <a:pPr algn="ctr"/>
            <a:r>
              <a:rPr lang="en-US" sz="2800" dirty="0">
                <a:ln w="0"/>
                <a:solidFill>
                  <a:schemeClr val="bg1"/>
                </a:solidFill>
              </a:rPr>
              <a:t>from multi-modal images using deep learning technique</a:t>
            </a:r>
            <a:endParaRPr sz="2800" dirty="0">
              <a:ln w="0"/>
              <a:solidFill>
                <a:schemeClr val="bg1"/>
              </a:solidFill>
            </a:endParaRPr>
          </a:p>
        </p:txBody>
      </p:sp>
      <p:sp>
        <p:nvSpPr>
          <p:cNvPr id="5" name="TextBox 4"/>
          <p:cNvSpPr txBox="1"/>
          <p:nvPr/>
        </p:nvSpPr>
        <p:spPr>
          <a:xfrm>
            <a:off x="1454896" y="3762428"/>
            <a:ext cx="6234207" cy="646331"/>
          </a:xfrm>
          <a:prstGeom prst="rect">
            <a:avLst/>
          </a:prstGeom>
          <a:noFill/>
        </p:spPr>
        <p:txBody>
          <a:bodyPr wrap="none">
            <a:spAutoFit/>
          </a:bodyPr>
          <a:lstStyle/>
          <a:p>
            <a:pPr algn="ctr">
              <a:defRPr sz="1800">
                <a:solidFill>
                  <a:srgbClr val="94A3B8"/>
                </a:solidFill>
              </a:defRPr>
            </a:pPr>
            <a:r>
              <a:rPr lang="en-US" dirty="0"/>
              <a:t>Presented by</a:t>
            </a:r>
            <a:br>
              <a:rPr dirty="0"/>
            </a:br>
            <a:r>
              <a:rPr lang="en-US" dirty="0"/>
              <a:t>Yousha Rashid, Avoy Mollick, </a:t>
            </a:r>
            <a:r>
              <a:rPr lang="en-US" dirty="0" err="1"/>
              <a:t>Nawshin</a:t>
            </a:r>
            <a:r>
              <a:rPr lang="en-US" dirty="0"/>
              <a:t> Navin, Raiyen Zayed Rakin</a:t>
            </a:r>
            <a:endParaRPr lang="en-US" altLang="en-US" dirty="0"/>
          </a:p>
        </p:txBody>
      </p:sp>
      <p:pic>
        <p:nvPicPr>
          <p:cNvPr id="6" name="Image 0" descr="preencoded.png">
            <a:extLst>
              <a:ext uri="{FF2B5EF4-FFF2-40B4-BE49-F238E27FC236}">
                <a16:creationId xmlns:a16="http://schemas.microsoft.com/office/drawing/2014/main" id="{3BD3C2D3-6C4B-5B1D-4670-4583EB660436}"/>
              </a:ext>
            </a:extLst>
          </p:cNvPr>
          <p:cNvPicPr>
            <a:picLocks noChangeAspect="1"/>
          </p:cNvPicPr>
          <p:nvPr/>
        </p:nvPicPr>
        <p:blipFill>
          <a:blip r:embed="rId2"/>
          <a:stretch>
            <a:fillRect/>
          </a:stretch>
        </p:blipFill>
        <p:spPr>
          <a:xfrm>
            <a:off x="3911085" y="326480"/>
            <a:ext cx="1321828" cy="1982743"/>
          </a:xfrm>
          <a:prstGeom prst="roundRect">
            <a:avLst>
              <a:gd name="adj" fmla="val 8594"/>
            </a:avLst>
          </a:prstGeom>
          <a:no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2AFDB5D6-EEBA-678F-D815-540932AA89F8}"/>
              </a:ext>
            </a:extLst>
          </p:cNvPr>
          <p:cNvSpPr txBox="1"/>
          <p:nvPr/>
        </p:nvSpPr>
        <p:spPr>
          <a:xfrm>
            <a:off x="500317" y="3362206"/>
            <a:ext cx="8229600" cy="276999"/>
          </a:xfrm>
          <a:prstGeom prst="rect">
            <a:avLst/>
          </a:prstGeom>
          <a:noFill/>
        </p:spPr>
        <p:txBody>
          <a:bodyPr wrap="square">
            <a:spAutoFit/>
          </a:bodyPr>
          <a:lstStyle/>
          <a:p>
            <a:pPr algn="ctr">
              <a:defRPr sz="4000" b="1">
                <a:solidFill>
                  <a:srgbClr val="FFFFFF"/>
                </a:solidFill>
              </a:defRPr>
            </a:pPr>
            <a:r>
              <a:rPr lang="en-US" sz="1200" dirty="0"/>
              <a:t>Authors: </a:t>
            </a:r>
            <a:r>
              <a:rPr lang="en-US" sz="1200" dirty="0" err="1"/>
              <a:t>Shahnaj</a:t>
            </a:r>
            <a:r>
              <a:rPr lang="en-US" sz="1200" dirty="0"/>
              <a:t> Parvin, Abdur Rahman</a:t>
            </a: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69180" y="1371600"/>
            <a:ext cx="1405642" cy="338554"/>
          </a:xfrm>
          <a:prstGeom prst="rect">
            <a:avLst/>
          </a:prstGeom>
          <a:noFill/>
        </p:spPr>
        <p:txBody>
          <a:bodyPr wrap="none">
            <a:spAutoFit/>
          </a:bodyPr>
          <a:lstStyle/>
          <a:p>
            <a:pPr algn="ctr">
              <a:defRPr sz="1600" b="1">
                <a:solidFill>
                  <a:srgbClr val="FFFFFF"/>
                </a:solidFill>
              </a:defRPr>
            </a:pPr>
            <a:r>
              <a:rPr lang="en-US" dirty="0"/>
              <a:t>Yousha Rashid</a:t>
            </a:r>
            <a:endParaRPr dirty="0"/>
          </a:p>
        </p:txBody>
      </p:sp>
      <p:sp>
        <p:nvSpPr>
          <p:cNvPr id="4" name="TextBox 3"/>
          <p:cNvSpPr txBox="1"/>
          <p:nvPr/>
        </p:nvSpPr>
        <p:spPr>
          <a:xfrm>
            <a:off x="360607" y="2016643"/>
            <a:ext cx="8583769" cy="1200329"/>
          </a:xfrm>
          <a:prstGeom prst="rect">
            <a:avLst/>
          </a:prstGeom>
          <a:noFill/>
        </p:spPr>
        <p:txBody>
          <a:bodyPr wrap="square">
            <a:spAutoFit/>
          </a:bodyPr>
          <a:lstStyle/>
          <a:p>
            <a:pPr algn="ctr">
              <a:defRPr sz="3600" b="1">
                <a:solidFill>
                  <a:srgbClr val="FFFFFF"/>
                </a:solidFill>
              </a:defRPr>
            </a:pPr>
            <a:r>
              <a:rPr dirty="0"/>
              <a:t>Introduction &amp; Related Work (</a:t>
            </a:r>
            <a:r>
              <a:rPr lang="en-MY" dirty="0"/>
              <a:t>InceptionResNetV2</a:t>
            </a:r>
            <a:r>
              <a:rPr dirty="0"/>
              <a:t>)</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0D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8229600" cy="640080"/>
          </a:xfrm>
          <a:prstGeom prst="rect">
            <a:avLst/>
          </a:prstGeom>
          <a:noFill/>
        </p:spPr>
        <p:txBody>
          <a:bodyPr wrap="none">
            <a:spAutoFit/>
          </a:bodyPr>
          <a:lstStyle/>
          <a:p>
            <a:pPr>
              <a:defRPr sz="2800" b="1">
                <a:solidFill>
                  <a:srgbClr val="1E293B"/>
                </a:solidFill>
              </a:defRPr>
            </a:pPr>
            <a:r>
              <a:t>Problem Statement &amp; Motivation</a:t>
            </a:r>
          </a:p>
        </p:txBody>
      </p:sp>
      <p:sp>
        <p:nvSpPr>
          <p:cNvPr id="5" name="TextBox 4"/>
          <p:cNvSpPr txBox="1"/>
          <p:nvPr/>
        </p:nvSpPr>
        <p:spPr>
          <a:xfrm>
            <a:off x="457200" y="1097280"/>
            <a:ext cx="8229600" cy="3931920"/>
          </a:xfrm>
          <a:prstGeom prst="rect">
            <a:avLst/>
          </a:prstGeom>
          <a:noFill/>
        </p:spPr>
        <p:txBody>
          <a:bodyPr wrap="square">
            <a:spAutoFit/>
          </a:bodyPr>
          <a:lstStyle/>
          <a:p>
            <a:pPr>
              <a:spcAft>
                <a:spcPts val="1200"/>
              </a:spcAft>
              <a:defRPr sz="1600">
                <a:solidFill>
                  <a:srgbClr val="1E293B"/>
                </a:solidFill>
              </a:defRPr>
            </a:pPr>
            <a:r>
              <a:t>• 206 bones in human body - frequent injuries from accidents, sports, falls</a:t>
            </a:r>
          </a:p>
          <a:p>
            <a:pPr>
              <a:spcAft>
                <a:spcPts val="1200"/>
              </a:spcAft>
              <a:defRPr sz="1600">
                <a:solidFill>
                  <a:srgbClr val="1E293B"/>
                </a:solidFill>
              </a:defRPr>
            </a:pPr>
            <a:r>
              <a:t>• Manual fracture detection is time-consuming and error-prone</a:t>
            </a:r>
          </a:p>
          <a:p>
            <a:pPr>
              <a:spcAft>
                <a:spcPts val="1200"/>
              </a:spcAft>
              <a:defRPr sz="1600">
                <a:solidFill>
                  <a:srgbClr val="1E293B"/>
                </a:solidFill>
              </a:defRPr>
            </a:pPr>
            <a:r>
              <a:t>• Radiologists face high workload and potential diagnostic delays</a:t>
            </a:r>
          </a:p>
          <a:p>
            <a:pPr>
              <a:spcAft>
                <a:spcPts val="1200"/>
              </a:spcAft>
              <a:defRPr sz="1600">
                <a:solidFill>
                  <a:srgbClr val="1E293B"/>
                </a:solidFill>
              </a:defRPr>
            </a:pPr>
            <a:r>
              <a:t>• Need for automated, accurate, real-time detection system</a:t>
            </a:r>
          </a:p>
          <a:p>
            <a:pPr>
              <a:spcAft>
                <a:spcPts val="1200"/>
              </a:spcAft>
              <a:defRPr sz="1600">
                <a:solidFill>
                  <a:srgbClr val="1E293B"/>
                </a:solidFill>
              </a:defRPr>
            </a:pPr>
            <a:r>
              <a:t>• Goal: Multi-class fracture classification from X-ray and MRI images</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0D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8229600" cy="640080"/>
          </a:xfrm>
          <a:prstGeom prst="rect">
            <a:avLst/>
          </a:prstGeom>
          <a:noFill/>
        </p:spPr>
        <p:txBody>
          <a:bodyPr wrap="none">
            <a:spAutoFit/>
          </a:bodyPr>
          <a:lstStyle/>
          <a:p>
            <a:pPr>
              <a:defRPr sz="2800" b="1">
                <a:solidFill>
                  <a:srgbClr val="1E293B"/>
                </a:solidFill>
              </a:defRPr>
            </a:pPr>
            <a:r>
              <a:t>Types of Bone Fractures (10 Classes)</a:t>
            </a:r>
          </a:p>
        </p:txBody>
      </p:sp>
      <p:sp>
        <p:nvSpPr>
          <p:cNvPr id="5" name="TextBox 4"/>
          <p:cNvSpPr txBox="1"/>
          <p:nvPr/>
        </p:nvSpPr>
        <p:spPr>
          <a:xfrm>
            <a:off x="457200" y="1097280"/>
            <a:ext cx="8229600" cy="3931920"/>
          </a:xfrm>
          <a:prstGeom prst="rect">
            <a:avLst/>
          </a:prstGeom>
          <a:noFill/>
        </p:spPr>
        <p:txBody>
          <a:bodyPr wrap="square">
            <a:spAutoFit/>
          </a:bodyPr>
          <a:lstStyle/>
          <a:p>
            <a:pPr>
              <a:spcAft>
                <a:spcPts val="1200"/>
              </a:spcAft>
              <a:defRPr sz="1600">
                <a:solidFill>
                  <a:srgbClr val="1E293B"/>
                </a:solidFill>
              </a:defRPr>
            </a:pPr>
            <a:r>
              <a:t>• Open Fracture - Bone pierces through skin</a:t>
            </a:r>
          </a:p>
          <a:p>
            <a:pPr>
              <a:spcAft>
                <a:spcPts val="1200"/>
              </a:spcAft>
              <a:defRPr sz="1600">
                <a:solidFill>
                  <a:srgbClr val="1E293B"/>
                </a:solidFill>
              </a:defRPr>
            </a:pPr>
            <a:r>
              <a:t>• Closed Fracture - Bone breaks but skin intact</a:t>
            </a:r>
          </a:p>
          <a:p>
            <a:pPr>
              <a:spcAft>
                <a:spcPts val="1200"/>
              </a:spcAft>
              <a:defRPr sz="1600">
                <a:solidFill>
                  <a:srgbClr val="1E293B"/>
                </a:solidFill>
              </a:defRPr>
            </a:pPr>
            <a:r>
              <a:t>• Displaced Fracture - Bone fragments misaligned</a:t>
            </a:r>
          </a:p>
          <a:p>
            <a:pPr>
              <a:spcAft>
                <a:spcPts val="1200"/>
              </a:spcAft>
              <a:defRPr sz="1600">
                <a:solidFill>
                  <a:srgbClr val="1E293B"/>
                </a:solidFill>
              </a:defRPr>
            </a:pPr>
            <a:r>
              <a:t>• Transverse Fracture - Horizontal break across bone</a:t>
            </a:r>
          </a:p>
          <a:p>
            <a:pPr>
              <a:spcAft>
                <a:spcPts val="1200"/>
              </a:spcAft>
              <a:defRPr sz="1600">
                <a:solidFill>
                  <a:srgbClr val="1E293B"/>
                </a:solidFill>
              </a:defRPr>
            </a:pPr>
            <a:r>
              <a:t>• Oblique Fracture - Diagonal break pattern</a:t>
            </a:r>
          </a:p>
          <a:p>
            <a:pPr>
              <a:spcAft>
                <a:spcPts val="1200"/>
              </a:spcAft>
              <a:defRPr sz="1600">
                <a:solidFill>
                  <a:srgbClr val="1E293B"/>
                </a:solidFill>
              </a:defRPr>
            </a:pPr>
            <a:r>
              <a:t>• Spiral Fracture - Twisting break around bone</a:t>
            </a:r>
          </a:p>
          <a:p>
            <a:pPr>
              <a:spcAft>
                <a:spcPts val="1200"/>
              </a:spcAft>
              <a:defRPr sz="1600">
                <a:solidFill>
                  <a:srgbClr val="1E293B"/>
                </a:solidFill>
              </a:defRPr>
            </a:pPr>
            <a:r>
              <a:t>• Comminuted Fracture - Bone shatters into multiple pieces</a:t>
            </a:r>
          </a:p>
          <a:p>
            <a:pPr>
              <a:spcAft>
                <a:spcPts val="1200"/>
              </a:spcAft>
              <a:defRPr sz="1600">
                <a:solidFill>
                  <a:srgbClr val="1E293B"/>
                </a:solidFill>
              </a:defRPr>
            </a:pPr>
            <a:r>
              <a:t>• Segmental Fracture - Two separate breaks in same bone</a:t>
            </a:r>
          </a:p>
          <a:p>
            <a:pPr>
              <a:spcAft>
                <a:spcPts val="1200"/>
              </a:spcAft>
              <a:defRPr sz="1600">
                <a:solidFill>
                  <a:srgbClr val="1E293B"/>
                </a:solidFill>
              </a:defRPr>
            </a:pPr>
            <a:r>
              <a:t>• Linear Fracture - Single straight-line crack</a:t>
            </a:r>
          </a:p>
          <a:p>
            <a:pPr>
              <a:spcAft>
                <a:spcPts val="1200"/>
              </a:spcAft>
              <a:defRPr sz="1600">
                <a:solidFill>
                  <a:srgbClr val="1E293B"/>
                </a:solidFill>
              </a:defRPr>
            </a:pPr>
            <a:r>
              <a:t>• Greenstick Fracture - Incomplete break in children's bones</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0D6E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5133328" cy="492443"/>
          </a:xfrm>
          <a:prstGeom prst="rect">
            <a:avLst/>
          </a:prstGeom>
          <a:noFill/>
        </p:spPr>
        <p:txBody>
          <a:bodyPr wrap="none">
            <a:spAutoFit/>
          </a:bodyPr>
          <a:lstStyle/>
          <a:p>
            <a:pPr>
              <a:defRPr sz="2600" b="1">
                <a:solidFill>
                  <a:srgbClr val="1E293B"/>
                </a:solidFill>
              </a:defRPr>
            </a:pPr>
            <a:r>
              <a:rPr dirty="0"/>
              <a:t>Related Work 1:</a:t>
            </a:r>
            <a:r>
              <a:rPr lang="en-US" dirty="0"/>
              <a:t> </a:t>
            </a:r>
            <a:r>
              <a:rPr lang="en-MY" dirty="0"/>
              <a:t>InceptionResNetV2</a:t>
            </a:r>
            <a:endParaRPr dirty="0"/>
          </a:p>
        </p:txBody>
      </p:sp>
      <p:pic>
        <p:nvPicPr>
          <p:cNvPr id="8" name="Picture 7">
            <a:extLst>
              <a:ext uri="{FF2B5EF4-FFF2-40B4-BE49-F238E27FC236}">
                <a16:creationId xmlns:a16="http://schemas.microsoft.com/office/drawing/2014/main" id="{B97ADC1B-38A1-83E7-6D07-44564FDE9BAC}"/>
              </a:ext>
            </a:extLst>
          </p:cNvPr>
          <p:cNvPicPr>
            <a:picLocks noChangeAspect="1"/>
          </p:cNvPicPr>
          <p:nvPr/>
        </p:nvPicPr>
        <p:blipFill>
          <a:blip r:embed="rId2"/>
          <a:srcRect l="2877" t="7563" r="2517" b="5346"/>
          <a:stretch>
            <a:fillRect/>
          </a:stretch>
        </p:blipFill>
        <p:spPr>
          <a:xfrm>
            <a:off x="263136" y="1045967"/>
            <a:ext cx="8650619" cy="3777493"/>
          </a:xfrm>
          <a:prstGeom prst="rect">
            <a:avLst/>
          </a:prstGeom>
        </p:spPr>
      </p:pic>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933109" y="1371600"/>
            <a:ext cx="1277786" cy="338554"/>
          </a:xfrm>
          <a:prstGeom prst="rect">
            <a:avLst/>
          </a:prstGeom>
          <a:noFill/>
        </p:spPr>
        <p:txBody>
          <a:bodyPr wrap="none">
            <a:spAutoFit/>
          </a:bodyPr>
          <a:lstStyle/>
          <a:p>
            <a:pPr algn="ctr">
              <a:defRPr sz="1600" b="1">
                <a:solidFill>
                  <a:srgbClr val="FFFFFF"/>
                </a:solidFill>
              </a:defRPr>
            </a:pPr>
            <a:r>
              <a:rPr lang="en-US" dirty="0" err="1"/>
              <a:t>Avoy</a:t>
            </a:r>
            <a:r>
              <a:rPr lang="en-US" dirty="0"/>
              <a:t> </a:t>
            </a:r>
            <a:r>
              <a:rPr lang="en-US" dirty="0" err="1"/>
              <a:t>Mollick</a:t>
            </a:r>
            <a:endParaRPr dirty="0"/>
          </a:p>
        </p:txBody>
      </p:sp>
      <p:sp>
        <p:nvSpPr>
          <p:cNvPr id="4" name="TextBox 3"/>
          <p:cNvSpPr txBox="1"/>
          <p:nvPr/>
        </p:nvSpPr>
        <p:spPr>
          <a:xfrm>
            <a:off x="457200" y="2011680"/>
            <a:ext cx="8229600" cy="1200329"/>
          </a:xfrm>
          <a:prstGeom prst="rect">
            <a:avLst/>
          </a:prstGeom>
          <a:noFill/>
        </p:spPr>
        <p:txBody>
          <a:bodyPr wrap="square">
            <a:spAutoFit/>
          </a:bodyPr>
          <a:lstStyle/>
          <a:p>
            <a:pPr algn="ctr">
              <a:defRPr sz="3600" b="1">
                <a:solidFill>
                  <a:srgbClr val="FFFFFF"/>
                </a:solidFill>
              </a:defRPr>
            </a:pPr>
            <a:r>
              <a:rPr lang="en-US" dirty="0"/>
              <a:t>Two </a:t>
            </a:r>
            <a:r>
              <a:rPr dirty="0"/>
              <a:t>Related Works</a:t>
            </a:r>
            <a:r>
              <a:rPr lang="en-US" dirty="0"/>
              <a:t> Architecture</a:t>
            </a:r>
            <a:r>
              <a:rPr dirty="0"/>
              <a:t> (</a:t>
            </a:r>
            <a:r>
              <a:rPr lang="en-US" dirty="0" err="1"/>
              <a:t>CrackNet</a:t>
            </a:r>
            <a:r>
              <a:rPr dirty="0"/>
              <a:t> &amp; </a:t>
            </a:r>
            <a:r>
              <a:rPr lang="en-US" dirty="0" err="1"/>
              <a:t>SFNet</a:t>
            </a:r>
            <a:r>
              <a:rPr dirty="0"/>
              <a:t>)</a:t>
            </a: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7279044" cy="400110"/>
          </a:xfrm>
          <a:prstGeom prst="rect">
            <a:avLst/>
          </a:prstGeom>
          <a:noFill/>
        </p:spPr>
        <p:txBody>
          <a:bodyPr wrap="none">
            <a:spAutoFit/>
          </a:bodyPr>
          <a:lstStyle/>
          <a:p>
            <a:pPr>
              <a:defRPr sz="2600" b="1">
                <a:solidFill>
                  <a:srgbClr val="1E293B"/>
                </a:solidFill>
              </a:defRPr>
            </a:pPr>
            <a:r>
              <a:rPr sz="2000" dirty="0"/>
              <a:t>Related Work 2: </a:t>
            </a:r>
            <a:r>
              <a:rPr lang="en-US" sz="2000" dirty="0" err="1"/>
              <a:t>CrackNet</a:t>
            </a:r>
            <a:r>
              <a:rPr lang="en-US" sz="2000" dirty="0"/>
              <a:t> Two-Stage Architecture</a:t>
            </a:r>
            <a:r>
              <a:rPr lang="en-MY" sz="2000" b="1" dirty="0"/>
              <a:t>(Ma &amp; Luo, 2021)</a:t>
            </a:r>
            <a:endParaRPr sz="2000" dirty="0"/>
          </a:p>
        </p:txBody>
      </p:sp>
      <p:pic>
        <p:nvPicPr>
          <p:cNvPr id="14" name="Picture 13">
            <a:extLst>
              <a:ext uri="{FF2B5EF4-FFF2-40B4-BE49-F238E27FC236}">
                <a16:creationId xmlns:a16="http://schemas.microsoft.com/office/drawing/2014/main" id="{BFA38D1C-5D13-9E8E-297E-F1382C750B0D}"/>
              </a:ext>
            </a:extLst>
          </p:cNvPr>
          <p:cNvPicPr>
            <a:picLocks noChangeAspect="1"/>
          </p:cNvPicPr>
          <p:nvPr/>
        </p:nvPicPr>
        <p:blipFill>
          <a:blip r:embed="rId2"/>
          <a:srcRect l="2999" t="6223" r="3108" b="5102"/>
          <a:stretch>
            <a:fillRect/>
          </a:stretch>
        </p:blipFill>
        <p:spPr>
          <a:xfrm>
            <a:off x="453096" y="720150"/>
            <a:ext cx="8142264" cy="4317710"/>
          </a:xfrm>
          <a:prstGeom prst="rect">
            <a:avLst/>
          </a:prstGeom>
        </p:spPr>
      </p:pic>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9315948" cy="400110"/>
          </a:xfrm>
          <a:prstGeom prst="rect">
            <a:avLst/>
          </a:prstGeom>
          <a:noFill/>
        </p:spPr>
        <p:txBody>
          <a:bodyPr wrap="square">
            <a:spAutoFit/>
          </a:bodyPr>
          <a:lstStyle/>
          <a:p>
            <a:pPr>
              <a:defRPr sz="2600" b="1">
                <a:solidFill>
                  <a:srgbClr val="1E293B"/>
                </a:solidFill>
              </a:defRPr>
            </a:pPr>
            <a:r>
              <a:rPr sz="2000" dirty="0"/>
              <a:t>Related Work 3: </a:t>
            </a:r>
            <a:r>
              <a:rPr lang="en-US" sz="2000" b="1" dirty="0" err="1"/>
              <a:t>SFNet</a:t>
            </a:r>
            <a:r>
              <a:rPr lang="en-US" sz="2000" b="1" dirty="0"/>
              <a:t> + Canny Edge Detection (Yadav et al., 2022)</a:t>
            </a:r>
            <a:endParaRPr sz="2000" dirty="0"/>
          </a:p>
        </p:txBody>
      </p:sp>
      <p:pic>
        <p:nvPicPr>
          <p:cNvPr id="5" name="Picture 4">
            <a:extLst>
              <a:ext uri="{FF2B5EF4-FFF2-40B4-BE49-F238E27FC236}">
                <a16:creationId xmlns:a16="http://schemas.microsoft.com/office/drawing/2014/main" id="{9304AEAE-64C8-FA1D-9775-8E8AA578B839}"/>
              </a:ext>
            </a:extLst>
          </p:cNvPr>
          <p:cNvPicPr>
            <a:picLocks noChangeAspect="1"/>
          </p:cNvPicPr>
          <p:nvPr/>
        </p:nvPicPr>
        <p:blipFill>
          <a:blip r:embed="rId2"/>
          <a:srcRect l="2657" t="5774" r="2359" b="14083"/>
          <a:stretch>
            <a:fillRect/>
          </a:stretch>
        </p:blipFill>
        <p:spPr>
          <a:xfrm>
            <a:off x="307165" y="810711"/>
            <a:ext cx="8529669" cy="4139418"/>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42155" y="1371600"/>
            <a:ext cx="1459695" cy="338554"/>
          </a:xfrm>
          <a:prstGeom prst="rect">
            <a:avLst/>
          </a:prstGeom>
          <a:noFill/>
        </p:spPr>
        <p:txBody>
          <a:bodyPr wrap="none">
            <a:spAutoFit/>
          </a:bodyPr>
          <a:lstStyle/>
          <a:p>
            <a:pPr algn="ctr">
              <a:defRPr sz="1600" b="1">
                <a:solidFill>
                  <a:srgbClr val="FFFFFF"/>
                </a:solidFill>
              </a:defRPr>
            </a:pPr>
            <a:r>
              <a:rPr lang="en-US" dirty="0" err="1"/>
              <a:t>Nawshin</a:t>
            </a:r>
            <a:r>
              <a:rPr lang="en-US" dirty="0"/>
              <a:t> Navin</a:t>
            </a:r>
            <a:endParaRPr dirty="0"/>
          </a:p>
        </p:txBody>
      </p:sp>
      <p:sp>
        <p:nvSpPr>
          <p:cNvPr id="4" name="TextBox 3"/>
          <p:cNvSpPr txBox="1"/>
          <p:nvPr/>
        </p:nvSpPr>
        <p:spPr>
          <a:xfrm>
            <a:off x="457200" y="2011680"/>
            <a:ext cx="8229600" cy="1371600"/>
          </a:xfrm>
          <a:prstGeom prst="rect">
            <a:avLst/>
          </a:prstGeom>
          <a:noFill/>
        </p:spPr>
        <p:txBody>
          <a:bodyPr wrap="square">
            <a:spAutoFit/>
          </a:bodyPr>
          <a:lstStyle/>
          <a:p>
            <a:pPr algn="ctr">
              <a:defRPr sz="3600" b="1">
                <a:solidFill>
                  <a:srgbClr val="FFFFFF"/>
                </a:solidFill>
              </a:defRPr>
            </a:pPr>
            <a:r>
              <a:t>YOLOv7 &amp; Current Paper (YOLOv8)</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8229600" cy="548640"/>
          </a:xfrm>
          <a:prstGeom prst="rect">
            <a:avLst/>
          </a:prstGeom>
          <a:noFill/>
        </p:spPr>
        <p:txBody>
          <a:bodyPr wrap="none">
            <a:spAutoFit/>
          </a:bodyPr>
          <a:lstStyle/>
          <a:p>
            <a:pPr>
              <a:defRPr sz="2600" b="1">
                <a:solidFill>
                  <a:srgbClr val="1E293B"/>
                </a:solidFill>
              </a:defRPr>
            </a:pPr>
            <a:r>
              <a:t>Related Work 4: YOLOv7</a:t>
            </a:r>
          </a:p>
        </p:txBody>
      </p:sp>
      <p:pic>
        <p:nvPicPr>
          <p:cNvPr id="5" name="Picture 2">
            <a:extLst>
              <a:ext uri="{FF2B5EF4-FFF2-40B4-BE49-F238E27FC236}">
                <a16:creationId xmlns:a16="http://schemas.microsoft.com/office/drawing/2014/main" id="{9DF004AE-8DD3-9A6B-A92D-C8C4045C5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7015" y="964713"/>
            <a:ext cx="6689969" cy="35854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D1AD7B-6101-912A-BAC4-7E0ACDC1461B}"/>
              </a:ext>
            </a:extLst>
          </p:cNvPr>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C2F2634-8509-7BC8-B6A9-13F8FC080782}"/>
              </a:ext>
            </a:extLst>
          </p:cNvPr>
          <p:cNvSpPr/>
          <p:nvPr/>
        </p:nvSpPr>
        <p:spPr>
          <a:xfrm>
            <a:off x="462431" y="320040"/>
            <a:ext cx="7315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308E3F48-E414-9B9B-C5EB-2C15CAE55DFC}"/>
              </a:ext>
            </a:extLst>
          </p:cNvPr>
          <p:cNvSpPr txBox="1"/>
          <p:nvPr/>
        </p:nvSpPr>
        <p:spPr>
          <a:xfrm>
            <a:off x="548640" y="320040"/>
            <a:ext cx="8229600" cy="492443"/>
          </a:xfrm>
          <a:prstGeom prst="rect">
            <a:avLst/>
          </a:prstGeom>
          <a:noFill/>
        </p:spPr>
        <p:txBody>
          <a:bodyPr wrap="square">
            <a:spAutoFit/>
          </a:bodyPr>
          <a:lstStyle/>
          <a:p>
            <a:pPr>
              <a:defRPr sz="2600" b="1">
                <a:solidFill>
                  <a:srgbClr val="1E293B"/>
                </a:solidFill>
              </a:defRPr>
            </a:pPr>
            <a:r>
              <a:rPr dirty="0"/>
              <a:t>Current Paper: YOLOv8 Architecture</a:t>
            </a:r>
          </a:p>
        </p:txBody>
      </p:sp>
      <p:pic>
        <p:nvPicPr>
          <p:cNvPr id="8" name="Picture 7" descr="A screenshot of a computer&#10;&#10;AI-generated content may be incorrect.">
            <a:extLst>
              <a:ext uri="{FF2B5EF4-FFF2-40B4-BE49-F238E27FC236}">
                <a16:creationId xmlns:a16="http://schemas.microsoft.com/office/drawing/2014/main" id="{302A86ED-8FF0-6009-51D9-24E89FAA3320}"/>
              </a:ext>
            </a:extLst>
          </p:cNvPr>
          <p:cNvPicPr>
            <a:picLocks noChangeAspect="1"/>
          </p:cNvPicPr>
          <p:nvPr/>
        </p:nvPicPr>
        <p:blipFill>
          <a:blip r:embed="rId2"/>
          <a:stretch>
            <a:fillRect/>
          </a:stretch>
        </p:blipFill>
        <p:spPr>
          <a:xfrm>
            <a:off x="1076472" y="1818364"/>
            <a:ext cx="1150842" cy="3143345"/>
          </a:xfrm>
          <a:prstGeom prst="rect">
            <a:avLst/>
          </a:prstGeom>
        </p:spPr>
      </p:pic>
      <p:sp>
        <p:nvSpPr>
          <p:cNvPr id="9" name="Google Shape;953;p28">
            <a:extLst>
              <a:ext uri="{FF2B5EF4-FFF2-40B4-BE49-F238E27FC236}">
                <a16:creationId xmlns:a16="http://schemas.microsoft.com/office/drawing/2014/main" id="{05D2D664-8D8A-10E6-295E-EA2F3B4DBFC2}"/>
              </a:ext>
            </a:extLst>
          </p:cNvPr>
          <p:cNvSpPr txBox="1"/>
          <p:nvPr/>
        </p:nvSpPr>
        <p:spPr>
          <a:xfrm>
            <a:off x="1237588" y="1641483"/>
            <a:ext cx="664602" cy="197201"/>
          </a:xfrm>
          <a:prstGeom prst="rect">
            <a:avLst/>
          </a:prstGeom>
          <a:noFill/>
          <a:ln>
            <a:noFill/>
          </a:ln>
        </p:spPr>
        <p:txBody>
          <a:bodyPr spcFirstLastPara="1" wrap="square" lIns="0" tIns="0" rIns="0" bIns="0" anchor="t" anchorCtr="0">
            <a:noAutofit/>
          </a:bodyPr>
          <a:lstStyle/>
          <a:p>
            <a:pPr algn="ctr"/>
            <a:r>
              <a:rPr lang="en-US" altLang="zh-CN" sz="800" b="1" dirty="0">
                <a:solidFill>
                  <a:srgbClr val="084F7A"/>
                </a:solidFill>
                <a:latin typeface="微软雅黑" panose="020B0503020204020204" pitchFamily="34" charset="-122"/>
                <a:ea typeface="微软雅黑" panose="020B0503020204020204" pitchFamily="34" charset="-122"/>
                <a:cs typeface="Consolas"/>
                <a:sym typeface="Consolas"/>
              </a:rPr>
              <a:t>Backbone</a:t>
            </a:r>
            <a:endParaRPr lang="en-US" altLang="zh-CN" sz="800" b="1" dirty="0">
              <a:solidFill>
                <a:srgbClr val="084F7A"/>
              </a:solidFill>
              <a:latin typeface="微软雅黑" panose="020B0503020204020204" pitchFamily="34" charset="-122"/>
              <a:ea typeface="微软雅黑" panose="020B0503020204020204" pitchFamily="34" charset="-122"/>
            </a:endParaRPr>
          </a:p>
        </p:txBody>
      </p:sp>
      <p:pic>
        <p:nvPicPr>
          <p:cNvPr id="10" name="Picture 9" descr="A screenshot of a computer&#10;&#10;AI-generated content may be incorrect.">
            <a:extLst>
              <a:ext uri="{FF2B5EF4-FFF2-40B4-BE49-F238E27FC236}">
                <a16:creationId xmlns:a16="http://schemas.microsoft.com/office/drawing/2014/main" id="{294BD2A0-7145-DEE6-3404-010F94105611}"/>
              </a:ext>
            </a:extLst>
          </p:cNvPr>
          <p:cNvPicPr>
            <a:picLocks noChangeAspect="1"/>
          </p:cNvPicPr>
          <p:nvPr/>
        </p:nvPicPr>
        <p:blipFill>
          <a:blip r:embed="rId3"/>
          <a:stretch>
            <a:fillRect/>
          </a:stretch>
        </p:blipFill>
        <p:spPr>
          <a:xfrm>
            <a:off x="2529907" y="2677900"/>
            <a:ext cx="3119248" cy="1938390"/>
          </a:xfrm>
          <a:prstGeom prst="rect">
            <a:avLst/>
          </a:prstGeom>
        </p:spPr>
      </p:pic>
      <p:cxnSp>
        <p:nvCxnSpPr>
          <p:cNvPr id="11" name="Straight Connector 10">
            <a:extLst>
              <a:ext uri="{FF2B5EF4-FFF2-40B4-BE49-F238E27FC236}">
                <a16:creationId xmlns:a16="http://schemas.microsoft.com/office/drawing/2014/main" id="{93EB3FF8-3519-1DA4-C7E0-EDB6DDC05E4E}"/>
              </a:ext>
            </a:extLst>
          </p:cNvPr>
          <p:cNvCxnSpPr>
            <a:cxnSpLocks/>
          </p:cNvCxnSpPr>
          <p:nvPr/>
        </p:nvCxnSpPr>
        <p:spPr>
          <a:xfrm flipV="1">
            <a:off x="2227314" y="2990438"/>
            <a:ext cx="302593" cy="65665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66C70169-255C-3841-EE8B-AA33626E4CD1}"/>
              </a:ext>
            </a:extLst>
          </p:cNvPr>
          <p:cNvCxnSpPr>
            <a:cxnSpLocks/>
          </p:cNvCxnSpPr>
          <p:nvPr/>
        </p:nvCxnSpPr>
        <p:spPr>
          <a:xfrm flipV="1">
            <a:off x="2226036" y="3595434"/>
            <a:ext cx="302593" cy="618453"/>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9E0A5DE9-3AB1-FAA8-60F8-9B29644A9A15}"/>
              </a:ext>
            </a:extLst>
          </p:cNvPr>
          <p:cNvCxnSpPr>
            <a:cxnSpLocks/>
          </p:cNvCxnSpPr>
          <p:nvPr/>
        </p:nvCxnSpPr>
        <p:spPr>
          <a:xfrm flipV="1">
            <a:off x="2226036" y="4298962"/>
            <a:ext cx="303871" cy="614605"/>
          </a:xfrm>
          <a:prstGeom prst="line">
            <a:avLst/>
          </a:prstGeom>
        </p:spPr>
        <p:style>
          <a:lnRef idx="1">
            <a:schemeClr val="dk1"/>
          </a:lnRef>
          <a:fillRef idx="0">
            <a:schemeClr val="dk1"/>
          </a:fillRef>
          <a:effectRef idx="0">
            <a:schemeClr val="dk1"/>
          </a:effectRef>
          <a:fontRef idx="minor">
            <a:schemeClr val="tx1"/>
          </a:fontRef>
        </p:style>
      </p:cxnSp>
      <p:sp>
        <p:nvSpPr>
          <p:cNvPr id="14" name="Google Shape;953;p28">
            <a:extLst>
              <a:ext uri="{FF2B5EF4-FFF2-40B4-BE49-F238E27FC236}">
                <a16:creationId xmlns:a16="http://schemas.microsoft.com/office/drawing/2014/main" id="{AEF60A7E-C1D9-85F2-2BDE-44CF36BA2BFA}"/>
              </a:ext>
            </a:extLst>
          </p:cNvPr>
          <p:cNvSpPr txBox="1"/>
          <p:nvPr/>
        </p:nvSpPr>
        <p:spPr>
          <a:xfrm>
            <a:off x="3910173" y="2524979"/>
            <a:ext cx="358716" cy="143619"/>
          </a:xfrm>
          <a:prstGeom prst="rect">
            <a:avLst/>
          </a:prstGeom>
          <a:noFill/>
          <a:ln>
            <a:noFill/>
          </a:ln>
        </p:spPr>
        <p:txBody>
          <a:bodyPr spcFirstLastPara="1" wrap="square" lIns="0" tIns="0" rIns="0" bIns="0" anchor="t" anchorCtr="0">
            <a:noAutofit/>
          </a:bodyPr>
          <a:lstStyle/>
          <a:p>
            <a:pPr algn="ctr"/>
            <a:r>
              <a:rPr lang="en-US" altLang="zh-CN" sz="800" b="1" dirty="0">
                <a:solidFill>
                  <a:srgbClr val="084F7A"/>
                </a:solidFill>
                <a:latin typeface="微软雅黑" panose="020B0503020204020204" pitchFamily="34" charset="-122"/>
                <a:ea typeface="微软雅黑" panose="020B0503020204020204" pitchFamily="34" charset="-122"/>
                <a:cs typeface="Consolas"/>
                <a:sym typeface="Consolas"/>
              </a:rPr>
              <a:t>Head</a:t>
            </a:r>
            <a:endParaRPr lang="en-US" altLang="zh-CN" sz="800" b="1" dirty="0">
              <a:solidFill>
                <a:srgbClr val="084F7A"/>
              </a:solidFill>
              <a:latin typeface="微软雅黑" panose="020B0503020204020204" pitchFamily="34" charset="-122"/>
              <a:ea typeface="微软雅黑" panose="020B0503020204020204" pitchFamily="34" charset="-122"/>
            </a:endParaRPr>
          </a:p>
        </p:txBody>
      </p:sp>
      <p:pic>
        <p:nvPicPr>
          <p:cNvPr id="15" name="Picture 14" descr="A diagram of a function&#10;&#10;AI-generated content may be incorrect.">
            <a:extLst>
              <a:ext uri="{FF2B5EF4-FFF2-40B4-BE49-F238E27FC236}">
                <a16:creationId xmlns:a16="http://schemas.microsoft.com/office/drawing/2014/main" id="{34FD40C5-1216-92FB-84B7-B3AEE2532EE0}"/>
              </a:ext>
            </a:extLst>
          </p:cNvPr>
          <p:cNvPicPr>
            <a:picLocks noChangeAspect="1"/>
          </p:cNvPicPr>
          <p:nvPr/>
        </p:nvPicPr>
        <p:blipFill>
          <a:blip r:embed="rId4"/>
          <a:stretch>
            <a:fillRect/>
          </a:stretch>
        </p:blipFill>
        <p:spPr>
          <a:xfrm>
            <a:off x="5877519" y="4113821"/>
            <a:ext cx="2072048" cy="492443"/>
          </a:xfrm>
          <a:prstGeom prst="rect">
            <a:avLst/>
          </a:prstGeom>
        </p:spPr>
      </p:pic>
      <p:pic>
        <p:nvPicPr>
          <p:cNvPr id="16" name="Picture 15" descr="A diagram of a computer&#10;&#10;AI-generated content may be incorrect.">
            <a:extLst>
              <a:ext uri="{FF2B5EF4-FFF2-40B4-BE49-F238E27FC236}">
                <a16:creationId xmlns:a16="http://schemas.microsoft.com/office/drawing/2014/main" id="{80BEB091-B0D2-6844-7D3C-7C1D96B500B7}"/>
              </a:ext>
            </a:extLst>
          </p:cNvPr>
          <p:cNvPicPr>
            <a:picLocks noChangeAspect="1"/>
          </p:cNvPicPr>
          <p:nvPr/>
        </p:nvPicPr>
        <p:blipFill>
          <a:blip r:embed="rId5"/>
          <a:stretch>
            <a:fillRect/>
          </a:stretch>
        </p:blipFill>
        <p:spPr>
          <a:xfrm>
            <a:off x="5877519" y="2468944"/>
            <a:ext cx="828152" cy="1578905"/>
          </a:xfrm>
          <a:prstGeom prst="rect">
            <a:avLst/>
          </a:prstGeom>
        </p:spPr>
      </p:pic>
      <p:pic>
        <p:nvPicPr>
          <p:cNvPr id="17" name="Picture 16" descr="A screenshot of a diagram&#10;&#10;AI-generated content may be incorrect.">
            <a:extLst>
              <a:ext uri="{FF2B5EF4-FFF2-40B4-BE49-F238E27FC236}">
                <a16:creationId xmlns:a16="http://schemas.microsoft.com/office/drawing/2014/main" id="{AF3BF21D-4317-5A7B-8BBF-826C773F124B}"/>
              </a:ext>
            </a:extLst>
          </p:cNvPr>
          <p:cNvPicPr>
            <a:picLocks noChangeAspect="1"/>
          </p:cNvPicPr>
          <p:nvPr/>
        </p:nvPicPr>
        <p:blipFill>
          <a:blip r:embed="rId6"/>
          <a:stretch>
            <a:fillRect/>
          </a:stretch>
        </p:blipFill>
        <p:spPr>
          <a:xfrm>
            <a:off x="6934035" y="2468944"/>
            <a:ext cx="945793" cy="1578906"/>
          </a:xfrm>
          <a:prstGeom prst="rect">
            <a:avLst/>
          </a:prstGeom>
        </p:spPr>
      </p:pic>
      <p:sp>
        <p:nvSpPr>
          <p:cNvPr id="18" name="Arrow: Right 17">
            <a:extLst>
              <a:ext uri="{FF2B5EF4-FFF2-40B4-BE49-F238E27FC236}">
                <a16:creationId xmlns:a16="http://schemas.microsoft.com/office/drawing/2014/main" id="{0D8BCF6F-84CA-A7D0-12AF-420431D8B28A}"/>
              </a:ext>
            </a:extLst>
          </p:cNvPr>
          <p:cNvSpPr/>
          <p:nvPr/>
        </p:nvSpPr>
        <p:spPr>
          <a:xfrm rot="10800000">
            <a:off x="2307872" y="1838684"/>
            <a:ext cx="559522" cy="305967"/>
          </a:xfrm>
          <a:prstGeom prst="righ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9" name="Picture 18" descr="A diagram of a diagram of a solar panel&#10;&#10;AI-generated content may be incorrect.">
            <a:extLst>
              <a:ext uri="{FF2B5EF4-FFF2-40B4-BE49-F238E27FC236}">
                <a16:creationId xmlns:a16="http://schemas.microsoft.com/office/drawing/2014/main" id="{0F6EF6A8-97BE-D981-D890-2C0318B03638}"/>
              </a:ext>
            </a:extLst>
          </p:cNvPr>
          <p:cNvPicPr>
            <a:picLocks noChangeAspect="1"/>
          </p:cNvPicPr>
          <p:nvPr/>
        </p:nvPicPr>
        <p:blipFill>
          <a:blip r:embed="rId7"/>
          <a:stretch>
            <a:fillRect/>
          </a:stretch>
        </p:blipFill>
        <p:spPr>
          <a:xfrm>
            <a:off x="3467195" y="761907"/>
            <a:ext cx="4572000" cy="13674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198" y="1477509"/>
            <a:ext cx="1829603" cy="338554"/>
          </a:xfrm>
          <a:prstGeom prst="rect">
            <a:avLst/>
          </a:prstGeom>
          <a:noFill/>
        </p:spPr>
        <p:txBody>
          <a:bodyPr wrap="none">
            <a:spAutoFit/>
          </a:bodyPr>
          <a:lstStyle/>
          <a:p>
            <a:pPr algn="ctr">
              <a:defRPr sz="1600" b="1">
                <a:solidFill>
                  <a:srgbClr val="FFFFFF"/>
                </a:solidFill>
              </a:defRPr>
            </a:pPr>
            <a:r>
              <a:rPr lang="en-US" dirty="0" err="1"/>
              <a:t>Raiyen</a:t>
            </a:r>
            <a:r>
              <a:rPr lang="en-US" dirty="0"/>
              <a:t> Zayed Rakin</a:t>
            </a:r>
            <a:endParaRPr dirty="0"/>
          </a:p>
        </p:txBody>
      </p:sp>
      <p:sp>
        <p:nvSpPr>
          <p:cNvPr id="4" name="TextBox 3"/>
          <p:cNvSpPr txBox="1"/>
          <p:nvPr/>
        </p:nvSpPr>
        <p:spPr>
          <a:xfrm>
            <a:off x="457200" y="2248585"/>
            <a:ext cx="8229600" cy="646331"/>
          </a:xfrm>
          <a:prstGeom prst="rect">
            <a:avLst/>
          </a:prstGeom>
          <a:noFill/>
        </p:spPr>
        <p:txBody>
          <a:bodyPr wrap="square">
            <a:spAutoFit/>
          </a:bodyPr>
          <a:lstStyle/>
          <a:p>
            <a:pPr algn="ctr">
              <a:defRPr sz="3600" b="1">
                <a:solidFill>
                  <a:srgbClr val="FFFFFF"/>
                </a:solidFill>
              </a:defRPr>
            </a:pPr>
            <a:r>
              <a:rPr dirty="0"/>
              <a:t>Proposed Improvements &amp; Hypothesi</a:t>
            </a:r>
            <a:r>
              <a:rPr lang="en-US" dirty="0"/>
              <a:t>s</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8229600" cy="640080"/>
          </a:xfrm>
          <a:prstGeom prst="rect">
            <a:avLst/>
          </a:prstGeom>
          <a:noFill/>
        </p:spPr>
        <p:txBody>
          <a:bodyPr wrap="none">
            <a:spAutoFit/>
          </a:bodyPr>
          <a:lstStyle/>
          <a:p>
            <a:pPr>
              <a:defRPr sz="2800" b="1">
                <a:solidFill>
                  <a:srgbClr val="1E293B"/>
                </a:solidFill>
              </a:defRPr>
            </a:pPr>
            <a:r>
              <a:rPr dirty="0"/>
              <a:t>Current Paper Limitations</a:t>
            </a:r>
          </a:p>
        </p:txBody>
      </p:sp>
      <p:sp>
        <p:nvSpPr>
          <p:cNvPr id="5" name="TextBox 4"/>
          <p:cNvSpPr txBox="1"/>
          <p:nvPr/>
        </p:nvSpPr>
        <p:spPr>
          <a:xfrm>
            <a:off x="548640" y="1602254"/>
            <a:ext cx="8229600" cy="1938992"/>
          </a:xfrm>
          <a:prstGeom prst="rect">
            <a:avLst/>
          </a:prstGeom>
          <a:noFill/>
        </p:spPr>
        <p:txBody>
          <a:bodyPr wrap="square">
            <a:spAutoFit/>
          </a:bodyPr>
          <a:lstStyle/>
          <a:p>
            <a:pPr>
              <a:spcAft>
                <a:spcPts val="1200"/>
              </a:spcAft>
              <a:defRPr sz="1600">
                <a:solidFill>
                  <a:srgbClr val="1E293B"/>
                </a:solidFill>
              </a:defRPr>
            </a:pPr>
            <a:r>
              <a:rPr dirty="0"/>
              <a:t>• Small dataset (641 images) - may limit generalization</a:t>
            </a:r>
          </a:p>
          <a:p>
            <a:pPr>
              <a:spcAft>
                <a:spcPts val="1200"/>
              </a:spcAft>
              <a:defRPr sz="1600">
                <a:solidFill>
                  <a:srgbClr val="1E293B"/>
                </a:solidFill>
              </a:defRPr>
            </a:pPr>
            <a:r>
              <a:rPr dirty="0"/>
              <a:t>• No attention mechanism - misses fine-grained fracture details</a:t>
            </a:r>
          </a:p>
          <a:p>
            <a:pPr>
              <a:spcAft>
                <a:spcPts val="1200"/>
              </a:spcAft>
              <a:defRPr sz="1600">
                <a:solidFill>
                  <a:srgbClr val="1E293B"/>
                </a:solidFill>
              </a:defRPr>
            </a:pPr>
            <a:r>
              <a:rPr dirty="0"/>
              <a:t>• Limited multi-scale feature fusion in neck architecture</a:t>
            </a:r>
          </a:p>
          <a:p>
            <a:pPr>
              <a:spcAft>
                <a:spcPts val="1200"/>
              </a:spcAft>
              <a:defRPr sz="1600">
                <a:solidFill>
                  <a:srgbClr val="1E293B"/>
                </a:solidFill>
              </a:defRPr>
            </a:pPr>
            <a:r>
              <a:rPr dirty="0"/>
              <a:t>• No fracture severity classification (mild/moderate/severe)</a:t>
            </a:r>
          </a:p>
          <a:p>
            <a:pPr>
              <a:spcAft>
                <a:spcPts val="1200"/>
              </a:spcAft>
              <a:defRPr sz="1600">
                <a:solidFill>
                  <a:srgbClr val="1E293B"/>
                </a:solidFill>
              </a:defRPr>
            </a:pPr>
            <a:r>
              <a:rPr dirty="0"/>
              <a:t>• Missing CT scan modality integration</a:t>
            </a:r>
            <a:endParaRPr lang="en-US"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E81C-0946-DBE2-6B92-0DE488DEE3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3A3421-D0DE-63C4-40BB-FAEE4EB3F891}"/>
              </a:ext>
            </a:extLst>
          </p:cNvPr>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A60EE1C1-8037-D1B2-03F0-C5A6B2A7AE66}"/>
              </a:ext>
            </a:extLst>
          </p:cNvPr>
          <p:cNvSpPr/>
          <p:nvPr/>
        </p:nvSpPr>
        <p:spPr>
          <a:xfrm>
            <a:off x="365760" y="365760"/>
            <a:ext cx="7315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228B0B5-B5D2-0D3C-8714-19864FB8681B}"/>
              </a:ext>
            </a:extLst>
          </p:cNvPr>
          <p:cNvSpPr txBox="1"/>
          <p:nvPr/>
        </p:nvSpPr>
        <p:spPr>
          <a:xfrm>
            <a:off x="548640" y="320040"/>
            <a:ext cx="4752711" cy="492443"/>
          </a:xfrm>
          <a:prstGeom prst="rect">
            <a:avLst/>
          </a:prstGeom>
          <a:noFill/>
        </p:spPr>
        <p:txBody>
          <a:bodyPr wrap="none">
            <a:spAutoFit/>
          </a:bodyPr>
          <a:lstStyle/>
          <a:p>
            <a:pPr>
              <a:defRPr sz="2600" b="1">
                <a:solidFill>
                  <a:srgbClr val="1E293B"/>
                </a:solidFill>
              </a:defRPr>
            </a:pPr>
            <a:r>
              <a:rPr dirty="0"/>
              <a:t>Proposed </a:t>
            </a:r>
            <a:r>
              <a:rPr lang="en-US" dirty="0"/>
              <a:t>Architecture - Module</a:t>
            </a:r>
            <a:endParaRPr dirty="0"/>
          </a:p>
        </p:txBody>
      </p:sp>
      <p:pic>
        <p:nvPicPr>
          <p:cNvPr id="13" name="Picture 12" descr="A diagram of a block&#10;&#10;AI-generated content may be incorrect.">
            <a:extLst>
              <a:ext uri="{FF2B5EF4-FFF2-40B4-BE49-F238E27FC236}">
                <a16:creationId xmlns:a16="http://schemas.microsoft.com/office/drawing/2014/main" id="{5433861A-53F1-1677-FFC5-AC493E6EA726}"/>
              </a:ext>
            </a:extLst>
          </p:cNvPr>
          <p:cNvPicPr>
            <a:picLocks noChangeAspect="1"/>
          </p:cNvPicPr>
          <p:nvPr/>
        </p:nvPicPr>
        <p:blipFill>
          <a:blip r:embed="rId3"/>
          <a:srcRect t="15854"/>
          <a:stretch>
            <a:fillRect/>
          </a:stretch>
        </p:blipFill>
        <p:spPr>
          <a:xfrm>
            <a:off x="2727960" y="1493520"/>
            <a:ext cx="3840479" cy="11048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descr="A diagram of a pool and signmold&#10;&#10;AI-generated content may be incorrect.">
            <a:extLst>
              <a:ext uri="{FF2B5EF4-FFF2-40B4-BE49-F238E27FC236}">
                <a16:creationId xmlns:a16="http://schemas.microsoft.com/office/drawing/2014/main" id="{CA6DA8AB-FCA8-FFD2-46E1-D0F717102E3B}"/>
              </a:ext>
            </a:extLst>
          </p:cNvPr>
          <p:cNvPicPr>
            <a:picLocks noChangeAspect="1"/>
          </p:cNvPicPr>
          <p:nvPr/>
        </p:nvPicPr>
        <p:blipFill>
          <a:blip r:embed="rId4"/>
          <a:stretch>
            <a:fillRect/>
          </a:stretch>
        </p:blipFill>
        <p:spPr>
          <a:xfrm>
            <a:off x="4744430" y="3143114"/>
            <a:ext cx="4144109" cy="14555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descr="A diagram of a block diagram&#10;&#10;AI-generated content may be incorrect.">
            <a:extLst>
              <a:ext uri="{FF2B5EF4-FFF2-40B4-BE49-F238E27FC236}">
                <a16:creationId xmlns:a16="http://schemas.microsoft.com/office/drawing/2014/main" id="{435FB4EF-F4CB-4A73-FC38-953617D44C0B}"/>
              </a:ext>
            </a:extLst>
          </p:cNvPr>
          <p:cNvPicPr>
            <a:picLocks noChangeAspect="1"/>
          </p:cNvPicPr>
          <p:nvPr/>
        </p:nvPicPr>
        <p:blipFill>
          <a:blip r:embed="rId5"/>
          <a:stretch>
            <a:fillRect/>
          </a:stretch>
        </p:blipFill>
        <p:spPr>
          <a:xfrm>
            <a:off x="586560" y="3172214"/>
            <a:ext cx="3771110" cy="14665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9" name="TextBox 18">
            <a:extLst>
              <a:ext uri="{FF2B5EF4-FFF2-40B4-BE49-F238E27FC236}">
                <a16:creationId xmlns:a16="http://schemas.microsoft.com/office/drawing/2014/main" id="{A235F0E3-4FE6-5FBB-5A29-BC67E03FF158}"/>
              </a:ext>
            </a:extLst>
          </p:cNvPr>
          <p:cNvSpPr txBox="1"/>
          <p:nvPr/>
        </p:nvSpPr>
        <p:spPr>
          <a:xfrm>
            <a:off x="1540923" y="4647613"/>
            <a:ext cx="1732847" cy="338554"/>
          </a:xfrm>
          <a:prstGeom prst="rect">
            <a:avLst/>
          </a:prstGeom>
          <a:noFill/>
        </p:spPr>
        <p:txBody>
          <a:bodyPr wrap="none">
            <a:spAutoFit/>
          </a:bodyPr>
          <a:lstStyle/>
          <a:p>
            <a:pPr>
              <a:defRPr sz="2600" b="1">
                <a:solidFill>
                  <a:srgbClr val="1E293B"/>
                </a:solidFill>
              </a:defRPr>
            </a:pPr>
            <a:r>
              <a:rPr lang="en-US" sz="1600" dirty="0"/>
              <a:t>Channel Attention</a:t>
            </a:r>
            <a:endParaRPr sz="1600" dirty="0"/>
          </a:p>
        </p:txBody>
      </p:sp>
      <p:sp>
        <p:nvSpPr>
          <p:cNvPr id="20" name="TextBox 19">
            <a:extLst>
              <a:ext uri="{FF2B5EF4-FFF2-40B4-BE49-F238E27FC236}">
                <a16:creationId xmlns:a16="http://schemas.microsoft.com/office/drawing/2014/main" id="{5769C866-45A7-6762-4158-FE27621DA440}"/>
              </a:ext>
            </a:extLst>
          </p:cNvPr>
          <p:cNvSpPr txBox="1"/>
          <p:nvPr/>
        </p:nvSpPr>
        <p:spPr>
          <a:xfrm>
            <a:off x="6022630" y="4630736"/>
            <a:ext cx="1617109" cy="338554"/>
          </a:xfrm>
          <a:prstGeom prst="rect">
            <a:avLst/>
          </a:prstGeom>
          <a:noFill/>
        </p:spPr>
        <p:txBody>
          <a:bodyPr wrap="none">
            <a:spAutoFit/>
          </a:bodyPr>
          <a:lstStyle/>
          <a:p>
            <a:pPr>
              <a:defRPr sz="2600" b="1">
                <a:solidFill>
                  <a:srgbClr val="1E293B"/>
                </a:solidFill>
              </a:defRPr>
            </a:pPr>
            <a:r>
              <a:rPr lang="en-US" sz="1600" dirty="0"/>
              <a:t>Spatial Attention</a:t>
            </a:r>
            <a:endParaRPr sz="1600" dirty="0"/>
          </a:p>
        </p:txBody>
      </p:sp>
      <p:cxnSp>
        <p:nvCxnSpPr>
          <p:cNvPr id="22" name="Straight Arrow Connector 21">
            <a:extLst>
              <a:ext uri="{FF2B5EF4-FFF2-40B4-BE49-F238E27FC236}">
                <a16:creationId xmlns:a16="http://schemas.microsoft.com/office/drawing/2014/main" id="{4BFEFD3D-E715-E6BE-CCE4-44D5C7189A95}"/>
              </a:ext>
            </a:extLst>
          </p:cNvPr>
          <p:cNvCxnSpPr>
            <a:cxnSpLocks/>
            <a:endCxn id="17" idx="0"/>
          </p:cNvCxnSpPr>
          <p:nvPr/>
        </p:nvCxnSpPr>
        <p:spPr>
          <a:xfrm flipH="1">
            <a:off x="2472115" y="2240825"/>
            <a:ext cx="1410568" cy="9313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6A3B4D78-1740-2B9E-D955-77E0A7364660}"/>
              </a:ext>
            </a:extLst>
          </p:cNvPr>
          <p:cNvCxnSpPr>
            <a:cxnSpLocks/>
            <a:endCxn id="15" idx="0"/>
          </p:cNvCxnSpPr>
          <p:nvPr/>
        </p:nvCxnSpPr>
        <p:spPr>
          <a:xfrm>
            <a:off x="5134708" y="2152357"/>
            <a:ext cx="1681777" cy="990757"/>
          </a:xfrm>
          <a:prstGeom prst="straightConnector1">
            <a:avLst/>
          </a:prstGeom>
          <a:ln>
            <a:solidFill>
              <a:schemeClr val="bg2"/>
            </a:solidFill>
            <a:tailEnd type="triangle"/>
          </a:ln>
        </p:spPr>
        <p:style>
          <a:lnRef idx="2">
            <a:schemeClr val="dk1"/>
          </a:lnRef>
          <a:fillRef idx="0">
            <a:schemeClr val="dk1"/>
          </a:fillRef>
          <a:effectRef idx="1">
            <a:schemeClr val="dk1"/>
          </a:effectRef>
          <a:fontRef idx="minor">
            <a:schemeClr val="tx1"/>
          </a:fontRef>
        </p:style>
      </p:cxnSp>
      <p:sp>
        <p:nvSpPr>
          <p:cNvPr id="30" name="Rounded Rectangle 4">
            <a:extLst>
              <a:ext uri="{FF2B5EF4-FFF2-40B4-BE49-F238E27FC236}">
                <a16:creationId xmlns:a16="http://schemas.microsoft.com/office/drawing/2014/main" id="{4DD57F82-C51F-75BD-E736-295694948F52}"/>
              </a:ext>
            </a:extLst>
          </p:cNvPr>
          <p:cNvSpPr/>
          <p:nvPr/>
        </p:nvSpPr>
        <p:spPr>
          <a:xfrm>
            <a:off x="2598418" y="839609"/>
            <a:ext cx="4114800" cy="400332"/>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D3683ED7-0E67-DA4E-7F21-CA909E371DB2}"/>
              </a:ext>
            </a:extLst>
          </p:cNvPr>
          <p:cNvSpPr txBox="1"/>
          <p:nvPr/>
        </p:nvSpPr>
        <p:spPr>
          <a:xfrm>
            <a:off x="2598418" y="853038"/>
            <a:ext cx="4143378" cy="338554"/>
          </a:xfrm>
          <a:prstGeom prst="rect">
            <a:avLst/>
          </a:prstGeom>
          <a:noFill/>
        </p:spPr>
        <p:txBody>
          <a:bodyPr wrap="none">
            <a:spAutoFit/>
          </a:bodyPr>
          <a:lstStyle/>
          <a:p>
            <a:pPr>
              <a:defRPr sz="2600" b="1">
                <a:solidFill>
                  <a:srgbClr val="1E293B"/>
                </a:solidFill>
              </a:defRPr>
            </a:pPr>
            <a:r>
              <a:rPr lang="en-US" sz="1600" dirty="0"/>
              <a:t>CBAM (Convolutional Block Attention Module)</a:t>
            </a:r>
            <a:endParaRPr sz="1600" dirty="0"/>
          </a:p>
        </p:txBody>
      </p:sp>
    </p:spTree>
    <p:extLst>
      <p:ext uri="{BB962C8B-B14F-4D97-AF65-F5344CB8AC3E}">
        <p14:creationId xmlns:p14="http://schemas.microsoft.com/office/powerpoint/2010/main" val="3719038400"/>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69D72-E13B-A7CF-36CC-9F1B9EC4E712}"/>
            </a:ext>
          </a:extLst>
        </p:cNvPr>
        <p:cNvGrpSpPr/>
        <p:nvPr/>
      </p:nvGrpSpPr>
      <p:grpSpPr>
        <a:xfrm>
          <a:off x="0" y="0"/>
          <a:ext cx="0" cy="0"/>
          <a:chOff x="0" y="0"/>
          <a:chExt cx="0" cy="0"/>
        </a:xfrm>
      </p:grpSpPr>
      <p:pic>
        <p:nvPicPr>
          <p:cNvPr id="8" name="Picture 7" descr="A screenshot of a computer program&#10;&#10;AI-generated content may be incorrect.">
            <a:extLst>
              <a:ext uri="{FF2B5EF4-FFF2-40B4-BE49-F238E27FC236}">
                <a16:creationId xmlns:a16="http://schemas.microsoft.com/office/drawing/2014/main" id="{BBB21918-3B0E-8D65-5199-AEF5243D2007}"/>
              </a:ext>
            </a:extLst>
          </p:cNvPr>
          <p:cNvPicPr>
            <a:picLocks noChangeAspect="1"/>
          </p:cNvPicPr>
          <p:nvPr/>
        </p:nvPicPr>
        <p:blipFill>
          <a:blip r:embed="rId2"/>
          <a:stretch>
            <a:fillRect/>
          </a:stretch>
        </p:blipFill>
        <p:spPr>
          <a:xfrm>
            <a:off x="0" y="1263758"/>
            <a:ext cx="9144000" cy="2615984"/>
          </a:xfrm>
          <a:prstGeom prst="rect">
            <a:avLst/>
          </a:prstGeom>
        </p:spPr>
      </p:pic>
    </p:spTree>
    <p:extLst>
      <p:ext uri="{BB962C8B-B14F-4D97-AF65-F5344CB8AC3E}">
        <p14:creationId xmlns:p14="http://schemas.microsoft.com/office/powerpoint/2010/main" val="25789876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D0FDC-DB85-4CAD-E2A5-EAA099E95DC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116E591-D956-C4A4-2A44-B9EFBB92EF14}"/>
              </a:ext>
            </a:extLst>
          </p:cNvPr>
          <p:cNvPicPr>
            <a:picLocks noChangeAspect="1"/>
          </p:cNvPicPr>
          <p:nvPr/>
        </p:nvPicPr>
        <p:blipFill>
          <a:blip r:embed="rId2"/>
          <a:srcRect/>
          <a:stretch/>
        </p:blipFill>
        <p:spPr>
          <a:xfrm>
            <a:off x="321754" y="1263758"/>
            <a:ext cx="8500491" cy="2615984"/>
          </a:xfrm>
          <a:prstGeom prst="rect">
            <a:avLst/>
          </a:prstGeom>
        </p:spPr>
      </p:pic>
    </p:spTree>
    <p:extLst>
      <p:ext uri="{BB962C8B-B14F-4D97-AF65-F5344CB8AC3E}">
        <p14:creationId xmlns:p14="http://schemas.microsoft.com/office/powerpoint/2010/main" val="246684831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A1FFA-3F96-4C09-BE32-DCE7905E92BF}"/>
            </a:ext>
          </a:extLst>
        </p:cNvPr>
        <p:cNvGrpSpPr/>
        <p:nvPr/>
      </p:nvGrpSpPr>
      <p:grpSpPr>
        <a:xfrm>
          <a:off x="0" y="0"/>
          <a:ext cx="0" cy="0"/>
          <a:chOff x="0" y="0"/>
          <a:chExt cx="0" cy="0"/>
        </a:xfrm>
      </p:grpSpPr>
      <p:sp>
        <p:nvSpPr>
          <p:cNvPr id="447" name="矩形: 圆角 449">
            <a:extLst>
              <a:ext uri="{FF2B5EF4-FFF2-40B4-BE49-F238E27FC236}">
                <a16:creationId xmlns:a16="http://schemas.microsoft.com/office/drawing/2014/main" id="{00E48D56-6593-C172-910D-007CA66C29B5}"/>
              </a:ext>
            </a:extLst>
          </p:cNvPr>
          <p:cNvSpPr/>
          <p:nvPr/>
        </p:nvSpPr>
        <p:spPr>
          <a:xfrm>
            <a:off x="6577169" y="7558065"/>
            <a:ext cx="352994" cy="89941"/>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
          </a:p>
        </p:txBody>
      </p:sp>
      <p:sp>
        <p:nvSpPr>
          <p:cNvPr id="499" name="Google Shape;953;p28">
            <a:extLst>
              <a:ext uri="{FF2B5EF4-FFF2-40B4-BE49-F238E27FC236}">
                <a16:creationId xmlns:a16="http://schemas.microsoft.com/office/drawing/2014/main" id="{2A93C5E2-3B28-4270-166C-4D448D0DB0D2}"/>
              </a:ext>
            </a:extLst>
          </p:cNvPr>
          <p:cNvSpPr txBox="1"/>
          <p:nvPr/>
        </p:nvSpPr>
        <p:spPr>
          <a:xfrm>
            <a:off x="5956525" y="4612524"/>
            <a:ext cx="728520" cy="74317"/>
          </a:xfrm>
          <a:prstGeom prst="rect">
            <a:avLst/>
          </a:prstGeom>
          <a:noFill/>
          <a:ln>
            <a:noFill/>
          </a:ln>
        </p:spPr>
        <p:txBody>
          <a:bodyPr spcFirstLastPara="1" wrap="square" lIns="0" tIns="0" rIns="0" bIns="0" anchor="t" anchorCtr="0">
            <a:noAutofit/>
          </a:bodyPr>
          <a:lstStyle/>
          <a:p>
            <a:pPr lvl="0"/>
            <a:r>
              <a:rPr lang="en" sz="600" dirty="0">
                <a:latin typeface="微软雅黑" panose="020B0503020204020204" pitchFamily="34" charset="-122"/>
                <a:ea typeface="微软雅黑" panose="020B0503020204020204" pitchFamily="34" charset="-122"/>
                <a:cs typeface="Consolas"/>
                <a:sym typeface="Consolas"/>
              </a:rPr>
              <a:t>80</a:t>
            </a:r>
            <a:r>
              <a:rPr lang="en-US" altLang="zh-CN" sz="600" dirty="0">
                <a:latin typeface="微软雅黑" panose="020B0503020204020204" pitchFamily="34" charset="-122"/>
                <a:ea typeface="微软雅黑" panose="020B0503020204020204" pitchFamily="34" charset="-122"/>
                <a:cs typeface="Consolas"/>
                <a:sym typeface="Consolas"/>
              </a:rPr>
              <a:t>×</a:t>
            </a:r>
            <a:r>
              <a:rPr lang="en" sz="600" dirty="0">
                <a:latin typeface="微软雅黑" panose="020B0503020204020204" pitchFamily="34" charset="-122"/>
                <a:ea typeface="微软雅黑" panose="020B0503020204020204" pitchFamily="34" charset="-122"/>
                <a:cs typeface="Consolas"/>
                <a:sym typeface="Consolas"/>
              </a:rPr>
              <a:t>80</a:t>
            </a:r>
            <a:r>
              <a:rPr lang="en-US" altLang="zh-CN" sz="600" dirty="0">
                <a:latin typeface="微软雅黑" panose="020B0503020204020204" pitchFamily="34" charset="-122"/>
                <a:ea typeface="微软雅黑" panose="020B0503020204020204" pitchFamily="34" charset="-122"/>
                <a:cs typeface="Consolas"/>
                <a:sym typeface="Consolas"/>
              </a:rPr>
              <a:t>×</a:t>
            </a:r>
            <a:r>
              <a:rPr lang="en" sz="600" dirty="0">
                <a:latin typeface="微软雅黑" panose="020B0503020204020204" pitchFamily="34" charset="-122"/>
                <a:ea typeface="微软雅黑" panose="020B0503020204020204" pitchFamily="34" charset="-122"/>
                <a:cs typeface="Consolas"/>
                <a:sym typeface="Consolas"/>
              </a:rPr>
              <a:t>256</a:t>
            </a:r>
            <a:r>
              <a:rPr lang="en-US" altLang="zh-CN" sz="600" dirty="0">
                <a:latin typeface="微软雅黑" panose="020B0503020204020204" pitchFamily="34" charset="-122"/>
                <a:ea typeface="微软雅黑" panose="020B0503020204020204" pitchFamily="34" charset="-122"/>
                <a:cs typeface="Consolas"/>
                <a:sym typeface="Consolas"/>
              </a:rPr>
              <a:t>×</a:t>
            </a:r>
            <a:r>
              <a:rPr lang="en-US" altLang="zh-CN" sz="600" dirty="0">
                <a:solidFill>
                  <a:srgbClr val="C55A11"/>
                </a:solidFill>
                <a:latin typeface="微软雅黑" panose="020B0503020204020204" pitchFamily="34" charset="-122"/>
                <a:ea typeface="微软雅黑" panose="020B0503020204020204" pitchFamily="34" charset="-122"/>
                <a:cs typeface="Consolas"/>
                <a:sym typeface="Consolas"/>
              </a:rPr>
              <a:t>w</a:t>
            </a:r>
            <a:endParaRPr sz="6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501" name="Google Shape;953;p28">
            <a:extLst>
              <a:ext uri="{FF2B5EF4-FFF2-40B4-BE49-F238E27FC236}">
                <a16:creationId xmlns:a16="http://schemas.microsoft.com/office/drawing/2014/main" id="{0BA97917-B705-3F3B-3CA3-A26471116891}"/>
              </a:ext>
            </a:extLst>
          </p:cNvPr>
          <p:cNvSpPr txBox="1"/>
          <p:nvPr/>
        </p:nvSpPr>
        <p:spPr>
          <a:xfrm>
            <a:off x="6290472" y="7565828"/>
            <a:ext cx="781805" cy="73423"/>
          </a:xfrm>
          <a:prstGeom prst="rect">
            <a:avLst/>
          </a:prstGeom>
          <a:noFill/>
          <a:ln>
            <a:noFill/>
          </a:ln>
        </p:spPr>
        <p:txBody>
          <a:bodyPr spcFirstLastPara="1" wrap="square" lIns="0" tIns="0" rIns="0" bIns="0" anchor="t" anchorCtr="0">
            <a:noAutofit/>
          </a:bodyPr>
          <a:lstStyle/>
          <a:p>
            <a:pPr lvl="0"/>
            <a:r>
              <a:rPr lang="en" sz="600" dirty="0">
                <a:latin typeface="微软雅黑" panose="020B0503020204020204" pitchFamily="34" charset="-122"/>
                <a:ea typeface="微软雅黑" panose="020B0503020204020204" pitchFamily="34" charset="-122"/>
                <a:cs typeface="Consolas"/>
                <a:sym typeface="Consolas"/>
              </a:rPr>
              <a:t>20</a:t>
            </a:r>
            <a:r>
              <a:rPr lang="en-US" altLang="zh-CN" sz="600" dirty="0">
                <a:latin typeface="微软雅黑" panose="020B0503020204020204" pitchFamily="34" charset="-122"/>
                <a:ea typeface="微软雅黑" panose="020B0503020204020204" pitchFamily="34" charset="-122"/>
                <a:cs typeface="Consolas"/>
                <a:sym typeface="Consolas"/>
              </a:rPr>
              <a:t>×</a:t>
            </a:r>
            <a:r>
              <a:rPr lang="en" altLang="zh-CN" sz="600" dirty="0">
                <a:latin typeface="微软雅黑" panose="020B0503020204020204" pitchFamily="34" charset="-122"/>
                <a:ea typeface="微软雅黑" panose="020B0503020204020204" pitchFamily="34" charset="-122"/>
                <a:cs typeface="Consolas"/>
                <a:sym typeface="Consolas"/>
              </a:rPr>
              <a:t>2</a:t>
            </a:r>
            <a:r>
              <a:rPr lang="en" sz="600" dirty="0">
                <a:latin typeface="微软雅黑" panose="020B0503020204020204" pitchFamily="34" charset="-122"/>
                <a:ea typeface="微软雅黑" panose="020B0503020204020204" pitchFamily="34" charset="-122"/>
                <a:cs typeface="Consolas"/>
                <a:sym typeface="Consolas"/>
              </a:rPr>
              <a:t>0</a:t>
            </a:r>
            <a:r>
              <a:rPr lang="en-US" altLang="zh-CN" sz="600" dirty="0">
                <a:latin typeface="微软雅黑" panose="020B0503020204020204" pitchFamily="34" charset="-122"/>
                <a:ea typeface="微软雅黑" panose="020B0503020204020204" pitchFamily="34" charset="-122"/>
                <a:cs typeface="Consolas"/>
                <a:sym typeface="Consolas"/>
              </a:rPr>
              <a:t>×</a:t>
            </a:r>
            <a:r>
              <a:rPr lang="en" sz="600" dirty="0">
                <a:latin typeface="微软雅黑" panose="020B0503020204020204" pitchFamily="34" charset="-122"/>
                <a:ea typeface="微软雅黑" panose="020B0503020204020204" pitchFamily="34" charset="-122"/>
                <a:cs typeface="Consolas"/>
                <a:sym typeface="Consolas"/>
              </a:rPr>
              <a:t>512</a:t>
            </a:r>
            <a:r>
              <a:rPr lang="en-US" altLang="zh-CN" sz="600" dirty="0">
                <a:latin typeface="微软雅黑" panose="020B0503020204020204" pitchFamily="34" charset="-122"/>
                <a:ea typeface="微软雅黑" panose="020B0503020204020204" pitchFamily="34" charset="-122"/>
                <a:cs typeface="Consolas"/>
                <a:sym typeface="Consolas"/>
              </a:rPr>
              <a:t>×</a:t>
            </a:r>
            <a:r>
              <a:rPr lang="en-US" altLang="zh-CN" sz="6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600" dirty="0" err="1">
                <a:latin typeface="微软雅黑" panose="020B0503020204020204" pitchFamily="34" charset="-122"/>
                <a:ea typeface="微软雅黑" panose="020B0503020204020204" pitchFamily="34" charset="-122"/>
                <a:cs typeface="Consolas"/>
                <a:sym typeface="Consolas"/>
              </a:rPr>
              <a:t>×</a:t>
            </a:r>
            <a:r>
              <a:rPr lang="en-US" altLang="zh-CN" sz="6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600" dirty="0">
              <a:latin typeface="微软雅黑" panose="020B0503020204020204" pitchFamily="34" charset="-122"/>
              <a:ea typeface="微软雅黑" panose="020B0503020204020204" pitchFamily="34" charset="-122"/>
              <a:cs typeface="Consolas"/>
              <a:sym typeface="Consolas"/>
            </a:endParaRPr>
          </a:p>
        </p:txBody>
      </p:sp>
      <p:sp>
        <p:nvSpPr>
          <p:cNvPr id="502" name="Google Shape;379;p22">
            <a:extLst>
              <a:ext uri="{FF2B5EF4-FFF2-40B4-BE49-F238E27FC236}">
                <a16:creationId xmlns:a16="http://schemas.microsoft.com/office/drawing/2014/main" id="{8538BFB1-56CA-8B3A-B7F6-D479EF8F0EC8}"/>
              </a:ext>
            </a:extLst>
          </p:cNvPr>
          <p:cNvSpPr/>
          <p:nvPr/>
        </p:nvSpPr>
        <p:spPr>
          <a:xfrm>
            <a:off x="7247213" y="713927"/>
            <a:ext cx="1253696" cy="270892"/>
          </a:xfrm>
          <a:prstGeom prst="roundRect">
            <a:avLst>
              <a:gd name="adj" fmla="val 15640"/>
            </a:avLst>
          </a:prstGeom>
          <a:gradFill>
            <a:gsLst>
              <a:gs pos="0">
                <a:schemeClr val="accent6">
                  <a:lumMod val="60000"/>
                  <a:lumOff val="40000"/>
                </a:schemeClr>
              </a:gs>
              <a:gs pos="100000">
                <a:srgbClr val="FFDA72"/>
              </a:gs>
            </a:gsLst>
            <a:lin ang="2700000" scaled="1"/>
          </a:gra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pPr algn="ctr"/>
            <a:r>
              <a:rPr lang="en-US" altLang="zh-CN" sz="900" b="1" dirty="0">
                <a:solidFill>
                  <a:srgbClr val="404040"/>
                </a:solidFill>
                <a:latin typeface="微软雅黑" panose="020B0503020204020204" pitchFamily="34" charset="-122"/>
                <a:ea typeface="微软雅黑" panose="020B0503020204020204" pitchFamily="34" charset="-122"/>
              </a:rPr>
              <a:t>Detect</a:t>
            </a:r>
            <a:endParaRPr sz="700" dirty="0">
              <a:solidFill>
                <a:srgbClr val="404040"/>
              </a:solidFill>
              <a:latin typeface="微软雅黑" panose="020B0503020204020204" pitchFamily="34" charset="-122"/>
              <a:ea typeface="微软雅黑" panose="020B0503020204020204" pitchFamily="34" charset="-122"/>
            </a:endParaRPr>
          </a:p>
        </p:txBody>
      </p:sp>
      <p:cxnSp>
        <p:nvCxnSpPr>
          <p:cNvPr id="507" name="Google Shape;394;p22">
            <a:extLst>
              <a:ext uri="{FF2B5EF4-FFF2-40B4-BE49-F238E27FC236}">
                <a16:creationId xmlns:a16="http://schemas.microsoft.com/office/drawing/2014/main" id="{90CA1DD2-51EE-09A7-680A-7A866BB5F39F}"/>
              </a:ext>
            </a:extLst>
          </p:cNvPr>
          <p:cNvCxnSpPr>
            <a:cxnSpLocks/>
            <a:stCxn id="728" idx="3"/>
            <a:endCxn id="713" idx="1"/>
          </p:cNvCxnSpPr>
          <p:nvPr/>
        </p:nvCxnSpPr>
        <p:spPr>
          <a:xfrm flipV="1">
            <a:off x="1849849" y="3245807"/>
            <a:ext cx="959675" cy="90362"/>
          </a:xfrm>
          <a:prstGeom prst="straightConnector1">
            <a:avLst/>
          </a:prstGeom>
          <a:noFill/>
          <a:ln w="9525" cap="flat" cmpd="sng">
            <a:solidFill>
              <a:schemeClr val="dk2"/>
            </a:solidFill>
            <a:prstDash val="solid"/>
            <a:round/>
            <a:headEnd type="none" w="med" len="med"/>
            <a:tailEnd type="triangle" w="med" len="med"/>
          </a:ln>
        </p:spPr>
      </p:cxnSp>
      <p:sp>
        <p:nvSpPr>
          <p:cNvPr id="509" name="Google Shape;953;p28">
            <a:extLst>
              <a:ext uri="{FF2B5EF4-FFF2-40B4-BE49-F238E27FC236}">
                <a16:creationId xmlns:a16="http://schemas.microsoft.com/office/drawing/2014/main" id="{4E70E878-B3B5-C470-3F25-5332D4AF9F54}"/>
              </a:ext>
            </a:extLst>
          </p:cNvPr>
          <p:cNvSpPr txBox="1"/>
          <p:nvPr/>
        </p:nvSpPr>
        <p:spPr>
          <a:xfrm>
            <a:off x="4806855" y="7853683"/>
            <a:ext cx="1112543" cy="186589"/>
          </a:xfrm>
          <a:prstGeom prst="rect">
            <a:avLst/>
          </a:prstGeom>
          <a:noFill/>
          <a:ln>
            <a:noFill/>
          </a:ln>
        </p:spPr>
        <p:txBody>
          <a:bodyPr spcFirstLastPara="1" wrap="square" lIns="0" tIns="0" rIns="0" bIns="0" anchor="t" anchorCtr="0">
            <a:noAutofit/>
          </a:bodyPr>
          <a:lstStyle/>
          <a:p>
            <a:pPr algn="ctr"/>
            <a:r>
              <a:rPr lang="en-US" altLang="zh-CN" sz="1050" b="1" dirty="0">
                <a:solidFill>
                  <a:srgbClr val="084F7A"/>
                </a:solidFill>
                <a:latin typeface="微软雅黑" panose="020B0503020204020204" pitchFamily="34" charset="-122"/>
                <a:ea typeface="微软雅黑" panose="020B0503020204020204" pitchFamily="34" charset="-122"/>
                <a:cs typeface="Consolas"/>
                <a:sym typeface="Consolas"/>
              </a:rPr>
              <a:t>Head</a:t>
            </a:r>
            <a:endParaRPr lang="en-US" altLang="zh-CN" sz="1050" b="1" dirty="0">
              <a:solidFill>
                <a:srgbClr val="084F7A"/>
              </a:solidFill>
              <a:latin typeface="微软雅黑" panose="020B0503020204020204" pitchFamily="34" charset="-122"/>
              <a:ea typeface="微软雅黑" panose="020B0503020204020204" pitchFamily="34" charset="-122"/>
            </a:endParaRPr>
          </a:p>
        </p:txBody>
      </p:sp>
      <p:cxnSp>
        <p:nvCxnSpPr>
          <p:cNvPr id="514" name="Google Shape;394;p22">
            <a:extLst>
              <a:ext uri="{FF2B5EF4-FFF2-40B4-BE49-F238E27FC236}">
                <a16:creationId xmlns:a16="http://schemas.microsoft.com/office/drawing/2014/main" id="{B1C7CE55-A363-1803-C077-E20D532441AA}"/>
              </a:ext>
            </a:extLst>
          </p:cNvPr>
          <p:cNvCxnSpPr>
            <a:cxnSpLocks/>
            <a:stCxn id="732" idx="3"/>
            <a:endCxn id="707" idx="1"/>
          </p:cNvCxnSpPr>
          <p:nvPr/>
        </p:nvCxnSpPr>
        <p:spPr>
          <a:xfrm flipV="1">
            <a:off x="1844275" y="1281278"/>
            <a:ext cx="967969" cy="1151829"/>
          </a:xfrm>
          <a:prstGeom prst="straightConnector1">
            <a:avLst/>
          </a:prstGeom>
          <a:noFill/>
          <a:ln w="9525" cap="flat" cmpd="sng">
            <a:solidFill>
              <a:schemeClr val="dk2"/>
            </a:solidFill>
            <a:prstDash val="solid"/>
            <a:round/>
            <a:headEnd type="none" w="med" len="med"/>
            <a:tailEnd type="triangle" w="med" len="med"/>
          </a:ln>
        </p:spPr>
      </p:cxnSp>
      <p:cxnSp>
        <p:nvCxnSpPr>
          <p:cNvPr id="525" name="Google Shape;394;p22">
            <a:extLst>
              <a:ext uri="{FF2B5EF4-FFF2-40B4-BE49-F238E27FC236}">
                <a16:creationId xmlns:a16="http://schemas.microsoft.com/office/drawing/2014/main" id="{6CCCDAEF-6310-F1A0-9F2A-8372DDFAA2EE}"/>
              </a:ext>
            </a:extLst>
          </p:cNvPr>
          <p:cNvCxnSpPr>
            <a:cxnSpLocks/>
            <a:stCxn id="642" idx="3"/>
          </p:cNvCxnSpPr>
          <p:nvPr/>
        </p:nvCxnSpPr>
        <p:spPr>
          <a:xfrm flipV="1">
            <a:off x="1878310" y="4146977"/>
            <a:ext cx="3581133" cy="550186"/>
          </a:xfrm>
          <a:prstGeom prst="straightConnector1">
            <a:avLst/>
          </a:prstGeom>
          <a:noFill/>
          <a:ln w="9525" cap="flat" cmpd="sng">
            <a:solidFill>
              <a:schemeClr val="dk2"/>
            </a:solidFill>
            <a:prstDash val="solid"/>
            <a:round/>
            <a:headEnd type="none" w="med" len="med"/>
            <a:tailEnd type="triangle" w="med" len="med"/>
          </a:ln>
        </p:spPr>
      </p:cxnSp>
      <p:cxnSp>
        <p:nvCxnSpPr>
          <p:cNvPr id="528" name="Google Shape;394;p22">
            <a:extLst>
              <a:ext uri="{FF2B5EF4-FFF2-40B4-BE49-F238E27FC236}">
                <a16:creationId xmlns:a16="http://schemas.microsoft.com/office/drawing/2014/main" id="{B1070E83-CBE2-AD75-2FA9-F5A8676432D8}"/>
              </a:ext>
            </a:extLst>
          </p:cNvPr>
          <p:cNvCxnSpPr>
            <a:cxnSpLocks/>
            <a:stCxn id="648" idx="3"/>
            <a:endCxn id="502" idx="1"/>
          </p:cNvCxnSpPr>
          <p:nvPr/>
        </p:nvCxnSpPr>
        <p:spPr>
          <a:xfrm>
            <a:off x="4205485" y="806338"/>
            <a:ext cx="3041728" cy="43035"/>
          </a:xfrm>
          <a:prstGeom prst="straightConnector1">
            <a:avLst/>
          </a:prstGeom>
          <a:noFill/>
          <a:ln w="9525" cap="flat" cmpd="sng">
            <a:solidFill>
              <a:schemeClr val="dk2"/>
            </a:solidFill>
            <a:prstDash val="solid"/>
            <a:round/>
            <a:headEnd type="none" w="med" len="med"/>
            <a:tailEnd type="triangle" w="med" len="med"/>
          </a:ln>
        </p:spPr>
      </p:cxnSp>
      <p:grpSp>
        <p:nvGrpSpPr>
          <p:cNvPr id="798" name="Group 797">
            <a:extLst>
              <a:ext uri="{FF2B5EF4-FFF2-40B4-BE49-F238E27FC236}">
                <a16:creationId xmlns:a16="http://schemas.microsoft.com/office/drawing/2014/main" id="{AA0C96CF-70B5-C0EE-0190-F2B240D94A69}"/>
              </a:ext>
            </a:extLst>
          </p:cNvPr>
          <p:cNvGrpSpPr/>
          <p:nvPr/>
        </p:nvGrpSpPr>
        <p:grpSpPr>
          <a:xfrm>
            <a:off x="633904" y="-42703"/>
            <a:ext cx="1318648" cy="4824867"/>
            <a:chOff x="47717" y="1375133"/>
            <a:chExt cx="1530781" cy="5373728"/>
          </a:xfrm>
        </p:grpSpPr>
        <p:grpSp>
          <p:nvGrpSpPr>
            <p:cNvPr id="450" name="组合 177">
              <a:extLst>
                <a:ext uri="{FF2B5EF4-FFF2-40B4-BE49-F238E27FC236}">
                  <a16:creationId xmlns:a16="http://schemas.microsoft.com/office/drawing/2014/main" id="{5FA442FD-E457-B902-ACA3-C4E14C1536ED}"/>
                </a:ext>
              </a:extLst>
            </p:cNvPr>
            <p:cNvGrpSpPr/>
            <p:nvPr/>
          </p:nvGrpSpPr>
          <p:grpSpPr>
            <a:xfrm>
              <a:off x="65092" y="1798345"/>
              <a:ext cx="1445626" cy="336836"/>
              <a:chOff x="780535" y="3414892"/>
              <a:chExt cx="2102889" cy="636451"/>
            </a:xfrm>
          </p:grpSpPr>
          <p:sp>
            <p:nvSpPr>
              <p:cNvPr id="752" name="Google Shape;379;p22">
                <a:extLst>
                  <a:ext uri="{FF2B5EF4-FFF2-40B4-BE49-F238E27FC236}">
                    <a16:creationId xmlns:a16="http://schemas.microsoft.com/office/drawing/2014/main" id="{EC01136F-F037-C2CD-D6A8-D8982476CC2B}"/>
                  </a:ext>
                </a:extLst>
              </p:cNvPr>
              <p:cNvSpPr/>
              <p:nvPr/>
            </p:nvSpPr>
            <p:spPr>
              <a:xfrm>
                <a:off x="780535" y="3414892"/>
                <a:ext cx="2014251"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753" name="直接连接符 603">
                <a:extLst>
                  <a:ext uri="{FF2B5EF4-FFF2-40B4-BE49-F238E27FC236}">
                    <a16:creationId xmlns:a16="http://schemas.microsoft.com/office/drawing/2014/main" id="{A4242194-70EC-9132-41EB-E5A88DF5A90D}"/>
                  </a:ext>
                </a:extLst>
              </p:cNvPr>
              <p:cNvCxnSpPr>
                <a:cxnSpLocks/>
              </p:cNvCxnSpPr>
              <p:nvPr/>
            </p:nvCxnSpPr>
            <p:spPr>
              <a:xfrm>
                <a:off x="2527815" y="3414892"/>
                <a:ext cx="0" cy="506584"/>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54" name="文本框 170">
                <a:extLst>
                  <a:ext uri="{FF2B5EF4-FFF2-40B4-BE49-F238E27FC236}">
                    <a16:creationId xmlns:a16="http://schemas.microsoft.com/office/drawing/2014/main" id="{728A0284-3A99-FF44-40B4-EAA6BFDAE473}"/>
                  </a:ext>
                </a:extLst>
              </p:cNvPr>
              <p:cNvSpPr txBox="1"/>
              <p:nvPr/>
            </p:nvSpPr>
            <p:spPr>
              <a:xfrm>
                <a:off x="2461697" y="3430261"/>
                <a:ext cx="404389" cy="356234"/>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0</a:t>
                </a:r>
              </a:p>
            </p:txBody>
          </p:sp>
          <p:sp>
            <p:nvSpPr>
              <p:cNvPr id="755" name="矩形 171">
                <a:extLst>
                  <a:ext uri="{FF2B5EF4-FFF2-40B4-BE49-F238E27FC236}">
                    <a16:creationId xmlns:a16="http://schemas.microsoft.com/office/drawing/2014/main" id="{6FA562AF-A790-0A25-7BEC-422ED9A45614}"/>
                  </a:ext>
                </a:extLst>
              </p:cNvPr>
              <p:cNvSpPr/>
              <p:nvPr/>
            </p:nvSpPr>
            <p:spPr>
              <a:xfrm>
                <a:off x="2444358" y="3695109"/>
                <a:ext cx="439066" cy="356234"/>
              </a:xfrm>
              <a:prstGeom prst="rect">
                <a:avLst/>
              </a:prstGeom>
            </p:spPr>
            <p:txBody>
              <a:bodyPr wrap="none">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P1</a:t>
                </a:r>
                <a:endParaRPr lang="zh-CN" altLang="en-US" sz="500" dirty="0">
                  <a:solidFill>
                    <a:srgbClr val="404040"/>
                  </a:solidFill>
                  <a:latin typeface="微软雅黑" panose="020B0503020204020204" pitchFamily="34" charset="-122"/>
                  <a:ea typeface="微软雅黑" panose="020B0503020204020204" pitchFamily="34" charset="-122"/>
                </a:endParaRPr>
              </a:p>
            </p:txBody>
          </p:sp>
          <p:cxnSp>
            <p:nvCxnSpPr>
              <p:cNvPr id="756" name="直接连接符 605">
                <a:extLst>
                  <a:ext uri="{FF2B5EF4-FFF2-40B4-BE49-F238E27FC236}">
                    <a16:creationId xmlns:a16="http://schemas.microsoft.com/office/drawing/2014/main" id="{6F205D62-DCAE-DC3A-38E6-262BEE8420D9}"/>
                  </a:ext>
                </a:extLst>
              </p:cNvPr>
              <p:cNvCxnSpPr>
                <a:cxnSpLocks/>
                <a:endCxn id="752" idx="3"/>
              </p:cNvCxnSpPr>
              <p:nvPr/>
            </p:nvCxnSpPr>
            <p:spPr>
              <a:xfrm>
                <a:off x="2524221" y="3670817"/>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451" name="组合 179">
              <a:extLst>
                <a:ext uri="{FF2B5EF4-FFF2-40B4-BE49-F238E27FC236}">
                  <a16:creationId xmlns:a16="http://schemas.microsoft.com/office/drawing/2014/main" id="{4EA2C1DF-25C9-BFAB-C1FF-B7F35A052DC9}"/>
                </a:ext>
              </a:extLst>
            </p:cNvPr>
            <p:cNvGrpSpPr/>
            <p:nvPr/>
          </p:nvGrpSpPr>
          <p:grpSpPr>
            <a:xfrm>
              <a:off x="60105" y="2909360"/>
              <a:ext cx="1433708" cy="271076"/>
              <a:chOff x="780535" y="4717958"/>
              <a:chExt cx="2085552" cy="512198"/>
            </a:xfrm>
          </p:grpSpPr>
          <p:sp>
            <p:nvSpPr>
              <p:cNvPr id="748" name="Google Shape;385;p22">
                <a:extLst>
                  <a:ext uri="{FF2B5EF4-FFF2-40B4-BE49-F238E27FC236}">
                    <a16:creationId xmlns:a16="http://schemas.microsoft.com/office/drawing/2014/main" id="{752D1B73-567E-6984-71E6-F28FE13956E6}"/>
                  </a:ext>
                </a:extLst>
              </p:cNvPr>
              <p:cNvSpPr/>
              <p:nvPr/>
            </p:nvSpPr>
            <p:spPr>
              <a:xfrm>
                <a:off x="780535" y="4718306"/>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shortcut=True, </a:t>
                </a:r>
                <a:r>
                  <a:rPr lang="en-US" altLang="zh-CN" sz="500" dirty="0">
                    <a:solidFill>
                      <a:srgbClr val="0070C0"/>
                    </a:solidFill>
                    <a:latin typeface="微软雅黑" panose="020B0503020204020204" pitchFamily="34" charset="-122"/>
                    <a:ea typeface="微软雅黑" panose="020B0503020204020204" pitchFamily="34" charset="-122"/>
                  </a:rPr>
                  <a:t>n=3×d</a:t>
                </a:r>
              </a:p>
            </p:txBody>
          </p:sp>
          <p:cxnSp>
            <p:nvCxnSpPr>
              <p:cNvPr id="749" name="直接连接符 608">
                <a:extLst>
                  <a:ext uri="{FF2B5EF4-FFF2-40B4-BE49-F238E27FC236}">
                    <a16:creationId xmlns:a16="http://schemas.microsoft.com/office/drawing/2014/main" id="{5C7BB5FF-E6AF-F7DA-FB49-EE4EBE526FDF}"/>
                  </a:ext>
                </a:extLst>
              </p:cNvPr>
              <p:cNvCxnSpPr>
                <a:cxnSpLocks/>
              </p:cNvCxnSpPr>
              <p:nvPr/>
            </p:nvCxnSpPr>
            <p:spPr>
              <a:xfrm>
                <a:off x="2526463" y="4717958"/>
                <a:ext cx="0" cy="508927"/>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50" name="文本框 609">
                <a:extLst>
                  <a:ext uri="{FF2B5EF4-FFF2-40B4-BE49-F238E27FC236}">
                    <a16:creationId xmlns:a16="http://schemas.microsoft.com/office/drawing/2014/main" id="{09AAA664-68F0-2C8F-EE11-0D8D5435C749}"/>
                  </a:ext>
                </a:extLst>
              </p:cNvPr>
              <p:cNvSpPr txBox="1"/>
              <p:nvPr/>
            </p:nvSpPr>
            <p:spPr>
              <a:xfrm>
                <a:off x="2461698" y="4750263"/>
                <a:ext cx="404389" cy="356234"/>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2</a:t>
                </a:r>
              </a:p>
            </p:txBody>
          </p:sp>
          <p:cxnSp>
            <p:nvCxnSpPr>
              <p:cNvPr id="751" name="直接连接符 610">
                <a:extLst>
                  <a:ext uri="{FF2B5EF4-FFF2-40B4-BE49-F238E27FC236}">
                    <a16:creationId xmlns:a16="http://schemas.microsoft.com/office/drawing/2014/main" id="{66B30220-C012-2AD0-EAF8-94F19A45B26D}"/>
                  </a:ext>
                </a:extLst>
              </p:cNvPr>
              <p:cNvCxnSpPr>
                <a:cxnSpLocks/>
              </p:cNvCxnSpPr>
              <p:nvPr/>
            </p:nvCxnSpPr>
            <p:spPr>
              <a:xfrm>
                <a:off x="2528609" y="4978142"/>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452" name="组合 181">
              <a:extLst>
                <a:ext uri="{FF2B5EF4-FFF2-40B4-BE49-F238E27FC236}">
                  <a16:creationId xmlns:a16="http://schemas.microsoft.com/office/drawing/2014/main" id="{41B24234-F4C4-28D5-884C-70D054A27F80}"/>
                </a:ext>
              </a:extLst>
            </p:cNvPr>
            <p:cNvGrpSpPr/>
            <p:nvPr/>
          </p:nvGrpSpPr>
          <p:grpSpPr>
            <a:xfrm>
              <a:off x="65751" y="2369621"/>
              <a:ext cx="1445439" cy="337446"/>
              <a:chOff x="782716" y="3988442"/>
              <a:chExt cx="2102616" cy="637604"/>
            </a:xfrm>
          </p:grpSpPr>
          <p:grpSp>
            <p:nvGrpSpPr>
              <p:cNvPr id="742" name="组合 180">
                <a:extLst>
                  <a:ext uri="{FF2B5EF4-FFF2-40B4-BE49-F238E27FC236}">
                    <a16:creationId xmlns:a16="http://schemas.microsoft.com/office/drawing/2014/main" id="{2DC050F2-4E40-CE07-A2AA-3071C80D360F}"/>
                  </a:ext>
                </a:extLst>
              </p:cNvPr>
              <p:cNvGrpSpPr/>
              <p:nvPr/>
            </p:nvGrpSpPr>
            <p:grpSpPr>
              <a:xfrm>
                <a:off x="782716" y="3988442"/>
                <a:ext cx="2083371" cy="511851"/>
                <a:chOff x="782716" y="3988442"/>
                <a:chExt cx="2083371" cy="511851"/>
              </a:xfrm>
            </p:grpSpPr>
            <p:sp>
              <p:nvSpPr>
                <p:cNvPr id="744" name="Google Shape;379;p22">
                  <a:extLst>
                    <a:ext uri="{FF2B5EF4-FFF2-40B4-BE49-F238E27FC236}">
                      <a16:creationId xmlns:a16="http://schemas.microsoft.com/office/drawing/2014/main" id="{5A023E84-765A-69DD-63E2-E3C361B35A32}"/>
                    </a:ext>
                  </a:extLst>
                </p:cNvPr>
                <p:cNvSpPr/>
                <p:nvPr/>
              </p:nvSpPr>
              <p:spPr>
                <a:xfrm>
                  <a:off x="782716" y="3988443"/>
                  <a:ext cx="2014251"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745" name="直接连接符 604">
                  <a:extLst>
                    <a:ext uri="{FF2B5EF4-FFF2-40B4-BE49-F238E27FC236}">
                      <a16:creationId xmlns:a16="http://schemas.microsoft.com/office/drawing/2014/main" id="{5844B179-D749-716B-1EBC-94202DEA51DE}"/>
                    </a:ext>
                  </a:extLst>
                </p:cNvPr>
                <p:cNvCxnSpPr>
                  <a:cxnSpLocks/>
                </p:cNvCxnSpPr>
                <p:nvPr/>
              </p:nvCxnSpPr>
              <p:spPr>
                <a:xfrm>
                  <a:off x="2526463" y="3988442"/>
                  <a:ext cx="0" cy="50836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46" name="文本框 606">
                  <a:extLst>
                    <a:ext uri="{FF2B5EF4-FFF2-40B4-BE49-F238E27FC236}">
                      <a16:creationId xmlns:a16="http://schemas.microsoft.com/office/drawing/2014/main" id="{BB699220-485E-54D6-E38C-9912A74724CA}"/>
                    </a:ext>
                  </a:extLst>
                </p:cNvPr>
                <p:cNvSpPr txBox="1"/>
                <p:nvPr/>
              </p:nvSpPr>
              <p:spPr>
                <a:xfrm>
                  <a:off x="2461700" y="4010654"/>
                  <a:ext cx="404387" cy="356235"/>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a:t>
                  </a:r>
                </a:p>
              </p:txBody>
            </p:sp>
            <p:cxnSp>
              <p:nvCxnSpPr>
                <p:cNvPr id="747" name="直接连接符 607">
                  <a:extLst>
                    <a:ext uri="{FF2B5EF4-FFF2-40B4-BE49-F238E27FC236}">
                      <a16:creationId xmlns:a16="http://schemas.microsoft.com/office/drawing/2014/main" id="{8566F23B-8EF2-9F9F-0F92-3CBE33EE9BBA}"/>
                    </a:ext>
                  </a:extLst>
                </p:cNvPr>
                <p:cNvCxnSpPr>
                  <a:cxnSpLocks/>
                </p:cNvCxnSpPr>
                <p:nvPr/>
              </p:nvCxnSpPr>
              <p:spPr>
                <a:xfrm>
                  <a:off x="2528609" y="4248060"/>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743" name="矩形 616">
                <a:extLst>
                  <a:ext uri="{FF2B5EF4-FFF2-40B4-BE49-F238E27FC236}">
                    <a16:creationId xmlns:a16="http://schemas.microsoft.com/office/drawing/2014/main" id="{FCC1B123-E7CF-D416-F752-3E7C483355AC}"/>
                  </a:ext>
                </a:extLst>
              </p:cNvPr>
              <p:cNvSpPr/>
              <p:nvPr/>
            </p:nvSpPr>
            <p:spPr>
              <a:xfrm>
                <a:off x="2446266" y="4269811"/>
                <a:ext cx="439066" cy="356235"/>
              </a:xfrm>
              <a:prstGeom prst="rect">
                <a:avLst/>
              </a:prstGeom>
            </p:spPr>
            <p:txBody>
              <a:bodyPr wrap="none">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P2</a:t>
                </a:r>
                <a:endParaRPr lang="zh-CN" altLang="en-US" sz="500" dirty="0">
                  <a:solidFill>
                    <a:srgbClr val="404040"/>
                  </a:solidFill>
                  <a:latin typeface="微软雅黑" panose="020B0503020204020204" pitchFamily="34" charset="-122"/>
                  <a:ea typeface="微软雅黑" panose="020B0503020204020204" pitchFamily="34" charset="-122"/>
                </a:endParaRPr>
              </a:p>
            </p:txBody>
          </p:sp>
        </p:grpSp>
        <p:grpSp>
          <p:nvGrpSpPr>
            <p:cNvPr id="453" name="组合 617">
              <a:extLst>
                <a:ext uri="{FF2B5EF4-FFF2-40B4-BE49-F238E27FC236}">
                  <a16:creationId xmlns:a16="http://schemas.microsoft.com/office/drawing/2014/main" id="{78A980EF-C798-BA64-8635-20D7FEE4D89B}"/>
                </a:ext>
              </a:extLst>
            </p:cNvPr>
            <p:cNvGrpSpPr/>
            <p:nvPr/>
          </p:nvGrpSpPr>
          <p:grpSpPr>
            <a:xfrm>
              <a:off x="65751" y="3444896"/>
              <a:ext cx="1445439" cy="332404"/>
              <a:chOff x="782716" y="3988443"/>
              <a:chExt cx="2102616" cy="628077"/>
            </a:xfrm>
          </p:grpSpPr>
          <p:grpSp>
            <p:nvGrpSpPr>
              <p:cNvPr id="736" name="组合 618">
                <a:extLst>
                  <a:ext uri="{FF2B5EF4-FFF2-40B4-BE49-F238E27FC236}">
                    <a16:creationId xmlns:a16="http://schemas.microsoft.com/office/drawing/2014/main" id="{14CFA083-3009-4185-3CB2-78750DE88856}"/>
                  </a:ext>
                </a:extLst>
              </p:cNvPr>
              <p:cNvGrpSpPr/>
              <p:nvPr/>
            </p:nvGrpSpPr>
            <p:grpSpPr>
              <a:xfrm>
                <a:off x="782716" y="3988443"/>
                <a:ext cx="2083371" cy="511850"/>
                <a:chOff x="782716" y="3988443"/>
                <a:chExt cx="2083371" cy="511850"/>
              </a:xfrm>
            </p:grpSpPr>
            <p:sp>
              <p:nvSpPr>
                <p:cNvPr id="738" name="Google Shape;379;p22">
                  <a:extLst>
                    <a:ext uri="{FF2B5EF4-FFF2-40B4-BE49-F238E27FC236}">
                      <a16:creationId xmlns:a16="http://schemas.microsoft.com/office/drawing/2014/main" id="{30A7D9AC-6A7A-B160-2D19-722C65BB6CC6}"/>
                    </a:ext>
                  </a:extLst>
                </p:cNvPr>
                <p:cNvSpPr/>
                <p:nvPr/>
              </p:nvSpPr>
              <p:spPr>
                <a:xfrm>
                  <a:off x="782716" y="3988443"/>
                  <a:ext cx="2014251"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739" name="直接连接符 621">
                  <a:extLst>
                    <a:ext uri="{FF2B5EF4-FFF2-40B4-BE49-F238E27FC236}">
                      <a16:creationId xmlns:a16="http://schemas.microsoft.com/office/drawing/2014/main" id="{0A67A0B1-C515-851F-6236-0B3E96CC5DD1}"/>
                    </a:ext>
                  </a:extLst>
                </p:cNvPr>
                <p:cNvCxnSpPr>
                  <a:cxnSpLocks/>
                </p:cNvCxnSpPr>
                <p:nvPr/>
              </p:nvCxnSpPr>
              <p:spPr>
                <a:xfrm flipH="1">
                  <a:off x="2526463" y="3988443"/>
                  <a:ext cx="2146" cy="508358"/>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40" name="文本框 622">
                  <a:extLst>
                    <a:ext uri="{FF2B5EF4-FFF2-40B4-BE49-F238E27FC236}">
                      <a16:creationId xmlns:a16="http://schemas.microsoft.com/office/drawing/2014/main" id="{2B4A00E6-C9FA-94D7-8D17-D46B38F8AC92}"/>
                    </a:ext>
                  </a:extLst>
                </p:cNvPr>
                <p:cNvSpPr txBox="1"/>
                <p:nvPr/>
              </p:nvSpPr>
              <p:spPr>
                <a:xfrm>
                  <a:off x="2461700" y="4006118"/>
                  <a:ext cx="404387" cy="356235"/>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3</a:t>
                  </a:r>
                </a:p>
              </p:txBody>
            </p:sp>
            <p:cxnSp>
              <p:nvCxnSpPr>
                <p:cNvPr id="741" name="直接连接符 623">
                  <a:extLst>
                    <a:ext uri="{FF2B5EF4-FFF2-40B4-BE49-F238E27FC236}">
                      <a16:creationId xmlns:a16="http://schemas.microsoft.com/office/drawing/2014/main" id="{0B815E66-F0A0-65DD-3155-834F8A74462B}"/>
                    </a:ext>
                  </a:extLst>
                </p:cNvPr>
                <p:cNvCxnSpPr>
                  <a:cxnSpLocks/>
                </p:cNvCxnSpPr>
                <p:nvPr/>
              </p:nvCxnSpPr>
              <p:spPr>
                <a:xfrm>
                  <a:off x="2528609" y="4248060"/>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737" name="矩形 619">
                <a:extLst>
                  <a:ext uri="{FF2B5EF4-FFF2-40B4-BE49-F238E27FC236}">
                    <a16:creationId xmlns:a16="http://schemas.microsoft.com/office/drawing/2014/main" id="{59EEADD5-C51E-1A0F-3E94-0CDCAF6C65D6}"/>
                  </a:ext>
                </a:extLst>
              </p:cNvPr>
              <p:cNvSpPr/>
              <p:nvPr/>
            </p:nvSpPr>
            <p:spPr>
              <a:xfrm>
                <a:off x="2446266" y="4260285"/>
                <a:ext cx="439066" cy="356235"/>
              </a:xfrm>
              <a:prstGeom prst="rect">
                <a:avLst/>
              </a:prstGeom>
            </p:spPr>
            <p:txBody>
              <a:bodyPr wrap="none">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P3</a:t>
                </a:r>
                <a:endParaRPr lang="zh-CN" altLang="en-US" sz="500" dirty="0">
                  <a:solidFill>
                    <a:srgbClr val="404040"/>
                  </a:solidFill>
                  <a:latin typeface="微软雅黑" panose="020B0503020204020204" pitchFamily="34" charset="-122"/>
                  <a:ea typeface="微软雅黑" panose="020B0503020204020204" pitchFamily="34" charset="-122"/>
                </a:endParaRPr>
              </a:p>
            </p:txBody>
          </p:sp>
        </p:grpSp>
        <p:sp>
          <p:nvSpPr>
            <p:cNvPr id="732" name="Google Shape;385;p22">
              <a:extLst>
                <a:ext uri="{FF2B5EF4-FFF2-40B4-BE49-F238E27FC236}">
                  <a16:creationId xmlns:a16="http://schemas.microsoft.com/office/drawing/2014/main" id="{0C9D3EB1-849B-ECEA-3D74-0137597D1A82}"/>
                </a:ext>
              </a:extLst>
            </p:cNvPr>
            <p:cNvSpPr/>
            <p:nvPr/>
          </p:nvSpPr>
          <p:spPr>
            <a:xfrm>
              <a:off x="68110" y="3997137"/>
              <a:ext cx="1384692" cy="270892"/>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shortcut=True, </a:t>
              </a:r>
              <a:r>
                <a:rPr lang="en-US" altLang="zh-CN" sz="500" dirty="0">
                  <a:solidFill>
                    <a:srgbClr val="0070C0"/>
                  </a:solidFill>
                  <a:latin typeface="微软雅黑" panose="020B0503020204020204" pitchFamily="34" charset="-122"/>
                  <a:ea typeface="微软雅黑" panose="020B0503020204020204" pitchFamily="34" charset="-122"/>
                </a:rPr>
                <a:t>n=6×d</a:t>
              </a:r>
            </a:p>
          </p:txBody>
        </p:sp>
        <p:grpSp>
          <p:nvGrpSpPr>
            <p:cNvPr id="455" name="组合 635">
              <a:extLst>
                <a:ext uri="{FF2B5EF4-FFF2-40B4-BE49-F238E27FC236}">
                  <a16:creationId xmlns:a16="http://schemas.microsoft.com/office/drawing/2014/main" id="{487D01D0-392D-31B8-4432-964695959793}"/>
                </a:ext>
              </a:extLst>
            </p:cNvPr>
            <p:cNvGrpSpPr/>
            <p:nvPr/>
          </p:nvGrpSpPr>
          <p:grpSpPr>
            <a:xfrm>
              <a:off x="74581" y="5002928"/>
              <a:ext cx="1424219" cy="1051668"/>
              <a:chOff x="794338" y="3119371"/>
              <a:chExt cx="2071749" cy="1987124"/>
            </a:xfrm>
          </p:grpSpPr>
          <p:sp>
            <p:nvSpPr>
              <p:cNvPr id="728" name="Google Shape;385;p22">
                <a:extLst>
                  <a:ext uri="{FF2B5EF4-FFF2-40B4-BE49-F238E27FC236}">
                    <a16:creationId xmlns:a16="http://schemas.microsoft.com/office/drawing/2014/main" id="{FDE053AF-78F2-7ED2-232F-5F188AE14DCC}"/>
                  </a:ext>
                </a:extLst>
              </p:cNvPr>
              <p:cNvSpPr/>
              <p:nvPr/>
            </p:nvSpPr>
            <p:spPr>
              <a:xfrm>
                <a:off x="794338" y="3119371"/>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shortcut=True, </a:t>
                </a:r>
                <a:r>
                  <a:rPr lang="en-US" altLang="zh-CN" sz="500" dirty="0">
                    <a:solidFill>
                      <a:srgbClr val="0070C0"/>
                    </a:solidFill>
                    <a:latin typeface="微软雅黑" panose="020B0503020204020204" pitchFamily="34" charset="-122"/>
                    <a:ea typeface="微软雅黑" panose="020B0503020204020204" pitchFamily="34" charset="-122"/>
                  </a:rPr>
                  <a:t>n=6×d</a:t>
                </a:r>
              </a:p>
            </p:txBody>
          </p:sp>
          <p:sp>
            <p:nvSpPr>
              <p:cNvPr id="730" name="文本框 638">
                <a:extLst>
                  <a:ext uri="{FF2B5EF4-FFF2-40B4-BE49-F238E27FC236}">
                    <a16:creationId xmlns:a16="http://schemas.microsoft.com/office/drawing/2014/main" id="{CE514A58-63A0-BD2E-F0EC-DBB1FB1CF26F}"/>
                  </a:ext>
                </a:extLst>
              </p:cNvPr>
              <p:cNvSpPr txBox="1"/>
              <p:nvPr/>
            </p:nvSpPr>
            <p:spPr>
              <a:xfrm>
                <a:off x="2461698" y="4750261"/>
                <a:ext cx="404389" cy="356234"/>
              </a:xfrm>
              <a:prstGeom prst="rect">
                <a:avLst/>
              </a:prstGeom>
              <a:noFill/>
            </p:spPr>
            <p:txBody>
              <a:bodyPr wrap="square" rtlCol="0">
                <a:spAutoFit/>
              </a:bodyPr>
              <a:lstStyle/>
              <a:p>
                <a:pPr algn="ctr"/>
                <a:endParaRPr lang="en-US" altLang="zh-CN" sz="500" dirty="0">
                  <a:solidFill>
                    <a:srgbClr val="404040"/>
                  </a:solidFill>
                  <a:latin typeface="微软雅黑" panose="020B0503020204020204" pitchFamily="34" charset="-122"/>
                  <a:ea typeface="微软雅黑" panose="020B0503020204020204" pitchFamily="34" charset="-122"/>
                </a:endParaRPr>
              </a:p>
            </p:txBody>
          </p:sp>
        </p:grpSp>
        <p:grpSp>
          <p:nvGrpSpPr>
            <p:cNvPr id="456" name="组合 640">
              <a:extLst>
                <a:ext uri="{FF2B5EF4-FFF2-40B4-BE49-F238E27FC236}">
                  <a16:creationId xmlns:a16="http://schemas.microsoft.com/office/drawing/2014/main" id="{CC495509-DBFC-30D5-F9D1-78E64C53A036}"/>
                </a:ext>
              </a:extLst>
            </p:cNvPr>
            <p:cNvGrpSpPr/>
            <p:nvPr/>
          </p:nvGrpSpPr>
          <p:grpSpPr>
            <a:xfrm>
              <a:off x="74581" y="4522718"/>
              <a:ext cx="1432208" cy="337444"/>
              <a:chOff x="782716" y="3988443"/>
              <a:chExt cx="2083371" cy="637600"/>
            </a:xfrm>
          </p:grpSpPr>
          <p:grpSp>
            <p:nvGrpSpPr>
              <p:cNvPr id="722" name="组合 641">
                <a:extLst>
                  <a:ext uri="{FF2B5EF4-FFF2-40B4-BE49-F238E27FC236}">
                    <a16:creationId xmlns:a16="http://schemas.microsoft.com/office/drawing/2014/main" id="{D944AF1D-9D18-FA78-9FFC-5BB1530CFD99}"/>
                  </a:ext>
                </a:extLst>
              </p:cNvPr>
              <p:cNvGrpSpPr/>
              <p:nvPr/>
            </p:nvGrpSpPr>
            <p:grpSpPr>
              <a:xfrm>
                <a:off x="782716" y="3988443"/>
                <a:ext cx="2083371" cy="511850"/>
                <a:chOff x="782716" y="3988443"/>
                <a:chExt cx="2083371" cy="511850"/>
              </a:xfrm>
            </p:grpSpPr>
            <p:sp>
              <p:nvSpPr>
                <p:cNvPr id="724" name="Google Shape;379;p22">
                  <a:extLst>
                    <a:ext uri="{FF2B5EF4-FFF2-40B4-BE49-F238E27FC236}">
                      <a16:creationId xmlns:a16="http://schemas.microsoft.com/office/drawing/2014/main" id="{9FF0852E-9A0B-0531-9365-6C002341AF31}"/>
                    </a:ext>
                  </a:extLst>
                </p:cNvPr>
                <p:cNvSpPr/>
                <p:nvPr/>
              </p:nvSpPr>
              <p:spPr>
                <a:xfrm>
                  <a:off x="782716" y="3988443"/>
                  <a:ext cx="2014251"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sp>
              <p:nvSpPr>
                <p:cNvPr id="726" name="文本框 645">
                  <a:extLst>
                    <a:ext uri="{FF2B5EF4-FFF2-40B4-BE49-F238E27FC236}">
                      <a16:creationId xmlns:a16="http://schemas.microsoft.com/office/drawing/2014/main" id="{219E7914-9271-201A-4A44-77FAB3C9328A}"/>
                    </a:ext>
                  </a:extLst>
                </p:cNvPr>
                <p:cNvSpPr txBox="1"/>
                <p:nvPr/>
              </p:nvSpPr>
              <p:spPr>
                <a:xfrm>
                  <a:off x="2461700" y="4010653"/>
                  <a:ext cx="404387" cy="356233"/>
                </a:xfrm>
                <a:prstGeom prst="rect">
                  <a:avLst/>
                </a:prstGeom>
                <a:noFill/>
              </p:spPr>
              <p:txBody>
                <a:bodyPr wrap="square" rtlCol="0">
                  <a:spAutoFit/>
                </a:bodyPr>
                <a:lstStyle/>
                <a:p>
                  <a:pPr algn="ctr"/>
                  <a:endParaRPr lang="en-US" altLang="zh-CN" sz="500" dirty="0">
                    <a:solidFill>
                      <a:srgbClr val="404040"/>
                    </a:solidFill>
                    <a:latin typeface="微软雅黑" panose="020B0503020204020204" pitchFamily="34" charset="-122"/>
                    <a:ea typeface="微软雅黑" panose="020B0503020204020204" pitchFamily="34" charset="-122"/>
                  </a:endParaRPr>
                </a:p>
              </p:txBody>
            </p:sp>
          </p:grpSp>
          <p:sp>
            <p:nvSpPr>
              <p:cNvPr id="723" name="矩形 642">
                <a:extLst>
                  <a:ext uri="{FF2B5EF4-FFF2-40B4-BE49-F238E27FC236}">
                    <a16:creationId xmlns:a16="http://schemas.microsoft.com/office/drawing/2014/main" id="{0F0AB225-38E1-69C9-67DE-10A743222A0B}"/>
                  </a:ext>
                </a:extLst>
              </p:cNvPr>
              <p:cNvSpPr/>
              <p:nvPr/>
            </p:nvSpPr>
            <p:spPr>
              <a:xfrm>
                <a:off x="2509823" y="4269809"/>
                <a:ext cx="311950" cy="356234"/>
              </a:xfrm>
              <a:prstGeom prst="rect">
                <a:avLst/>
              </a:prstGeom>
            </p:spPr>
            <p:txBody>
              <a:bodyPr wrap="none">
                <a:spAutoFit/>
              </a:bodyPr>
              <a:lstStyle/>
              <a:p>
                <a:pPr algn="ctr"/>
                <a:endParaRPr lang="zh-CN" altLang="en-US" sz="500" dirty="0">
                  <a:solidFill>
                    <a:srgbClr val="404040"/>
                  </a:solidFill>
                  <a:latin typeface="微软雅黑" panose="020B0503020204020204" pitchFamily="34" charset="-122"/>
                  <a:ea typeface="微软雅黑" panose="020B0503020204020204" pitchFamily="34" charset="-122"/>
                </a:endParaRPr>
              </a:p>
            </p:txBody>
          </p:sp>
        </p:grpSp>
        <p:grpSp>
          <p:nvGrpSpPr>
            <p:cNvPr id="457" name="组合 647">
              <a:extLst>
                <a:ext uri="{FF2B5EF4-FFF2-40B4-BE49-F238E27FC236}">
                  <a16:creationId xmlns:a16="http://schemas.microsoft.com/office/drawing/2014/main" id="{6F4AEB17-D759-0910-7503-81408E2DB16F}"/>
                </a:ext>
              </a:extLst>
            </p:cNvPr>
            <p:cNvGrpSpPr/>
            <p:nvPr/>
          </p:nvGrpSpPr>
          <p:grpSpPr>
            <a:xfrm>
              <a:off x="58245" y="5522539"/>
              <a:ext cx="1445439" cy="338644"/>
              <a:chOff x="782716" y="4001143"/>
              <a:chExt cx="2102616" cy="639867"/>
            </a:xfrm>
          </p:grpSpPr>
          <p:grpSp>
            <p:nvGrpSpPr>
              <p:cNvPr id="716" name="组合 648">
                <a:extLst>
                  <a:ext uri="{FF2B5EF4-FFF2-40B4-BE49-F238E27FC236}">
                    <a16:creationId xmlns:a16="http://schemas.microsoft.com/office/drawing/2014/main" id="{5A3BA00E-504F-E631-C14A-1B3BD20BB7F8}"/>
                  </a:ext>
                </a:extLst>
              </p:cNvPr>
              <p:cNvGrpSpPr/>
              <p:nvPr/>
            </p:nvGrpSpPr>
            <p:grpSpPr>
              <a:xfrm>
                <a:off x="782716" y="4001143"/>
                <a:ext cx="2083371" cy="511850"/>
                <a:chOff x="782716" y="4001143"/>
                <a:chExt cx="2083371" cy="511850"/>
              </a:xfrm>
            </p:grpSpPr>
            <p:sp>
              <p:nvSpPr>
                <p:cNvPr id="718" name="Google Shape;379;p22">
                  <a:extLst>
                    <a:ext uri="{FF2B5EF4-FFF2-40B4-BE49-F238E27FC236}">
                      <a16:creationId xmlns:a16="http://schemas.microsoft.com/office/drawing/2014/main" id="{D274BD37-0932-5449-0873-806284C5D7DA}"/>
                    </a:ext>
                  </a:extLst>
                </p:cNvPr>
                <p:cNvSpPr/>
                <p:nvPr/>
              </p:nvSpPr>
              <p:spPr>
                <a:xfrm>
                  <a:off x="782716" y="4001143"/>
                  <a:ext cx="2014251"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719" name="直接连接符 651">
                  <a:extLst>
                    <a:ext uri="{FF2B5EF4-FFF2-40B4-BE49-F238E27FC236}">
                      <a16:creationId xmlns:a16="http://schemas.microsoft.com/office/drawing/2014/main" id="{695164A2-56FA-45F5-F12A-0A28C3FEC619}"/>
                    </a:ext>
                  </a:extLst>
                </p:cNvPr>
                <p:cNvCxnSpPr>
                  <a:cxnSpLocks/>
                </p:cNvCxnSpPr>
                <p:nvPr/>
              </p:nvCxnSpPr>
              <p:spPr>
                <a:xfrm>
                  <a:off x="2525097" y="4001143"/>
                  <a:ext cx="1367" cy="509947"/>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20" name="文本框 652">
                  <a:extLst>
                    <a:ext uri="{FF2B5EF4-FFF2-40B4-BE49-F238E27FC236}">
                      <a16:creationId xmlns:a16="http://schemas.microsoft.com/office/drawing/2014/main" id="{8E9713CA-0E4E-223F-A201-533F86AE369B}"/>
                    </a:ext>
                  </a:extLst>
                </p:cNvPr>
                <p:cNvSpPr txBox="1"/>
                <p:nvPr/>
              </p:nvSpPr>
              <p:spPr>
                <a:xfrm>
                  <a:off x="2461700" y="4013376"/>
                  <a:ext cx="404387" cy="356235"/>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7</a:t>
                  </a:r>
                </a:p>
              </p:txBody>
            </p:sp>
            <p:cxnSp>
              <p:nvCxnSpPr>
                <p:cNvPr id="721" name="直接连接符 653">
                  <a:extLst>
                    <a:ext uri="{FF2B5EF4-FFF2-40B4-BE49-F238E27FC236}">
                      <a16:creationId xmlns:a16="http://schemas.microsoft.com/office/drawing/2014/main" id="{E5344CED-BF8F-0E38-9FB2-1BAA0412B6B4}"/>
                    </a:ext>
                  </a:extLst>
                </p:cNvPr>
                <p:cNvCxnSpPr>
                  <a:cxnSpLocks/>
                </p:cNvCxnSpPr>
                <p:nvPr/>
              </p:nvCxnSpPr>
              <p:spPr>
                <a:xfrm>
                  <a:off x="2528609" y="4248060"/>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717" name="矩形 649">
                <a:extLst>
                  <a:ext uri="{FF2B5EF4-FFF2-40B4-BE49-F238E27FC236}">
                    <a16:creationId xmlns:a16="http://schemas.microsoft.com/office/drawing/2014/main" id="{1B0EEA61-5043-892B-3F4B-7195AF1688E7}"/>
                  </a:ext>
                </a:extLst>
              </p:cNvPr>
              <p:cNvSpPr/>
              <p:nvPr/>
            </p:nvSpPr>
            <p:spPr>
              <a:xfrm>
                <a:off x="2446266" y="4284776"/>
                <a:ext cx="439066" cy="356234"/>
              </a:xfrm>
              <a:prstGeom prst="rect">
                <a:avLst/>
              </a:prstGeom>
            </p:spPr>
            <p:txBody>
              <a:bodyPr wrap="none">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P5</a:t>
                </a:r>
                <a:endParaRPr lang="zh-CN" altLang="en-US" sz="500" dirty="0">
                  <a:solidFill>
                    <a:srgbClr val="404040"/>
                  </a:solidFill>
                  <a:latin typeface="微软雅黑" panose="020B0503020204020204" pitchFamily="34" charset="-122"/>
                  <a:ea typeface="微软雅黑" panose="020B0503020204020204" pitchFamily="34" charset="-122"/>
                </a:endParaRPr>
              </a:p>
            </p:txBody>
          </p:sp>
        </p:grpSp>
        <p:cxnSp>
          <p:nvCxnSpPr>
            <p:cNvPr id="458" name="Google Shape;394;p22">
              <a:extLst>
                <a:ext uri="{FF2B5EF4-FFF2-40B4-BE49-F238E27FC236}">
                  <a16:creationId xmlns:a16="http://schemas.microsoft.com/office/drawing/2014/main" id="{3A02D158-550B-1729-E0E2-91C00AFFCB91}"/>
                </a:ext>
              </a:extLst>
            </p:cNvPr>
            <p:cNvCxnSpPr>
              <a:cxnSpLocks/>
              <a:stCxn id="752" idx="2"/>
              <a:endCxn id="744" idx="0"/>
            </p:cNvCxnSpPr>
            <p:nvPr/>
          </p:nvCxnSpPr>
          <p:spPr>
            <a:xfrm>
              <a:off x="757438" y="2069234"/>
              <a:ext cx="659" cy="300385"/>
            </a:xfrm>
            <a:prstGeom prst="straightConnector1">
              <a:avLst/>
            </a:prstGeom>
            <a:noFill/>
            <a:ln w="9525" cap="flat" cmpd="sng">
              <a:solidFill>
                <a:schemeClr val="dk2"/>
              </a:solidFill>
              <a:prstDash val="solid"/>
              <a:round/>
              <a:headEnd type="none" w="med" len="med"/>
              <a:tailEnd type="triangle" w="med" len="med"/>
            </a:ln>
          </p:spPr>
        </p:cxnSp>
        <p:cxnSp>
          <p:nvCxnSpPr>
            <p:cNvPr id="462" name="Google Shape;394;p22">
              <a:extLst>
                <a:ext uri="{FF2B5EF4-FFF2-40B4-BE49-F238E27FC236}">
                  <a16:creationId xmlns:a16="http://schemas.microsoft.com/office/drawing/2014/main" id="{A267681A-40B5-59ED-DF4E-2DFAED916B7B}"/>
                </a:ext>
              </a:extLst>
            </p:cNvPr>
            <p:cNvCxnSpPr>
              <a:cxnSpLocks/>
              <a:stCxn id="744" idx="2"/>
              <a:endCxn id="748" idx="0"/>
            </p:cNvCxnSpPr>
            <p:nvPr/>
          </p:nvCxnSpPr>
          <p:spPr>
            <a:xfrm flipH="1">
              <a:off x="752451" y="2640510"/>
              <a:ext cx="5646" cy="269034"/>
            </a:xfrm>
            <a:prstGeom prst="straightConnector1">
              <a:avLst/>
            </a:prstGeom>
            <a:noFill/>
            <a:ln w="9525" cap="flat" cmpd="sng">
              <a:solidFill>
                <a:schemeClr val="dk2"/>
              </a:solidFill>
              <a:prstDash val="solid"/>
              <a:round/>
              <a:headEnd type="none" w="med" len="med"/>
              <a:tailEnd type="triangle" w="med" len="med"/>
            </a:ln>
          </p:spPr>
        </p:cxnSp>
        <p:cxnSp>
          <p:nvCxnSpPr>
            <p:cNvPr id="463" name="Google Shape;394;p22">
              <a:extLst>
                <a:ext uri="{FF2B5EF4-FFF2-40B4-BE49-F238E27FC236}">
                  <a16:creationId xmlns:a16="http://schemas.microsoft.com/office/drawing/2014/main" id="{FF8B8698-FDDF-197A-04FF-9C6739EB77DF}"/>
                </a:ext>
              </a:extLst>
            </p:cNvPr>
            <p:cNvCxnSpPr>
              <a:cxnSpLocks/>
              <a:stCxn id="748" idx="2"/>
              <a:endCxn id="738" idx="0"/>
            </p:cNvCxnSpPr>
            <p:nvPr/>
          </p:nvCxnSpPr>
          <p:spPr>
            <a:xfrm>
              <a:off x="752451" y="3180436"/>
              <a:ext cx="5646" cy="264457"/>
            </a:xfrm>
            <a:prstGeom prst="straightConnector1">
              <a:avLst/>
            </a:prstGeom>
            <a:noFill/>
            <a:ln w="9525" cap="flat" cmpd="sng">
              <a:solidFill>
                <a:schemeClr val="dk2"/>
              </a:solidFill>
              <a:prstDash val="solid"/>
              <a:round/>
              <a:headEnd type="none" w="med" len="med"/>
              <a:tailEnd type="triangle" w="med" len="med"/>
            </a:ln>
          </p:spPr>
        </p:cxnSp>
        <p:cxnSp>
          <p:nvCxnSpPr>
            <p:cNvPr id="464" name="Google Shape;394;p22">
              <a:extLst>
                <a:ext uri="{FF2B5EF4-FFF2-40B4-BE49-F238E27FC236}">
                  <a16:creationId xmlns:a16="http://schemas.microsoft.com/office/drawing/2014/main" id="{EFEFD4BD-6ACA-F4E7-73B5-AB15E10B0FB9}"/>
                </a:ext>
              </a:extLst>
            </p:cNvPr>
            <p:cNvCxnSpPr>
              <a:cxnSpLocks/>
              <a:stCxn id="738" idx="2"/>
              <a:endCxn id="732" idx="0"/>
            </p:cNvCxnSpPr>
            <p:nvPr/>
          </p:nvCxnSpPr>
          <p:spPr>
            <a:xfrm>
              <a:off x="758097" y="3715785"/>
              <a:ext cx="2359" cy="281352"/>
            </a:xfrm>
            <a:prstGeom prst="straightConnector1">
              <a:avLst/>
            </a:prstGeom>
            <a:noFill/>
            <a:ln w="9525" cap="flat" cmpd="sng">
              <a:solidFill>
                <a:schemeClr val="dk2"/>
              </a:solidFill>
              <a:prstDash val="solid"/>
              <a:round/>
              <a:headEnd type="none" w="med" len="med"/>
              <a:tailEnd type="triangle" w="med" len="med"/>
            </a:ln>
          </p:spPr>
        </p:cxnSp>
        <p:cxnSp>
          <p:nvCxnSpPr>
            <p:cNvPr id="465" name="Google Shape;394;p22">
              <a:extLst>
                <a:ext uri="{FF2B5EF4-FFF2-40B4-BE49-F238E27FC236}">
                  <a16:creationId xmlns:a16="http://schemas.microsoft.com/office/drawing/2014/main" id="{D23C0631-71C5-B3EE-E824-2DF9764FF207}"/>
                </a:ext>
              </a:extLst>
            </p:cNvPr>
            <p:cNvCxnSpPr>
              <a:cxnSpLocks/>
              <a:stCxn id="724" idx="2"/>
              <a:endCxn id="728" idx="0"/>
            </p:cNvCxnSpPr>
            <p:nvPr/>
          </p:nvCxnSpPr>
          <p:spPr>
            <a:xfrm>
              <a:off x="766927" y="4793607"/>
              <a:ext cx="0" cy="209320"/>
            </a:xfrm>
            <a:prstGeom prst="straightConnector1">
              <a:avLst/>
            </a:prstGeom>
            <a:noFill/>
            <a:ln w="9525" cap="flat" cmpd="sng">
              <a:solidFill>
                <a:schemeClr val="dk2"/>
              </a:solidFill>
              <a:prstDash val="solid"/>
              <a:round/>
              <a:headEnd type="none" w="med" len="med"/>
              <a:tailEnd type="triangle" w="med" len="med"/>
            </a:ln>
          </p:spPr>
        </p:cxnSp>
        <p:cxnSp>
          <p:nvCxnSpPr>
            <p:cNvPr id="466" name="Google Shape;394;p22">
              <a:extLst>
                <a:ext uri="{FF2B5EF4-FFF2-40B4-BE49-F238E27FC236}">
                  <a16:creationId xmlns:a16="http://schemas.microsoft.com/office/drawing/2014/main" id="{80EEA388-5804-7091-77E2-008F5DBBA67A}"/>
                </a:ext>
              </a:extLst>
            </p:cNvPr>
            <p:cNvCxnSpPr>
              <a:cxnSpLocks/>
              <a:stCxn id="718" idx="2"/>
              <a:endCxn id="653" idx="0"/>
            </p:cNvCxnSpPr>
            <p:nvPr/>
          </p:nvCxnSpPr>
          <p:spPr>
            <a:xfrm flipH="1">
              <a:off x="740063" y="5793427"/>
              <a:ext cx="10528" cy="268755"/>
            </a:xfrm>
            <a:prstGeom prst="straightConnector1">
              <a:avLst/>
            </a:prstGeom>
            <a:noFill/>
            <a:ln w="9525" cap="flat" cmpd="sng">
              <a:solidFill>
                <a:schemeClr val="dk2"/>
              </a:solidFill>
              <a:prstDash val="solid"/>
              <a:round/>
              <a:headEnd type="none" w="med" len="med"/>
              <a:tailEnd type="triangle" w="med" len="med"/>
            </a:ln>
          </p:spPr>
        </p:cxnSp>
        <p:sp>
          <p:nvSpPr>
            <p:cNvPr id="482" name="Google Shape;953;p28">
              <a:extLst>
                <a:ext uri="{FF2B5EF4-FFF2-40B4-BE49-F238E27FC236}">
                  <a16:creationId xmlns:a16="http://schemas.microsoft.com/office/drawing/2014/main" id="{BA297412-701A-A8DC-A4E9-FEA231DF8213}"/>
                </a:ext>
              </a:extLst>
            </p:cNvPr>
            <p:cNvSpPr txBox="1"/>
            <p:nvPr/>
          </p:nvSpPr>
          <p:spPr>
            <a:xfrm>
              <a:off x="830749" y="2225421"/>
              <a:ext cx="728520" cy="13197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320</a:t>
              </a:r>
              <a:r>
                <a:rPr lang="en-US" altLang="zh-CN" sz="400" dirty="0">
                  <a:latin typeface="微软雅黑" panose="020B0503020204020204" pitchFamily="34" charset="-122"/>
                  <a:ea typeface="微软雅黑" panose="020B0503020204020204" pitchFamily="34" charset="-122"/>
                  <a:cs typeface="Consolas"/>
                  <a:sym typeface="Consolas"/>
                </a:rPr>
                <a:t>×3</a:t>
              </a:r>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64</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83" name="Google Shape;953;p28">
              <a:extLst>
                <a:ext uri="{FF2B5EF4-FFF2-40B4-BE49-F238E27FC236}">
                  <a16:creationId xmlns:a16="http://schemas.microsoft.com/office/drawing/2014/main" id="{1A58D2E7-DA8F-C273-887F-DF0BA71A6608}"/>
                </a:ext>
              </a:extLst>
            </p:cNvPr>
            <p:cNvSpPr txBox="1"/>
            <p:nvPr/>
          </p:nvSpPr>
          <p:spPr>
            <a:xfrm>
              <a:off x="830749" y="1593444"/>
              <a:ext cx="728520" cy="90361"/>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640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640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3</a:t>
              </a:r>
              <a:endParaRPr sz="400" dirty="0">
                <a:latin typeface="微软雅黑" panose="020B0503020204020204" pitchFamily="34" charset="-122"/>
                <a:ea typeface="微软雅黑" panose="020B0503020204020204" pitchFamily="34" charset="-122"/>
                <a:cs typeface="Consolas"/>
                <a:sym typeface="Consolas"/>
              </a:endParaRPr>
            </a:p>
          </p:txBody>
        </p:sp>
        <p:sp>
          <p:nvSpPr>
            <p:cNvPr id="484" name="Google Shape;953;p28">
              <a:extLst>
                <a:ext uri="{FF2B5EF4-FFF2-40B4-BE49-F238E27FC236}">
                  <a16:creationId xmlns:a16="http://schemas.microsoft.com/office/drawing/2014/main" id="{887EE6AA-F694-2DEF-6E9C-357144414BB0}"/>
                </a:ext>
              </a:extLst>
            </p:cNvPr>
            <p:cNvSpPr txBox="1"/>
            <p:nvPr/>
          </p:nvSpPr>
          <p:spPr>
            <a:xfrm>
              <a:off x="794858" y="2802575"/>
              <a:ext cx="728520" cy="13197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160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160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128</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85" name="Google Shape;953;p28">
              <a:extLst>
                <a:ext uri="{FF2B5EF4-FFF2-40B4-BE49-F238E27FC236}">
                  <a16:creationId xmlns:a16="http://schemas.microsoft.com/office/drawing/2014/main" id="{014A6F35-049D-8909-73BC-239F7B9DCF57}"/>
                </a:ext>
              </a:extLst>
            </p:cNvPr>
            <p:cNvSpPr txBox="1"/>
            <p:nvPr/>
          </p:nvSpPr>
          <p:spPr>
            <a:xfrm>
              <a:off x="794858" y="3322276"/>
              <a:ext cx="728520" cy="13197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160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160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128</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86" name="Google Shape;953;p28">
              <a:extLst>
                <a:ext uri="{FF2B5EF4-FFF2-40B4-BE49-F238E27FC236}">
                  <a16:creationId xmlns:a16="http://schemas.microsoft.com/office/drawing/2014/main" id="{60DC8419-5D9C-F1F7-AAA0-6ED125622222}"/>
                </a:ext>
              </a:extLst>
            </p:cNvPr>
            <p:cNvSpPr txBox="1"/>
            <p:nvPr/>
          </p:nvSpPr>
          <p:spPr>
            <a:xfrm>
              <a:off x="849978" y="3856471"/>
              <a:ext cx="728520" cy="131972"/>
            </a:xfrm>
            <a:prstGeom prst="rect">
              <a:avLst/>
            </a:prstGeom>
            <a:noFill/>
            <a:ln>
              <a:noFill/>
            </a:ln>
          </p:spPr>
          <p:txBody>
            <a:bodyPr spcFirstLastPara="1" wrap="square" lIns="0" tIns="0" rIns="0" bIns="0" anchor="ctr"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256</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87" name="Google Shape;953;p28">
              <a:extLst>
                <a:ext uri="{FF2B5EF4-FFF2-40B4-BE49-F238E27FC236}">
                  <a16:creationId xmlns:a16="http://schemas.microsoft.com/office/drawing/2014/main" id="{343BB091-D926-57E8-0E3D-5110A73501E3}"/>
                </a:ext>
              </a:extLst>
            </p:cNvPr>
            <p:cNvSpPr txBox="1"/>
            <p:nvPr/>
          </p:nvSpPr>
          <p:spPr>
            <a:xfrm>
              <a:off x="830749" y="4404295"/>
              <a:ext cx="728520" cy="13197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256</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88" name="Google Shape;953;p28">
              <a:extLst>
                <a:ext uri="{FF2B5EF4-FFF2-40B4-BE49-F238E27FC236}">
                  <a16:creationId xmlns:a16="http://schemas.microsoft.com/office/drawing/2014/main" id="{FA83D90C-3738-B60F-4A7B-4F171888FB7F}"/>
                </a:ext>
              </a:extLst>
            </p:cNvPr>
            <p:cNvSpPr txBox="1"/>
            <p:nvPr/>
          </p:nvSpPr>
          <p:spPr>
            <a:xfrm>
              <a:off x="813372" y="4907191"/>
              <a:ext cx="728520" cy="13197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89" name="Google Shape;953;p28">
              <a:extLst>
                <a:ext uri="{FF2B5EF4-FFF2-40B4-BE49-F238E27FC236}">
                  <a16:creationId xmlns:a16="http://schemas.microsoft.com/office/drawing/2014/main" id="{95657A00-3A00-B52C-44C7-73921705588C}"/>
                </a:ext>
              </a:extLst>
            </p:cNvPr>
            <p:cNvSpPr txBox="1"/>
            <p:nvPr/>
          </p:nvSpPr>
          <p:spPr>
            <a:xfrm>
              <a:off x="823243" y="5392429"/>
              <a:ext cx="728520" cy="8046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90" name="Google Shape;953;p28">
              <a:extLst>
                <a:ext uri="{FF2B5EF4-FFF2-40B4-BE49-F238E27FC236}">
                  <a16:creationId xmlns:a16="http://schemas.microsoft.com/office/drawing/2014/main" id="{1E83586C-3883-BA41-8ED9-5E9D2090C6E0}"/>
                </a:ext>
              </a:extLst>
            </p:cNvPr>
            <p:cNvSpPr txBox="1"/>
            <p:nvPr/>
          </p:nvSpPr>
          <p:spPr>
            <a:xfrm>
              <a:off x="813372" y="5944614"/>
              <a:ext cx="728520" cy="81575"/>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err="1">
                  <a:latin typeface="微软雅黑" panose="020B0503020204020204" pitchFamily="34" charset="-122"/>
                  <a:ea typeface="微软雅黑" panose="020B0503020204020204" pitchFamily="34" charset="-122"/>
                  <a:cs typeface="Consolas"/>
                  <a:sym typeface="Consolas"/>
                </a:rPr>
                <a:t>×</a:t>
              </a:r>
              <a:r>
                <a:rPr lang="en-US" altLang="zh-CN" sz="4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cxnSp>
          <p:nvCxnSpPr>
            <p:cNvPr id="505" name="Google Shape;394;p22">
              <a:extLst>
                <a:ext uri="{FF2B5EF4-FFF2-40B4-BE49-F238E27FC236}">
                  <a16:creationId xmlns:a16="http://schemas.microsoft.com/office/drawing/2014/main" id="{1BB429CA-4820-89D4-DC6E-C86DF8ED3223}"/>
                </a:ext>
              </a:extLst>
            </p:cNvPr>
            <p:cNvCxnSpPr>
              <a:cxnSpLocks/>
              <a:endCxn id="752" idx="0"/>
            </p:cNvCxnSpPr>
            <p:nvPr/>
          </p:nvCxnSpPr>
          <p:spPr>
            <a:xfrm>
              <a:off x="757282" y="1375133"/>
              <a:ext cx="156" cy="423208"/>
            </a:xfrm>
            <a:prstGeom prst="straightConnector1">
              <a:avLst/>
            </a:prstGeom>
            <a:noFill/>
            <a:ln w="9525" cap="flat" cmpd="sng">
              <a:solidFill>
                <a:schemeClr val="dk2"/>
              </a:solidFill>
              <a:prstDash val="solid"/>
              <a:round/>
              <a:headEnd type="none" w="med" len="med"/>
              <a:tailEnd type="triangle" w="med" len="med"/>
            </a:ln>
          </p:spPr>
        </p:cxnSp>
        <p:cxnSp>
          <p:nvCxnSpPr>
            <p:cNvPr id="506" name="Google Shape;394;p22">
              <a:extLst>
                <a:ext uri="{FF2B5EF4-FFF2-40B4-BE49-F238E27FC236}">
                  <a16:creationId xmlns:a16="http://schemas.microsoft.com/office/drawing/2014/main" id="{241FABE8-20F1-A552-54CE-2BF1DDC03EB4}"/>
                </a:ext>
              </a:extLst>
            </p:cNvPr>
            <p:cNvCxnSpPr>
              <a:cxnSpLocks/>
              <a:stCxn id="653" idx="2"/>
              <a:endCxn id="640" idx="0"/>
            </p:cNvCxnSpPr>
            <p:nvPr/>
          </p:nvCxnSpPr>
          <p:spPr>
            <a:xfrm>
              <a:off x="740063" y="6333074"/>
              <a:ext cx="12388" cy="222976"/>
            </a:xfrm>
            <a:prstGeom prst="straightConnector1">
              <a:avLst/>
            </a:prstGeom>
            <a:noFill/>
            <a:ln w="9525" cap="flat" cmpd="sng">
              <a:solidFill>
                <a:schemeClr val="dk2"/>
              </a:solidFill>
              <a:prstDash val="solid"/>
              <a:round/>
              <a:headEnd type="none" w="med" len="med"/>
              <a:tailEnd type="triangle" w="med" len="med"/>
            </a:ln>
          </p:spPr>
        </p:cxnSp>
        <p:sp>
          <p:nvSpPr>
            <p:cNvPr id="512" name="Google Shape;953;p28">
              <a:extLst>
                <a:ext uri="{FF2B5EF4-FFF2-40B4-BE49-F238E27FC236}">
                  <a16:creationId xmlns:a16="http://schemas.microsoft.com/office/drawing/2014/main" id="{7F4A9365-D03E-2DAA-2DA2-E471CDF35E6E}"/>
                </a:ext>
              </a:extLst>
            </p:cNvPr>
            <p:cNvSpPr txBox="1"/>
            <p:nvPr/>
          </p:nvSpPr>
          <p:spPr>
            <a:xfrm>
              <a:off x="825918" y="6449040"/>
              <a:ext cx="728520" cy="81575"/>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err="1">
                  <a:latin typeface="微软雅黑" panose="020B0503020204020204" pitchFamily="34" charset="-122"/>
                  <a:ea typeface="微软雅黑" panose="020B0503020204020204" pitchFamily="34" charset="-122"/>
                  <a:cs typeface="Consolas"/>
                  <a:sym typeface="Consolas"/>
                </a:rPr>
                <a:t>×</a:t>
              </a:r>
              <a:r>
                <a:rPr lang="en-US" altLang="zh-CN" sz="4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grpSp>
          <p:nvGrpSpPr>
            <p:cNvPr id="513" name="组合 698">
              <a:extLst>
                <a:ext uri="{FF2B5EF4-FFF2-40B4-BE49-F238E27FC236}">
                  <a16:creationId xmlns:a16="http://schemas.microsoft.com/office/drawing/2014/main" id="{8BE867B4-3332-7549-B262-95B96E4A2B47}"/>
                </a:ext>
              </a:extLst>
            </p:cNvPr>
            <p:cNvGrpSpPr/>
            <p:nvPr/>
          </p:nvGrpSpPr>
          <p:grpSpPr>
            <a:xfrm>
              <a:off x="47717" y="6062182"/>
              <a:ext cx="1428719" cy="270892"/>
              <a:chOff x="780535" y="4718306"/>
              <a:chExt cx="2078295" cy="511850"/>
            </a:xfrm>
          </p:grpSpPr>
          <p:sp>
            <p:nvSpPr>
              <p:cNvPr id="653" name="Google Shape;385;p22">
                <a:extLst>
                  <a:ext uri="{FF2B5EF4-FFF2-40B4-BE49-F238E27FC236}">
                    <a16:creationId xmlns:a16="http://schemas.microsoft.com/office/drawing/2014/main" id="{5AA9B03B-2FB2-E65D-26F4-4B22F1D7C3C1}"/>
                  </a:ext>
                </a:extLst>
              </p:cNvPr>
              <p:cNvSpPr/>
              <p:nvPr/>
            </p:nvSpPr>
            <p:spPr>
              <a:xfrm>
                <a:off x="780535" y="4718306"/>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shortcut=True, </a:t>
                </a:r>
                <a:r>
                  <a:rPr lang="en-US" altLang="zh-CN" sz="500" dirty="0">
                    <a:solidFill>
                      <a:srgbClr val="0070C0"/>
                    </a:solidFill>
                    <a:latin typeface="微软雅黑" panose="020B0503020204020204" pitchFamily="34" charset="-122"/>
                    <a:ea typeface="微软雅黑" panose="020B0503020204020204" pitchFamily="34" charset="-122"/>
                  </a:rPr>
                  <a:t>n=3×d</a:t>
                </a:r>
              </a:p>
            </p:txBody>
          </p:sp>
          <p:cxnSp>
            <p:nvCxnSpPr>
              <p:cNvPr id="654" name="直接连接符 700">
                <a:extLst>
                  <a:ext uri="{FF2B5EF4-FFF2-40B4-BE49-F238E27FC236}">
                    <a16:creationId xmlns:a16="http://schemas.microsoft.com/office/drawing/2014/main" id="{7ED1E315-FBCF-6E50-9AA1-24D92B645E68}"/>
                  </a:ext>
                </a:extLst>
              </p:cNvPr>
              <p:cNvCxnSpPr>
                <a:cxnSpLocks/>
              </p:cNvCxnSpPr>
              <p:nvPr/>
            </p:nvCxnSpPr>
            <p:spPr>
              <a:xfrm>
                <a:off x="2526463" y="4718306"/>
                <a:ext cx="0" cy="508577"/>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55" name="文本框 701">
                <a:extLst>
                  <a:ext uri="{FF2B5EF4-FFF2-40B4-BE49-F238E27FC236}">
                    <a16:creationId xmlns:a16="http://schemas.microsoft.com/office/drawing/2014/main" id="{F5235972-BC0B-2B3F-67B6-D76CBB83AC08}"/>
                  </a:ext>
                </a:extLst>
              </p:cNvPr>
              <p:cNvSpPr txBox="1"/>
              <p:nvPr/>
            </p:nvSpPr>
            <p:spPr>
              <a:xfrm>
                <a:off x="2454441" y="4743456"/>
                <a:ext cx="404389" cy="356233"/>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8</a:t>
                </a:r>
              </a:p>
            </p:txBody>
          </p:sp>
          <p:cxnSp>
            <p:nvCxnSpPr>
              <p:cNvPr id="656" name="直接连接符 702">
                <a:extLst>
                  <a:ext uri="{FF2B5EF4-FFF2-40B4-BE49-F238E27FC236}">
                    <a16:creationId xmlns:a16="http://schemas.microsoft.com/office/drawing/2014/main" id="{61D6CE1A-DCBE-0702-AA5E-70E0B6436FEC}"/>
                  </a:ext>
                </a:extLst>
              </p:cNvPr>
              <p:cNvCxnSpPr>
                <a:cxnSpLocks/>
              </p:cNvCxnSpPr>
              <p:nvPr/>
            </p:nvCxnSpPr>
            <p:spPr>
              <a:xfrm>
                <a:off x="2528609" y="4978142"/>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cxnSp>
          <p:nvCxnSpPr>
            <p:cNvPr id="532" name="Google Shape;394;p22">
              <a:extLst>
                <a:ext uri="{FF2B5EF4-FFF2-40B4-BE49-F238E27FC236}">
                  <a16:creationId xmlns:a16="http://schemas.microsoft.com/office/drawing/2014/main" id="{7097AB1B-89DE-0701-1878-19D33C629161}"/>
                </a:ext>
              </a:extLst>
            </p:cNvPr>
            <p:cNvCxnSpPr>
              <a:cxnSpLocks/>
              <a:stCxn id="732" idx="2"/>
              <a:endCxn id="724" idx="0"/>
            </p:cNvCxnSpPr>
            <p:nvPr/>
          </p:nvCxnSpPr>
          <p:spPr>
            <a:xfrm>
              <a:off x="760456" y="4268029"/>
              <a:ext cx="6471" cy="254686"/>
            </a:xfrm>
            <a:prstGeom prst="straightConnector1">
              <a:avLst/>
            </a:prstGeom>
            <a:noFill/>
            <a:ln w="9525" cap="flat" cmpd="sng">
              <a:solidFill>
                <a:schemeClr val="dk2"/>
              </a:solidFill>
              <a:prstDash val="solid"/>
              <a:round/>
              <a:headEnd type="none" w="med" len="med"/>
              <a:tailEnd type="triangle" w="med" len="med"/>
            </a:ln>
          </p:spPr>
        </p:cxnSp>
        <p:cxnSp>
          <p:nvCxnSpPr>
            <p:cNvPr id="533" name="Google Shape;394;p22">
              <a:extLst>
                <a:ext uri="{FF2B5EF4-FFF2-40B4-BE49-F238E27FC236}">
                  <a16:creationId xmlns:a16="http://schemas.microsoft.com/office/drawing/2014/main" id="{CD64F542-5D4E-5AAF-C102-EC037C2E0365}"/>
                </a:ext>
              </a:extLst>
            </p:cNvPr>
            <p:cNvCxnSpPr>
              <a:cxnSpLocks/>
              <a:stCxn id="728" idx="2"/>
              <a:endCxn id="718" idx="0"/>
            </p:cNvCxnSpPr>
            <p:nvPr/>
          </p:nvCxnSpPr>
          <p:spPr>
            <a:xfrm flipH="1">
              <a:off x="750591" y="5273819"/>
              <a:ext cx="16336" cy="248716"/>
            </a:xfrm>
            <a:prstGeom prst="straightConnector1">
              <a:avLst/>
            </a:prstGeom>
            <a:noFill/>
            <a:ln w="9525" cap="flat" cmpd="sng">
              <a:solidFill>
                <a:schemeClr val="dk2"/>
              </a:solidFill>
              <a:prstDash val="solid"/>
              <a:round/>
              <a:headEnd type="none" w="med" len="med"/>
              <a:tailEnd type="triangle" w="med" len="med"/>
            </a:ln>
          </p:spPr>
        </p:cxnSp>
        <p:grpSp>
          <p:nvGrpSpPr>
            <p:cNvPr id="537" name="组合 725">
              <a:extLst>
                <a:ext uri="{FF2B5EF4-FFF2-40B4-BE49-F238E27FC236}">
                  <a16:creationId xmlns:a16="http://schemas.microsoft.com/office/drawing/2014/main" id="{04935C53-7323-E84B-C2FA-1A5BE05286BC}"/>
                </a:ext>
              </a:extLst>
            </p:cNvPr>
            <p:cNvGrpSpPr/>
            <p:nvPr/>
          </p:nvGrpSpPr>
          <p:grpSpPr>
            <a:xfrm>
              <a:off x="60105" y="6556049"/>
              <a:ext cx="1432208" cy="192812"/>
              <a:chOff x="782716" y="4001143"/>
              <a:chExt cx="2083371" cy="240091"/>
            </a:xfrm>
            <a:solidFill>
              <a:srgbClr val="F38D9C"/>
            </a:solidFill>
          </p:grpSpPr>
          <p:sp>
            <p:nvSpPr>
              <p:cNvPr id="640" name="Google Shape;379;p22">
                <a:extLst>
                  <a:ext uri="{FF2B5EF4-FFF2-40B4-BE49-F238E27FC236}">
                    <a16:creationId xmlns:a16="http://schemas.microsoft.com/office/drawing/2014/main" id="{4D3649C8-8621-F627-905C-47BBF9AE67FC}"/>
                  </a:ext>
                </a:extLst>
              </p:cNvPr>
              <p:cNvSpPr/>
              <p:nvPr/>
            </p:nvSpPr>
            <p:spPr>
              <a:xfrm>
                <a:off x="782716" y="4001143"/>
                <a:ext cx="2014251" cy="234851"/>
              </a:xfrm>
              <a:prstGeom prst="roundRect">
                <a:avLst>
                  <a:gd name="adj" fmla="val 15640"/>
                </a:avLst>
              </a:prstGeom>
              <a:solidFill>
                <a:srgbClr val="6DB7FB"/>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endParaRPr lang="en-US" altLang="zh-CN" sz="500" b="1" dirty="0">
                  <a:solidFill>
                    <a:srgbClr val="404040"/>
                  </a:solidFill>
                  <a:latin typeface="微软雅黑" panose="020B0503020204020204" pitchFamily="34" charset="-122"/>
                  <a:ea typeface="微软雅黑" panose="020B0503020204020204" pitchFamily="34" charset="-122"/>
                </a:endParaRPr>
              </a:p>
              <a:p>
                <a:r>
                  <a:rPr lang="en-US" altLang="zh-CN" sz="600" b="1" dirty="0">
                    <a:solidFill>
                      <a:srgbClr val="404040"/>
                    </a:solidFill>
                    <a:latin typeface="微软雅黑" panose="020B0503020204020204" pitchFamily="34" charset="-122"/>
                    <a:ea typeface="微软雅黑" panose="020B0503020204020204" pitchFamily="34" charset="-122"/>
                  </a:rPr>
                  <a:t>SPPF</a:t>
                </a:r>
              </a:p>
              <a:p>
                <a:endParaRPr sz="500" dirty="0">
                  <a:solidFill>
                    <a:srgbClr val="404040"/>
                  </a:solidFill>
                  <a:latin typeface="微软雅黑" panose="020B0503020204020204" pitchFamily="34" charset="-122"/>
                  <a:ea typeface="微软雅黑" panose="020B0503020204020204" pitchFamily="34" charset="-122"/>
                </a:endParaRPr>
              </a:p>
            </p:txBody>
          </p:sp>
          <p:cxnSp>
            <p:nvCxnSpPr>
              <p:cNvPr id="641" name="直接连接符 727">
                <a:extLst>
                  <a:ext uri="{FF2B5EF4-FFF2-40B4-BE49-F238E27FC236}">
                    <a16:creationId xmlns:a16="http://schemas.microsoft.com/office/drawing/2014/main" id="{CEA61729-86C6-1698-CF3A-9C95A3484776}"/>
                  </a:ext>
                </a:extLst>
              </p:cNvPr>
              <p:cNvCxnSpPr>
                <a:cxnSpLocks/>
              </p:cNvCxnSpPr>
              <p:nvPr/>
            </p:nvCxnSpPr>
            <p:spPr>
              <a:xfrm>
                <a:off x="2526464" y="4007933"/>
                <a:ext cx="0" cy="233301"/>
              </a:xfrm>
              <a:prstGeom prst="line">
                <a:avLst/>
              </a:prstGeom>
              <a:grpFill/>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42" name="文本框 728">
                <a:extLst>
                  <a:ext uri="{FF2B5EF4-FFF2-40B4-BE49-F238E27FC236}">
                    <a16:creationId xmlns:a16="http://schemas.microsoft.com/office/drawing/2014/main" id="{342A1A14-A681-BCFF-8DC2-248E63C1D85B}"/>
                  </a:ext>
                </a:extLst>
              </p:cNvPr>
              <p:cNvSpPr txBox="1"/>
              <p:nvPr/>
            </p:nvSpPr>
            <p:spPr>
              <a:xfrm>
                <a:off x="2461698" y="4005968"/>
                <a:ext cx="404389" cy="234763"/>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9</a:t>
                </a:r>
              </a:p>
            </p:txBody>
          </p:sp>
        </p:grpSp>
      </p:grpSp>
      <p:sp>
        <p:nvSpPr>
          <p:cNvPr id="539" name="Google Shape;379;p22">
            <a:extLst>
              <a:ext uri="{FF2B5EF4-FFF2-40B4-BE49-F238E27FC236}">
                <a16:creationId xmlns:a16="http://schemas.microsoft.com/office/drawing/2014/main" id="{9CF9D316-99D2-7CB9-E180-FAA62C7327DC}"/>
              </a:ext>
            </a:extLst>
          </p:cNvPr>
          <p:cNvSpPr/>
          <p:nvPr/>
        </p:nvSpPr>
        <p:spPr>
          <a:xfrm>
            <a:off x="7247213" y="2386589"/>
            <a:ext cx="1253696" cy="270892"/>
          </a:xfrm>
          <a:prstGeom prst="roundRect">
            <a:avLst>
              <a:gd name="adj" fmla="val 15640"/>
            </a:avLst>
          </a:prstGeom>
          <a:gradFill flip="none" rotWithShape="1">
            <a:gsLst>
              <a:gs pos="0">
                <a:schemeClr val="accent6">
                  <a:lumMod val="60000"/>
                  <a:lumOff val="40000"/>
                </a:schemeClr>
              </a:gs>
              <a:gs pos="100000">
                <a:srgbClr val="FFD96E"/>
              </a:gs>
            </a:gsLst>
            <a:lin ang="2700000" scaled="1"/>
            <a:tileRect/>
          </a:gra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pPr algn="ctr"/>
            <a:r>
              <a:rPr lang="en-US" altLang="zh-CN" sz="900" b="1" dirty="0">
                <a:solidFill>
                  <a:srgbClr val="404040"/>
                </a:solidFill>
                <a:latin typeface="微软雅黑" panose="020B0503020204020204" pitchFamily="34" charset="-122"/>
                <a:ea typeface="微软雅黑" panose="020B0503020204020204" pitchFamily="34" charset="-122"/>
              </a:rPr>
              <a:t>Detect</a:t>
            </a:r>
            <a:endParaRPr sz="700" dirty="0">
              <a:solidFill>
                <a:srgbClr val="404040"/>
              </a:solidFill>
              <a:latin typeface="微软雅黑" panose="020B0503020204020204" pitchFamily="34" charset="-122"/>
              <a:ea typeface="微软雅黑" panose="020B0503020204020204" pitchFamily="34" charset="-122"/>
            </a:endParaRPr>
          </a:p>
        </p:txBody>
      </p:sp>
      <p:cxnSp>
        <p:nvCxnSpPr>
          <p:cNvPr id="561" name="Google Shape;394;p22">
            <a:extLst>
              <a:ext uri="{FF2B5EF4-FFF2-40B4-BE49-F238E27FC236}">
                <a16:creationId xmlns:a16="http://schemas.microsoft.com/office/drawing/2014/main" id="{81903E12-DD52-88CF-0EC9-785CA06B4390}"/>
              </a:ext>
            </a:extLst>
          </p:cNvPr>
          <p:cNvCxnSpPr>
            <a:cxnSpLocks/>
            <a:stCxn id="582" idx="2"/>
            <a:endCxn id="539" idx="1"/>
          </p:cNvCxnSpPr>
          <p:nvPr/>
        </p:nvCxnSpPr>
        <p:spPr>
          <a:xfrm flipV="1">
            <a:off x="6488801" y="2522035"/>
            <a:ext cx="758412" cy="33831"/>
          </a:xfrm>
          <a:prstGeom prst="straightConnector1">
            <a:avLst/>
          </a:prstGeom>
          <a:noFill/>
          <a:ln w="9525" cap="flat" cmpd="sng">
            <a:solidFill>
              <a:schemeClr val="dk2"/>
            </a:solidFill>
            <a:prstDash val="solid"/>
            <a:round/>
            <a:headEnd type="none" w="med" len="med"/>
            <a:tailEnd type="triangle" w="med" len="med"/>
          </a:ln>
        </p:spPr>
      </p:cxnSp>
      <p:sp>
        <p:nvSpPr>
          <p:cNvPr id="562" name="Google Shape;379;p22">
            <a:extLst>
              <a:ext uri="{FF2B5EF4-FFF2-40B4-BE49-F238E27FC236}">
                <a16:creationId xmlns:a16="http://schemas.microsoft.com/office/drawing/2014/main" id="{E06AEA45-5E43-46ED-AD58-AB382EC8E248}"/>
              </a:ext>
            </a:extLst>
          </p:cNvPr>
          <p:cNvSpPr/>
          <p:nvPr/>
        </p:nvSpPr>
        <p:spPr>
          <a:xfrm>
            <a:off x="7247213" y="4308580"/>
            <a:ext cx="1253696" cy="270892"/>
          </a:xfrm>
          <a:prstGeom prst="roundRect">
            <a:avLst>
              <a:gd name="adj" fmla="val 15640"/>
            </a:avLst>
          </a:prstGeom>
          <a:gradFill flip="none" rotWithShape="1">
            <a:gsLst>
              <a:gs pos="0">
                <a:schemeClr val="accent6">
                  <a:lumMod val="60000"/>
                  <a:lumOff val="40000"/>
                </a:schemeClr>
              </a:gs>
              <a:gs pos="100000">
                <a:srgbClr val="FFD96E"/>
              </a:gs>
            </a:gsLst>
            <a:lin ang="2700000" scaled="1"/>
            <a:tileRect/>
          </a:gra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pPr algn="ctr"/>
            <a:r>
              <a:rPr lang="en-US" altLang="zh-CN" sz="900" b="1" dirty="0">
                <a:solidFill>
                  <a:srgbClr val="404040"/>
                </a:solidFill>
                <a:latin typeface="微软雅黑" panose="020B0503020204020204" pitchFamily="34" charset="-122"/>
                <a:ea typeface="微软雅黑" panose="020B0503020204020204" pitchFamily="34" charset="-122"/>
              </a:rPr>
              <a:t>Detect</a:t>
            </a:r>
            <a:endParaRPr sz="700" dirty="0">
              <a:solidFill>
                <a:srgbClr val="404040"/>
              </a:solidFill>
              <a:latin typeface="微软雅黑" panose="020B0503020204020204" pitchFamily="34" charset="-122"/>
              <a:ea typeface="微软雅黑" panose="020B0503020204020204" pitchFamily="34" charset="-122"/>
            </a:endParaRPr>
          </a:p>
        </p:txBody>
      </p:sp>
      <p:cxnSp>
        <p:nvCxnSpPr>
          <p:cNvPr id="563" name="Google Shape;394;p22">
            <a:extLst>
              <a:ext uri="{FF2B5EF4-FFF2-40B4-BE49-F238E27FC236}">
                <a16:creationId xmlns:a16="http://schemas.microsoft.com/office/drawing/2014/main" id="{DC3C2AAC-2E06-435A-6D92-A2C146ED7B58}"/>
              </a:ext>
            </a:extLst>
          </p:cNvPr>
          <p:cNvCxnSpPr>
            <a:cxnSpLocks/>
            <a:stCxn id="643" idx="3"/>
            <a:endCxn id="562" idx="1"/>
          </p:cNvCxnSpPr>
          <p:nvPr/>
        </p:nvCxnSpPr>
        <p:spPr>
          <a:xfrm>
            <a:off x="6564531" y="4414714"/>
            <a:ext cx="682682" cy="29312"/>
          </a:xfrm>
          <a:prstGeom prst="straightConnector1">
            <a:avLst/>
          </a:prstGeom>
          <a:noFill/>
          <a:ln w="9525" cap="flat" cmpd="sng">
            <a:solidFill>
              <a:schemeClr val="dk2"/>
            </a:solidFill>
            <a:prstDash val="solid"/>
            <a:round/>
            <a:headEnd type="none" w="med" len="med"/>
            <a:tailEnd type="triangle" w="med" len="med"/>
          </a:ln>
        </p:spPr>
      </p:cxnSp>
      <p:cxnSp>
        <p:nvCxnSpPr>
          <p:cNvPr id="449" name="Google Shape;394;p22">
            <a:extLst>
              <a:ext uri="{FF2B5EF4-FFF2-40B4-BE49-F238E27FC236}">
                <a16:creationId xmlns:a16="http://schemas.microsoft.com/office/drawing/2014/main" id="{3DAF0199-4DB2-2214-3135-86D33913261E}"/>
              </a:ext>
            </a:extLst>
          </p:cNvPr>
          <p:cNvCxnSpPr>
            <a:cxnSpLocks/>
            <a:stCxn id="707" idx="0"/>
            <a:endCxn id="648" idx="2"/>
          </p:cNvCxnSpPr>
          <p:nvPr/>
        </p:nvCxnSpPr>
        <p:spPr>
          <a:xfrm flipV="1">
            <a:off x="3504590" y="941784"/>
            <a:ext cx="8549" cy="245191"/>
          </a:xfrm>
          <a:prstGeom prst="straightConnector1">
            <a:avLst/>
          </a:prstGeom>
          <a:noFill/>
          <a:ln w="9525" cap="flat" cmpd="sng">
            <a:solidFill>
              <a:schemeClr val="dk2"/>
            </a:solidFill>
            <a:prstDash val="solid"/>
            <a:round/>
            <a:headEnd type="none" w="med" len="med"/>
            <a:tailEnd type="triangle" w="med" len="med"/>
          </a:ln>
        </p:spPr>
      </p:cxnSp>
      <p:cxnSp>
        <p:nvCxnSpPr>
          <p:cNvPr id="459" name="Google Shape;394;p22">
            <a:extLst>
              <a:ext uri="{FF2B5EF4-FFF2-40B4-BE49-F238E27FC236}">
                <a16:creationId xmlns:a16="http://schemas.microsoft.com/office/drawing/2014/main" id="{29A5C6AD-C94E-B8D1-5E76-E362E262C69F}"/>
              </a:ext>
            </a:extLst>
          </p:cNvPr>
          <p:cNvCxnSpPr>
            <a:cxnSpLocks/>
            <a:stCxn id="832" idx="0"/>
            <a:endCxn id="704" idx="2"/>
          </p:cNvCxnSpPr>
          <p:nvPr/>
        </p:nvCxnSpPr>
        <p:spPr>
          <a:xfrm flipV="1">
            <a:off x="3501870" y="1809067"/>
            <a:ext cx="13693" cy="306631"/>
          </a:xfrm>
          <a:prstGeom prst="straightConnector1">
            <a:avLst/>
          </a:prstGeom>
          <a:noFill/>
          <a:ln w="9525" cap="flat" cmpd="sng">
            <a:solidFill>
              <a:schemeClr val="dk2"/>
            </a:solidFill>
            <a:prstDash val="solid"/>
            <a:round/>
            <a:headEnd type="none" w="med" len="med"/>
            <a:tailEnd type="triangle" w="med" len="med"/>
          </a:ln>
        </p:spPr>
      </p:cxnSp>
      <p:grpSp>
        <p:nvGrpSpPr>
          <p:cNvPr id="460" name="组合 715">
            <a:extLst>
              <a:ext uri="{FF2B5EF4-FFF2-40B4-BE49-F238E27FC236}">
                <a16:creationId xmlns:a16="http://schemas.microsoft.com/office/drawing/2014/main" id="{54201083-BEC9-F44F-2359-336F575F2F64}"/>
              </a:ext>
            </a:extLst>
          </p:cNvPr>
          <p:cNvGrpSpPr/>
          <p:nvPr/>
        </p:nvGrpSpPr>
        <p:grpSpPr>
          <a:xfrm>
            <a:off x="2809524" y="3125074"/>
            <a:ext cx="1387699" cy="246221"/>
            <a:chOff x="782716" y="3968232"/>
            <a:chExt cx="2018625" cy="306595"/>
          </a:xfrm>
        </p:grpSpPr>
        <p:sp>
          <p:nvSpPr>
            <p:cNvPr id="713" name="Google Shape;379;p22">
              <a:extLst>
                <a:ext uri="{FF2B5EF4-FFF2-40B4-BE49-F238E27FC236}">
                  <a16:creationId xmlns:a16="http://schemas.microsoft.com/office/drawing/2014/main" id="{011831AB-164E-6F62-EDED-CE285DFA9EA6}"/>
                </a:ext>
              </a:extLst>
            </p:cNvPr>
            <p:cNvSpPr/>
            <p:nvPr/>
          </p:nvSpPr>
          <p:spPr>
            <a:xfrm>
              <a:off x="782716" y="4001143"/>
              <a:ext cx="2014251" cy="234851"/>
            </a:xfrm>
            <a:prstGeom prst="roundRect">
              <a:avLst>
                <a:gd name="adj" fmla="val 15640"/>
              </a:avLst>
            </a:prstGeom>
            <a:solidFill>
              <a:srgbClr val="FFD03B"/>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err="1">
                  <a:solidFill>
                    <a:srgbClr val="404040"/>
                  </a:solidFill>
                  <a:latin typeface="微软雅黑" panose="020B0503020204020204" pitchFamily="34" charset="-122"/>
                  <a:ea typeface="微软雅黑" panose="020B0503020204020204" pitchFamily="34" charset="-122"/>
                </a:rPr>
                <a:t>Concat</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714" name="直接连接符 718">
              <a:extLst>
                <a:ext uri="{FF2B5EF4-FFF2-40B4-BE49-F238E27FC236}">
                  <a16:creationId xmlns:a16="http://schemas.microsoft.com/office/drawing/2014/main" id="{A209C5F9-E369-0D6A-31EC-9C3F50A22BBC}"/>
                </a:ext>
              </a:extLst>
            </p:cNvPr>
            <p:cNvCxnSpPr>
              <a:cxnSpLocks/>
            </p:cNvCxnSpPr>
            <p:nvPr/>
          </p:nvCxnSpPr>
          <p:spPr>
            <a:xfrm>
              <a:off x="2526452" y="4001141"/>
              <a:ext cx="0" cy="234852"/>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15" name="文本框 719">
              <a:extLst>
                <a:ext uri="{FF2B5EF4-FFF2-40B4-BE49-F238E27FC236}">
                  <a16:creationId xmlns:a16="http://schemas.microsoft.com/office/drawing/2014/main" id="{7C950C8A-4D89-ADAD-E385-D2871DFEC54F}"/>
                </a:ext>
              </a:extLst>
            </p:cNvPr>
            <p:cNvSpPr txBox="1"/>
            <p:nvPr/>
          </p:nvSpPr>
          <p:spPr>
            <a:xfrm>
              <a:off x="2526453" y="3968232"/>
              <a:ext cx="274888" cy="306595"/>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11</a:t>
              </a:r>
            </a:p>
          </p:txBody>
        </p:sp>
      </p:grpSp>
      <p:grpSp>
        <p:nvGrpSpPr>
          <p:cNvPr id="461" name="组合 721">
            <a:extLst>
              <a:ext uri="{FF2B5EF4-FFF2-40B4-BE49-F238E27FC236}">
                <a16:creationId xmlns:a16="http://schemas.microsoft.com/office/drawing/2014/main" id="{07E2A1A2-6263-D29C-0B89-4C442E12EB11}"/>
              </a:ext>
            </a:extLst>
          </p:cNvPr>
          <p:cNvGrpSpPr/>
          <p:nvPr/>
        </p:nvGrpSpPr>
        <p:grpSpPr>
          <a:xfrm>
            <a:off x="2804356" y="3575195"/>
            <a:ext cx="1392867" cy="246221"/>
            <a:chOff x="782716" y="3968232"/>
            <a:chExt cx="2026143" cy="306595"/>
          </a:xfrm>
        </p:grpSpPr>
        <p:sp>
          <p:nvSpPr>
            <p:cNvPr id="710" name="Google Shape;379;p22">
              <a:extLst>
                <a:ext uri="{FF2B5EF4-FFF2-40B4-BE49-F238E27FC236}">
                  <a16:creationId xmlns:a16="http://schemas.microsoft.com/office/drawing/2014/main" id="{23DD2487-F9DC-C5A3-B245-66BD654E57EC}"/>
                </a:ext>
              </a:extLst>
            </p:cNvPr>
            <p:cNvSpPr/>
            <p:nvPr/>
          </p:nvSpPr>
          <p:spPr>
            <a:xfrm>
              <a:off x="782716" y="4001143"/>
              <a:ext cx="2014251" cy="234851"/>
            </a:xfrm>
            <a:prstGeom prst="roundRect">
              <a:avLst>
                <a:gd name="adj" fmla="val 15640"/>
              </a:avLst>
            </a:prstGeom>
            <a:solidFill>
              <a:srgbClr val="A8D973"/>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err="1">
                  <a:solidFill>
                    <a:srgbClr val="404040"/>
                  </a:solidFill>
                  <a:latin typeface="微软雅黑" panose="020B0503020204020204" pitchFamily="34" charset="-122"/>
                  <a:ea typeface="微软雅黑" panose="020B0503020204020204" pitchFamily="34" charset="-122"/>
                </a:rPr>
                <a:t>Upsample</a:t>
              </a:r>
              <a:r>
                <a:rPr lang="en-US" altLang="zh-CN" sz="500" b="1" dirty="0">
                  <a:solidFill>
                    <a:srgbClr val="404040"/>
                  </a:solidFill>
                  <a:latin typeface="微软雅黑" panose="020B0503020204020204" pitchFamily="34" charset="-122"/>
                  <a:ea typeface="微软雅黑" panose="020B0503020204020204" pitchFamily="34" charset="-122"/>
                </a:rPr>
                <a:t> </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711" name="直接连接符 723">
              <a:extLst>
                <a:ext uri="{FF2B5EF4-FFF2-40B4-BE49-F238E27FC236}">
                  <a16:creationId xmlns:a16="http://schemas.microsoft.com/office/drawing/2014/main" id="{88E505FA-85F3-6B1A-2770-9D376BDF0A3A}"/>
                </a:ext>
              </a:extLst>
            </p:cNvPr>
            <p:cNvCxnSpPr>
              <a:cxnSpLocks/>
            </p:cNvCxnSpPr>
            <p:nvPr/>
          </p:nvCxnSpPr>
          <p:spPr>
            <a:xfrm>
              <a:off x="2526465" y="4001141"/>
              <a:ext cx="0" cy="234851"/>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12" name="文本框 724">
              <a:extLst>
                <a:ext uri="{FF2B5EF4-FFF2-40B4-BE49-F238E27FC236}">
                  <a16:creationId xmlns:a16="http://schemas.microsoft.com/office/drawing/2014/main" id="{27159F37-8010-015B-9A28-A7F8C4D36AF6}"/>
                </a:ext>
              </a:extLst>
            </p:cNvPr>
            <p:cNvSpPr txBox="1"/>
            <p:nvPr/>
          </p:nvSpPr>
          <p:spPr>
            <a:xfrm>
              <a:off x="2530307" y="3968232"/>
              <a:ext cx="278552" cy="306595"/>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10</a:t>
              </a:r>
            </a:p>
          </p:txBody>
        </p:sp>
      </p:grpSp>
      <p:cxnSp>
        <p:nvCxnSpPr>
          <p:cNvPr id="467" name="Google Shape;394;p22">
            <a:extLst>
              <a:ext uri="{FF2B5EF4-FFF2-40B4-BE49-F238E27FC236}">
                <a16:creationId xmlns:a16="http://schemas.microsoft.com/office/drawing/2014/main" id="{ABDB1C57-9311-B3CB-9ACF-E10E97117554}"/>
              </a:ext>
            </a:extLst>
          </p:cNvPr>
          <p:cNvCxnSpPr>
            <a:cxnSpLocks/>
            <a:stCxn id="841" idx="0"/>
            <a:endCxn id="710" idx="2"/>
          </p:cNvCxnSpPr>
          <p:nvPr/>
        </p:nvCxnSpPr>
        <p:spPr>
          <a:xfrm flipV="1">
            <a:off x="3496083" y="3790230"/>
            <a:ext cx="619" cy="196295"/>
          </a:xfrm>
          <a:prstGeom prst="straightConnector1">
            <a:avLst/>
          </a:prstGeom>
          <a:noFill/>
          <a:ln w="9525" cap="flat" cmpd="sng">
            <a:solidFill>
              <a:schemeClr val="dk2"/>
            </a:solidFill>
            <a:prstDash val="solid"/>
            <a:round/>
            <a:headEnd type="none" w="med" len="med"/>
            <a:tailEnd type="triangle" w="med" len="med"/>
          </a:ln>
        </p:spPr>
      </p:cxnSp>
      <p:grpSp>
        <p:nvGrpSpPr>
          <p:cNvPr id="468" name="组合 747">
            <a:extLst>
              <a:ext uri="{FF2B5EF4-FFF2-40B4-BE49-F238E27FC236}">
                <a16:creationId xmlns:a16="http://schemas.microsoft.com/office/drawing/2014/main" id="{3DFBB302-7355-A49C-C7D0-E0AC71D7AC8E}"/>
              </a:ext>
            </a:extLst>
          </p:cNvPr>
          <p:cNvGrpSpPr/>
          <p:nvPr/>
        </p:nvGrpSpPr>
        <p:grpSpPr>
          <a:xfrm>
            <a:off x="2812244" y="1160544"/>
            <a:ext cx="1384692" cy="246221"/>
            <a:chOff x="782716" y="3968231"/>
            <a:chExt cx="2014251" cy="306595"/>
          </a:xfrm>
        </p:grpSpPr>
        <p:sp>
          <p:nvSpPr>
            <p:cNvPr id="707" name="Google Shape;379;p22">
              <a:extLst>
                <a:ext uri="{FF2B5EF4-FFF2-40B4-BE49-F238E27FC236}">
                  <a16:creationId xmlns:a16="http://schemas.microsoft.com/office/drawing/2014/main" id="{A46AE579-B44F-4384-86E7-9D21A09B5814}"/>
                </a:ext>
              </a:extLst>
            </p:cNvPr>
            <p:cNvSpPr/>
            <p:nvPr/>
          </p:nvSpPr>
          <p:spPr>
            <a:xfrm>
              <a:off x="782716" y="4001143"/>
              <a:ext cx="2014251" cy="234851"/>
            </a:xfrm>
            <a:prstGeom prst="roundRect">
              <a:avLst>
                <a:gd name="adj" fmla="val 15640"/>
              </a:avLst>
            </a:prstGeom>
            <a:solidFill>
              <a:srgbClr val="FFD03B"/>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err="1">
                  <a:solidFill>
                    <a:srgbClr val="404040"/>
                  </a:solidFill>
                  <a:latin typeface="微软雅黑" panose="020B0503020204020204" pitchFamily="34" charset="-122"/>
                  <a:ea typeface="微软雅黑" panose="020B0503020204020204" pitchFamily="34" charset="-122"/>
                </a:rPr>
                <a:t>Concat</a:t>
              </a:r>
              <a:endParaRPr sz="600" dirty="0">
                <a:solidFill>
                  <a:srgbClr val="404040"/>
                </a:solidFill>
                <a:latin typeface="微软雅黑" panose="020B0503020204020204" pitchFamily="34" charset="-122"/>
                <a:ea typeface="微软雅黑" panose="020B0503020204020204" pitchFamily="34" charset="-122"/>
              </a:endParaRPr>
            </a:p>
          </p:txBody>
        </p:sp>
        <p:cxnSp>
          <p:nvCxnSpPr>
            <p:cNvPr id="708" name="直接连接符 749">
              <a:extLst>
                <a:ext uri="{FF2B5EF4-FFF2-40B4-BE49-F238E27FC236}">
                  <a16:creationId xmlns:a16="http://schemas.microsoft.com/office/drawing/2014/main" id="{16CA93C6-42F1-20D9-9CF1-F1AD11289134}"/>
                </a:ext>
              </a:extLst>
            </p:cNvPr>
            <p:cNvCxnSpPr>
              <a:cxnSpLocks/>
            </p:cNvCxnSpPr>
            <p:nvPr/>
          </p:nvCxnSpPr>
          <p:spPr>
            <a:xfrm>
              <a:off x="2526464" y="4006119"/>
              <a:ext cx="0" cy="229875"/>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09" name="文本框 750">
              <a:extLst>
                <a:ext uri="{FF2B5EF4-FFF2-40B4-BE49-F238E27FC236}">
                  <a16:creationId xmlns:a16="http://schemas.microsoft.com/office/drawing/2014/main" id="{C03AD6E2-2AB6-AD71-DFBA-5F11A8E39BEE}"/>
                </a:ext>
              </a:extLst>
            </p:cNvPr>
            <p:cNvSpPr txBox="1"/>
            <p:nvPr/>
          </p:nvSpPr>
          <p:spPr>
            <a:xfrm>
              <a:off x="2514346" y="3968231"/>
              <a:ext cx="278554" cy="306595"/>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14</a:t>
              </a:r>
            </a:p>
          </p:txBody>
        </p:sp>
      </p:grpSp>
      <p:grpSp>
        <p:nvGrpSpPr>
          <p:cNvPr id="469" name="组合 751">
            <a:extLst>
              <a:ext uri="{FF2B5EF4-FFF2-40B4-BE49-F238E27FC236}">
                <a16:creationId xmlns:a16="http://schemas.microsoft.com/office/drawing/2014/main" id="{292C92D7-42BB-A11E-BA93-09D09B2AF167}"/>
              </a:ext>
            </a:extLst>
          </p:cNvPr>
          <p:cNvGrpSpPr/>
          <p:nvPr/>
        </p:nvGrpSpPr>
        <p:grpSpPr>
          <a:xfrm>
            <a:off x="2823217" y="1594032"/>
            <a:ext cx="1384692" cy="246221"/>
            <a:chOff x="782716" y="3968232"/>
            <a:chExt cx="2014251" cy="306595"/>
          </a:xfrm>
        </p:grpSpPr>
        <p:sp>
          <p:nvSpPr>
            <p:cNvPr id="704" name="Google Shape;379;p22">
              <a:extLst>
                <a:ext uri="{FF2B5EF4-FFF2-40B4-BE49-F238E27FC236}">
                  <a16:creationId xmlns:a16="http://schemas.microsoft.com/office/drawing/2014/main" id="{DEDAD229-7CA0-28AC-8D4F-679B9218612E}"/>
                </a:ext>
              </a:extLst>
            </p:cNvPr>
            <p:cNvSpPr/>
            <p:nvPr/>
          </p:nvSpPr>
          <p:spPr>
            <a:xfrm>
              <a:off x="782716" y="4001143"/>
              <a:ext cx="2014251" cy="234851"/>
            </a:xfrm>
            <a:prstGeom prst="roundRect">
              <a:avLst>
                <a:gd name="adj" fmla="val 15640"/>
              </a:avLst>
            </a:prstGeom>
            <a:solidFill>
              <a:srgbClr val="A8D973"/>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err="1">
                  <a:solidFill>
                    <a:srgbClr val="404040"/>
                  </a:solidFill>
                  <a:latin typeface="微软雅黑" panose="020B0503020204020204" pitchFamily="34" charset="-122"/>
                  <a:ea typeface="微软雅黑" panose="020B0503020204020204" pitchFamily="34" charset="-122"/>
                </a:rPr>
                <a:t>Upsample</a:t>
              </a:r>
              <a:endParaRPr sz="600" dirty="0">
                <a:solidFill>
                  <a:srgbClr val="404040"/>
                </a:solidFill>
                <a:latin typeface="微软雅黑" panose="020B0503020204020204" pitchFamily="34" charset="-122"/>
                <a:ea typeface="微软雅黑" panose="020B0503020204020204" pitchFamily="34" charset="-122"/>
              </a:endParaRPr>
            </a:p>
          </p:txBody>
        </p:sp>
        <p:cxnSp>
          <p:nvCxnSpPr>
            <p:cNvPr id="705" name="直接连接符 753">
              <a:extLst>
                <a:ext uri="{FF2B5EF4-FFF2-40B4-BE49-F238E27FC236}">
                  <a16:creationId xmlns:a16="http://schemas.microsoft.com/office/drawing/2014/main" id="{0FF3F31B-EFCB-4FA9-2366-1B2D28E77C62}"/>
                </a:ext>
              </a:extLst>
            </p:cNvPr>
            <p:cNvCxnSpPr>
              <a:cxnSpLocks/>
            </p:cNvCxnSpPr>
            <p:nvPr/>
          </p:nvCxnSpPr>
          <p:spPr>
            <a:xfrm flipH="1">
              <a:off x="2524577" y="4001140"/>
              <a:ext cx="1888" cy="234851"/>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06" name="文本框 754">
              <a:extLst>
                <a:ext uri="{FF2B5EF4-FFF2-40B4-BE49-F238E27FC236}">
                  <a16:creationId xmlns:a16="http://schemas.microsoft.com/office/drawing/2014/main" id="{54706F21-5E3A-E38F-A01F-FED365E8F776}"/>
                </a:ext>
              </a:extLst>
            </p:cNvPr>
            <p:cNvSpPr txBox="1"/>
            <p:nvPr/>
          </p:nvSpPr>
          <p:spPr>
            <a:xfrm>
              <a:off x="2514346" y="3968232"/>
              <a:ext cx="282609" cy="306595"/>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13</a:t>
              </a:r>
            </a:p>
          </p:txBody>
        </p:sp>
      </p:grpSp>
      <p:cxnSp>
        <p:nvCxnSpPr>
          <p:cNvPr id="470" name="Google Shape;394;p22">
            <a:extLst>
              <a:ext uri="{FF2B5EF4-FFF2-40B4-BE49-F238E27FC236}">
                <a16:creationId xmlns:a16="http://schemas.microsoft.com/office/drawing/2014/main" id="{04E73DEC-2860-2171-9EF7-310852772575}"/>
              </a:ext>
            </a:extLst>
          </p:cNvPr>
          <p:cNvCxnSpPr>
            <a:cxnSpLocks/>
            <a:stCxn id="713" idx="0"/>
            <a:endCxn id="585" idx="2"/>
          </p:cNvCxnSpPr>
          <p:nvPr/>
        </p:nvCxnSpPr>
        <p:spPr>
          <a:xfrm flipH="1" flipV="1">
            <a:off x="3496693" y="2883012"/>
            <a:ext cx="5177" cy="268492"/>
          </a:xfrm>
          <a:prstGeom prst="straightConnector1">
            <a:avLst/>
          </a:prstGeom>
          <a:noFill/>
          <a:ln w="9525" cap="flat" cmpd="sng">
            <a:solidFill>
              <a:schemeClr val="dk2"/>
            </a:solidFill>
            <a:prstDash val="solid"/>
            <a:round/>
            <a:headEnd type="none" w="med" len="med"/>
            <a:tailEnd type="triangle" w="med" len="med"/>
          </a:ln>
        </p:spPr>
      </p:cxnSp>
      <p:grpSp>
        <p:nvGrpSpPr>
          <p:cNvPr id="471" name="组合 789">
            <a:extLst>
              <a:ext uri="{FF2B5EF4-FFF2-40B4-BE49-F238E27FC236}">
                <a16:creationId xmlns:a16="http://schemas.microsoft.com/office/drawing/2014/main" id="{A0EE0880-9C5B-9C8F-4D63-5673F891798D}"/>
              </a:ext>
            </a:extLst>
          </p:cNvPr>
          <p:cNvGrpSpPr/>
          <p:nvPr/>
        </p:nvGrpSpPr>
        <p:grpSpPr>
          <a:xfrm>
            <a:off x="5194091" y="1569362"/>
            <a:ext cx="1419542" cy="595246"/>
            <a:chOff x="801141" y="3458134"/>
            <a:chExt cx="2064946" cy="1124721"/>
          </a:xfrm>
        </p:grpSpPr>
        <p:grpSp>
          <p:nvGrpSpPr>
            <p:cNvPr id="698" name="组合 790">
              <a:extLst>
                <a:ext uri="{FF2B5EF4-FFF2-40B4-BE49-F238E27FC236}">
                  <a16:creationId xmlns:a16="http://schemas.microsoft.com/office/drawing/2014/main" id="{DAA53024-FB90-1B4B-6E7A-613460A4E6A2}"/>
                </a:ext>
              </a:extLst>
            </p:cNvPr>
            <p:cNvGrpSpPr/>
            <p:nvPr/>
          </p:nvGrpSpPr>
          <p:grpSpPr>
            <a:xfrm>
              <a:off x="801141" y="3458134"/>
              <a:ext cx="2064946" cy="875093"/>
              <a:chOff x="801141" y="3458134"/>
              <a:chExt cx="2064946" cy="875093"/>
            </a:xfrm>
          </p:grpSpPr>
          <p:sp>
            <p:nvSpPr>
              <p:cNvPr id="700" name="Google Shape;379;p22">
                <a:extLst>
                  <a:ext uri="{FF2B5EF4-FFF2-40B4-BE49-F238E27FC236}">
                    <a16:creationId xmlns:a16="http://schemas.microsoft.com/office/drawing/2014/main" id="{01BAE465-3401-2A33-C5CA-5BE513DC6BD1}"/>
                  </a:ext>
                </a:extLst>
              </p:cNvPr>
              <p:cNvSpPr/>
              <p:nvPr/>
            </p:nvSpPr>
            <p:spPr>
              <a:xfrm>
                <a:off x="801141" y="3458134"/>
                <a:ext cx="2014252"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sp>
            <p:nvSpPr>
              <p:cNvPr id="702" name="文本框 794">
                <a:extLst>
                  <a:ext uri="{FF2B5EF4-FFF2-40B4-BE49-F238E27FC236}">
                    <a16:creationId xmlns:a16="http://schemas.microsoft.com/office/drawing/2014/main" id="{4A61545C-6227-2AC7-91E4-CEBCB415BD6C}"/>
                  </a:ext>
                </a:extLst>
              </p:cNvPr>
              <p:cNvSpPr txBox="1"/>
              <p:nvPr/>
            </p:nvSpPr>
            <p:spPr>
              <a:xfrm>
                <a:off x="2461700" y="4013377"/>
                <a:ext cx="404387" cy="319850"/>
              </a:xfrm>
              <a:prstGeom prst="rect">
                <a:avLst/>
              </a:prstGeom>
              <a:noFill/>
            </p:spPr>
            <p:txBody>
              <a:bodyPr wrap="square" rtlCol="0">
                <a:spAutoFit/>
              </a:bodyPr>
              <a:lstStyle/>
              <a:p>
                <a:pPr algn="ctr"/>
                <a:endParaRPr lang="en-US" altLang="zh-CN" sz="500" dirty="0">
                  <a:solidFill>
                    <a:srgbClr val="404040"/>
                  </a:solidFill>
                  <a:latin typeface="微软雅黑" panose="020B0503020204020204" pitchFamily="34" charset="-122"/>
                  <a:ea typeface="微软雅黑" panose="020B0503020204020204" pitchFamily="34" charset="-122"/>
                </a:endParaRPr>
              </a:p>
            </p:txBody>
          </p:sp>
        </p:grpSp>
        <p:sp>
          <p:nvSpPr>
            <p:cNvPr id="699" name="矩形 791">
              <a:extLst>
                <a:ext uri="{FF2B5EF4-FFF2-40B4-BE49-F238E27FC236}">
                  <a16:creationId xmlns:a16="http://schemas.microsoft.com/office/drawing/2014/main" id="{3C595B67-32BD-6345-0ED6-8474FF09F726}"/>
                </a:ext>
              </a:extLst>
            </p:cNvPr>
            <p:cNvSpPr/>
            <p:nvPr/>
          </p:nvSpPr>
          <p:spPr>
            <a:xfrm>
              <a:off x="2531439" y="4263005"/>
              <a:ext cx="268720" cy="319850"/>
            </a:xfrm>
            <a:prstGeom prst="rect">
              <a:avLst/>
            </a:prstGeom>
          </p:spPr>
          <p:txBody>
            <a:bodyPr wrap="none">
              <a:spAutoFit/>
            </a:bodyPr>
            <a:lstStyle/>
            <a:p>
              <a:pPr algn="ctr"/>
              <a:endParaRPr lang="zh-CN" altLang="en-US" sz="500" dirty="0">
                <a:solidFill>
                  <a:srgbClr val="404040"/>
                </a:solidFill>
                <a:latin typeface="微软雅黑" panose="020B0503020204020204" pitchFamily="34" charset="-122"/>
                <a:ea typeface="微软雅黑" panose="020B0503020204020204" pitchFamily="34" charset="-122"/>
              </a:endParaRPr>
            </a:p>
          </p:txBody>
        </p:sp>
      </p:grpSp>
      <p:grpSp>
        <p:nvGrpSpPr>
          <p:cNvPr id="472" name="组合 796">
            <a:extLst>
              <a:ext uri="{FF2B5EF4-FFF2-40B4-BE49-F238E27FC236}">
                <a16:creationId xmlns:a16="http://schemas.microsoft.com/office/drawing/2014/main" id="{32CB9117-B8B6-CD25-F218-CA8C9386EE85}"/>
              </a:ext>
            </a:extLst>
          </p:cNvPr>
          <p:cNvGrpSpPr/>
          <p:nvPr/>
        </p:nvGrpSpPr>
        <p:grpSpPr>
          <a:xfrm>
            <a:off x="5191731" y="1973101"/>
            <a:ext cx="1389413" cy="246221"/>
            <a:chOff x="782716" y="3968231"/>
            <a:chExt cx="2021119" cy="306595"/>
          </a:xfrm>
        </p:grpSpPr>
        <p:sp>
          <p:nvSpPr>
            <p:cNvPr id="695" name="Google Shape;379;p22">
              <a:extLst>
                <a:ext uri="{FF2B5EF4-FFF2-40B4-BE49-F238E27FC236}">
                  <a16:creationId xmlns:a16="http://schemas.microsoft.com/office/drawing/2014/main" id="{3C857BC0-DF74-171C-ED39-2D5763D25881}"/>
                </a:ext>
              </a:extLst>
            </p:cNvPr>
            <p:cNvSpPr/>
            <p:nvPr/>
          </p:nvSpPr>
          <p:spPr>
            <a:xfrm>
              <a:off x="782716" y="4001143"/>
              <a:ext cx="2014251" cy="234851"/>
            </a:xfrm>
            <a:prstGeom prst="roundRect">
              <a:avLst>
                <a:gd name="adj" fmla="val 15640"/>
              </a:avLst>
            </a:prstGeom>
            <a:solidFill>
              <a:srgbClr val="FFD03B"/>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err="1">
                  <a:solidFill>
                    <a:srgbClr val="404040"/>
                  </a:solidFill>
                  <a:latin typeface="微软雅黑" panose="020B0503020204020204" pitchFamily="34" charset="-122"/>
                  <a:ea typeface="微软雅黑" panose="020B0503020204020204" pitchFamily="34" charset="-122"/>
                </a:rPr>
                <a:t>Concat</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696" name="直接连接符 798">
              <a:extLst>
                <a:ext uri="{FF2B5EF4-FFF2-40B4-BE49-F238E27FC236}">
                  <a16:creationId xmlns:a16="http://schemas.microsoft.com/office/drawing/2014/main" id="{77DAECCB-8896-F1EA-C0BA-8669B9816291}"/>
                </a:ext>
              </a:extLst>
            </p:cNvPr>
            <p:cNvCxnSpPr>
              <a:cxnSpLocks/>
            </p:cNvCxnSpPr>
            <p:nvPr/>
          </p:nvCxnSpPr>
          <p:spPr>
            <a:xfrm flipH="1">
              <a:off x="2525253" y="4006119"/>
              <a:ext cx="1" cy="229874"/>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97" name="文本框 799">
              <a:extLst>
                <a:ext uri="{FF2B5EF4-FFF2-40B4-BE49-F238E27FC236}">
                  <a16:creationId xmlns:a16="http://schemas.microsoft.com/office/drawing/2014/main" id="{8714D96B-9AE3-63E2-E541-8B4F3042E7ED}"/>
                </a:ext>
              </a:extLst>
            </p:cNvPr>
            <p:cNvSpPr txBox="1"/>
            <p:nvPr/>
          </p:nvSpPr>
          <p:spPr>
            <a:xfrm>
              <a:off x="2516212" y="3968231"/>
              <a:ext cx="287623" cy="306595"/>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17</a:t>
              </a:r>
            </a:p>
          </p:txBody>
        </p:sp>
      </p:grpSp>
      <p:grpSp>
        <p:nvGrpSpPr>
          <p:cNvPr id="473" name="组合 809">
            <a:extLst>
              <a:ext uri="{FF2B5EF4-FFF2-40B4-BE49-F238E27FC236}">
                <a16:creationId xmlns:a16="http://schemas.microsoft.com/office/drawing/2014/main" id="{ADFADECF-E1B7-572A-6303-92BB8D386EA6}"/>
              </a:ext>
            </a:extLst>
          </p:cNvPr>
          <p:cNvGrpSpPr/>
          <p:nvPr/>
        </p:nvGrpSpPr>
        <p:grpSpPr>
          <a:xfrm>
            <a:off x="5181425" y="3356575"/>
            <a:ext cx="1432208" cy="303064"/>
            <a:chOff x="782716" y="3988443"/>
            <a:chExt cx="2083371" cy="572640"/>
          </a:xfrm>
        </p:grpSpPr>
        <p:grpSp>
          <p:nvGrpSpPr>
            <p:cNvPr id="689" name="组合 810">
              <a:extLst>
                <a:ext uri="{FF2B5EF4-FFF2-40B4-BE49-F238E27FC236}">
                  <a16:creationId xmlns:a16="http://schemas.microsoft.com/office/drawing/2014/main" id="{4929B07E-CBA1-56BC-0C2A-887631A3FBFC}"/>
                </a:ext>
              </a:extLst>
            </p:cNvPr>
            <p:cNvGrpSpPr/>
            <p:nvPr/>
          </p:nvGrpSpPr>
          <p:grpSpPr>
            <a:xfrm>
              <a:off x="782716" y="3988443"/>
              <a:ext cx="2083371" cy="511850"/>
              <a:chOff x="782716" y="3988443"/>
              <a:chExt cx="2083371" cy="511850"/>
            </a:xfrm>
          </p:grpSpPr>
          <p:sp>
            <p:nvSpPr>
              <p:cNvPr id="691" name="Google Shape;379;p22">
                <a:extLst>
                  <a:ext uri="{FF2B5EF4-FFF2-40B4-BE49-F238E27FC236}">
                    <a16:creationId xmlns:a16="http://schemas.microsoft.com/office/drawing/2014/main" id="{68F6E57F-E4BF-C574-0F55-D9CCC802840D}"/>
                  </a:ext>
                </a:extLst>
              </p:cNvPr>
              <p:cNvSpPr/>
              <p:nvPr/>
            </p:nvSpPr>
            <p:spPr>
              <a:xfrm>
                <a:off x="782716" y="3988443"/>
                <a:ext cx="2014251" cy="511850"/>
              </a:xfrm>
              <a:prstGeom prst="roundRect">
                <a:avLst>
                  <a:gd name="adj" fmla="val 15640"/>
                </a:avLst>
              </a:prstGeom>
              <a:solidFill>
                <a:srgbClr val="89E0FF"/>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Conv</a:t>
                </a:r>
              </a:p>
              <a:p>
                <a:r>
                  <a:rPr lang="en-US" sz="500" dirty="0">
                    <a:solidFill>
                      <a:srgbClr val="404040"/>
                    </a:solidFill>
                    <a:latin typeface="微软雅黑" panose="020B0503020204020204" pitchFamily="34" charset="-122"/>
                    <a:ea typeface="微软雅黑" panose="020B0503020204020204" pitchFamily="34" charset="-122"/>
                  </a:rPr>
                  <a:t>k=3, s=2, p=1</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692" name="直接连接符 813">
                <a:extLst>
                  <a:ext uri="{FF2B5EF4-FFF2-40B4-BE49-F238E27FC236}">
                    <a16:creationId xmlns:a16="http://schemas.microsoft.com/office/drawing/2014/main" id="{0B2F8D21-56A9-845A-1E0B-680BBB8608BB}"/>
                  </a:ext>
                </a:extLst>
              </p:cNvPr>
              <p:cNvCxnSpPr>
                <a:cxnSpLocks/>
              </p:cNvCxnSpPr>
              <p:nvPr/>
            </p:nvCxnSpPr>
            <p:spPr>
              <a:xfrm>
                <a:off x="2526463" y="3988443"/>
                <a:ext cx="0" cy="508358"/>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93" name="文本框 814">
                <a:extLst>
                  <a:ext uri="{FF2B5EF4-FFF2-40B4-BE49-F238E27FC236}">
                    <a16:creationId xmlns:a16="http://schemas.microsoft.com/office/drawing/2014/main" id="{21B7DF39-7B8A-37BE-36C9-95FB842176A0}"/>
                  </a:ext>
                </a:extLst>
              </p:cNvPr>
              <p:cNvSpPr txBox="1"/>
              <p:nvPr/>
            </p:nvSpPr>
            <p:spPr>
              <a:xfrm>
                <a:off x="2461698" y="4013377"/>
                <a:ext cx="404389" cy="319850"/>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19</a:t>
                </a:r>
              </a:p>
            </p:txBody>
          </p:sp>
          <p:cxnSp>
            <p:nvCxnSpPr>
              <p:cNvPr id="694" name="直接连接符 815">
                <a:extLst>
                  <a:ext uri="{FF2B5EF4-FFF2-40B4-BE49-F238E27FC236}">
                    <a16:creationId xmlns:a16="http://schemas.microsoft.com/office/drawing/2014/main" id="{111C27DF-05D6-0AB8-63B7-ACFD6FEEFFAD}"/>
                  </a:ext>
                </a:extLst>
              </p:cNvPr>
              <p:cNvCxnSpPr>
                <a:cxnSpLocks/>
              </p:cNvCxnSpPr>
              <p:nvPr/>
            </p:nvCxnSpPr>
            <p:spPr>
              <a:xfrm>
                <a:off x="2528609" y="4248060"/>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sp>
          <p:nvSpPr>
            <p:cNvPr id="690" name="矩形 811">
              <a:extLst>
                <a:ext uri="{FF2B5EF4-FFF2-40B4-BE49-F238E27FC236}">
                  <a16:creationId xmlns:a16="http://schemas.microsoft.com/office/drawing/2014/main" id="{C0635A8D-0166-0EE6-2731-4D7AB7CF1BED}"/>
                </a:ext>
              </a:extLst>
            </p:cNvPr>
            <p:cNvSpPr/>
            <p:nvPr/>
          </p:nvSpPr>
          <p:spPr>
            <a:xfrm>
              <a:off x="2531440" y="4241234"/>
              <a:ext cx="268720" cy="319849"/>
            </a:xfrm>
            <a:prstGeom prst="rect">
              <a:avLst/>
            </a:prstGeom>
          </p:spPr>
          <p:txBody>
            <a:bodyPr wrap="none">
              <a:spAutoFit/>
            </a:bodyPr>
            <a:lstStyle/>
            <a:p>
              <a:pPr algn="ctr"/>
              <a:endParaRPr lang="zh-CN" altLang="en-US" sz="500" dirty="0">
                <a:solidFill>
                  <a:srgbClr val="404040"/>
                </a:solidFill>
                <a:latin typeface="微软雅黑" panose="020B0503020204020204" pitchFamily="34" charset="-122"/>
                <a:ea typeface="微软雅黑" panose="020B0503020204020204" pitchFamily="34" charset="-122"/>
              </a:endParaRPr>
            </a:p>
          </p:txBody>
        </p:sp>
      </p:grpSp>
      <p:grpSp>
        <p:nvGrpSpPr>
          <p:cNvPr id="474" name="组合 816">
            <a:extLst>
              <a:ext uri="{FF2B5EF4-FFF2-40B4-BE49-F238E27FC236}">
                <a16:creationId xmlns:a16="http://schemas.microsoft.com/office/drawing/2014/main" id="{68AEBA7E-6391-C99C-2156-1036F0C56314}"/>
              </a:ext>
            </a:extLst>
          </p:cNvPr>
          <p:cNvGrpSpPr/>
          <p:nvPr/>
        </p:nvGrpSpPr>
        <p:grpSpPr>
          <a:xfrm>
            <a:off x="5181424" y="3917964"/>
            <a:ext cx="1395961" cy="246221"/>
            <a:chOff x="782716" y="3968232"/>
            <a:chExt cx="2030643" cy="306595"/>
          </a:xfrm>
        </p:grpSpPr>
        <p:sp>
          <p:nvSpPr>
            <p:cNvPr id="686" name="Google Shape;379;p22">
              <a:extLst>
                <a:ext uri="{FF2B5EF4-FFF2-40B4-BE49-F238E27FC236}">
                  <a16:creationId xmlns:a16="http://schemas.microsoft.com/office/drawing/2014/main" id="{D85F5849-B32D-EA52-3A5D-D90F8F2BD852}"/>
                </a:ext>
              </a:extLst>
            </p:cNvPr>
            <p:cNvSpPr/>
            <p:nvPr/>
          </p:nvSpPr>
          <p:spPr>
            <a:xfrm>
              <a:off x="782716" y="4001143"/>
              <a:ext cx="2014251" cy="234851"/>
            </a:xfrm>
            <a:prstGeom prst="roundRect">
              <a:avLst>
                <a:gd name="adj" fmla="val 15640"/>
              </a:avLst>
            </a:prstGeom>
            <a:solidFill>
              <a:srgbClr val="FFD03B"/>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err="1">
                  <a:solidFill>
                    <a:srgbClr val="404040"/>
                  </a:solidFill>
                  <a:latin typeface="微软雅黑" panose="020B0503020204020204" pitchFamily="34" charset="-122"/>
                  <a:ea typeface="微软雅黑" panose="020B0503020204020204" pitchFamily="34" charset="-122"/>
                </a:rPr>
                <a:t>Concat</a:t>
              </a:r>
              <a:endParaRPr sz="500" dirty="0">
                <a:solidFill>
                  <a:srgbClr val="404040"/>
                </a:solidFill>
                <a:latin typeface="微软雅黑" panose="020B0503020204020204" pitchFamily="34" charset="-122"/>
                <a:ea typeface="微软雅黑" panose="020B0503020204020204" pitchFamily="34" charset="-122"/>
              </a:endParaRPr>
            </a:p>
          </p:txBody>
        </p:sp>
        <p:cxnSp>
          <p:nvCxnSpPr>
            <p:cNvPr id="687" name="直接连接符 818">
              <a:extLst>
                <a:ext uri="{FF2B5EF4-FFF2-40B4-BE49-F238E27FC236}">
                  <a16:creationId xmlns:a16="http://schemas.microsoft.com/office/drawing/2014/main" id="{4E8D995F-EBF1-4B86-3724-9DB142E84672}"/>
                </a:ext>
              </a:extLst>
            </p:cNvPr>
            <p:cNvCxnSpPr>
              <a:cxnSpLocks/>
            </p:cNvCxnSpPr>
            <p:nvPr/>
          </p:nvCxnSpPr>
          <p:spPr>
            <a:xfrm>
              <a:off x="2526464" y="4001140"/>
              <a:ext cx="0" cy="234851"/>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88" name="文本框 819">
              <a:extLst>
                <a:ext uri="{FF2B5EF4-FFF2-40B4-BE49-F238E27FC236}">
                  <a16:creationId xmlns:a16="http://schemas.microsoft.com/office/drawing/2014/main" id="{7BE8EEBB-98A3-2524-FBB2-7829639379E2}"/>
                </a:ext>
              </a:extLst>
            </p:cNvPr>
            <p:cNvSpPr txBox="1"/>
            <p:nvPr/>
          </p:nvSpPr>
          <p:spPr>
            <a:xfrm>
              <a:off x="2525736" y="3968232"/>
              <a:ext cx="287623" cy="306595"/>
            </a:xfrm>
            <a:prstGeom prst="rect">
              <a:avLst/>
            </a:prstGeom>
            <a:noFill/>
          </p:spPr>
          <p:txBody>
            <a:bodyPr wrap="square" rtlCol="0" anchor="ctr">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20</a:t>
              </a:r>
            </a:p>
          </p:txBody>
        </p:sp>
      </p:grpSp>
      <p:cxnSp>
        <p:nvCxnSpPr>
          <p:cNvPr id="475" name="Google Shape;394;p22">
            <a:extLst>
              <a:ext uri="{FF2B5EF4-FFF2-40B4-BE49-F238E27FC236}">
                <a16:creationId xmlns:a16="http://schemas.microsoft.com/office/drawing/2014/main" id="{FBAC232B-A2B9-7B5F-0712-26CEF692D8F6}"/>
              </a:ext>
            </a:extLst>
          </p:cNvPr>
          <p:cNvCxnSpPr>
            <a:cxnSpLocks/>
            <a:stCxn id="700" idx="2"/>
            <a:endCxn id="695" idx="0"/>
          </p:cNvCxnSpPr>
          <p:nvPr/>
        </p:nvCxnSpPr>
        <p:spPr>
          <a:xfrm flipH="1">
            <a:off x="5884077" y="1840253"/>
            <a:ext cx="2361" cy="159279"/>
          </a:xfrm>
          <a:prstGeom prst="straightConnector1">
            <a:avLst/>
          </a:prstGeom>
          <a:noFill/>
          <a:ln w="9525" cap="flat" cmpd="sng">
            <a:solidFill>
              <a:schemeClr val="dk2"/>
            </a:solidFill>
            <a:prstDash val="solid"/>
            <a:round/>
            <a:headEnd type="none" w="med" len="med"/>
            <a:tailEnd type="triangle" w="med" len="med"/>
          </a:ln>
        </p:spPr>
      </p:cxnSp>
      <p:cxnSp>
        <p:nvCxnSpPr>
          <p:cNvPr id="476" name="Google Shape;394;p22">
            <a:extLst>
              <a:ext uri="{FF2B5EF4-FFF2-40B4-BE49-F238E27FC236}">
                <a16:creationId xmlns:a16="http://schemas.microsoft.com/office/drawing/2014/main" id="{EFD5529E-3673-7B6F-2432-EEF33060DC09}"/>
              </a:ext>
            </a:extLst>
          </p:cNvPr>
          <p:cNvCxnSpPr>
            <a:cxnSpLocks/>
            <a:stCxn id="695" idx="2"/>
            <a:endCxn id="580" idx="0"/>
          </p:cNvCxnSpPr>
          <p:nvPr/>
        </p:nvCxnSpPr>
        <p:spPr>
          <a:xfrm>
            <a:off x="5884077" y="2188137"/>
            <a:ext cx="2360" cy="185141"/>
          </a:xfrm>
          <a:prstGeom prst="straightConnector1">
            <a:avLst/>
          </a:prstGeom>
          <a:noFill/>
          <a:ln w="9525" cap="flat" cmpd="sng">
            <a:solidFill>
              <a:schemeClr val="dk2"/>
            </a:solidFill>
            <a:prstDash val="solid"/>
            <a:round/>
            <a:headEnd type="none" w="med" len="med"/>
            <a:tailEnd type="triangle" w="med" len="med"/>
          </a:ln>
        </p:spPr>
      </p:cxnSp>
      <p:cxnSp>
        <p:nvCxnSpPr>
          <p:cNvPr id="477" name="Google Shape;394;p22">
            <a:extLst>
              <a:ext uri="{FF2B5EF4-FFF2-40B4-BE49-F238E27FC236}">
                <a16:creationId xmlns:a16="http://schemas.microsoft.com/office/drawing/2014/main" id="{99ABAF8E-D40D-2318-92EC-4680B14E36C1}"/>
              </a:ext>
            </a:extLst>
          </p:cNvPr>
          <p:cNvCxnSpPr>
            <a:cxnSpLocks/>
            <a:stCxn id="691" idx="2"/>
            <a:endCxn id="686" idx="0"/>
          </p:cNvCxnSpPr>
          <p:nvPr/>
        </p:nvCxnSpPr>
        <p:spPr>
          <a:xfrm flipH="1">
            <a:off x="5873770" y="3627464"/>
            <a:ext cx="2" cy="316932"/>
          </a:xfrm>
          <a:prstGeom prst="straightConnector1">
            <a:avLst/>
          </a:prstGeom>
          <a:noFill/>
          <a:ln w="9525" cap="flat" cmpd="sng">
            <a:solidFill>
              <a:schemeClr val="dk2"/>
            </a:solidFill>
            <a:prstDash val="solid"/>
            <a:round/>
            <a:headEnd type="none" w="med" len="med"/>
            <a:tailEnd type="triangle" w="med" len="med"/>
          </a:ln>
        </p:spPr>
      </p:cxnSp>
      <p:cxnSp>
        <p:nvCxnSpPr>
          <p:cNvPr id="478" name="Google Shape;394;p22">
            <a:extLst>
              <a:ext uri="{FF2B5EF4-FFF2-40B4-BE49-F238E27FC236}">
                <a16:creationId xmlns:a16="http://schemas.microsoft.com/office/drawing/2014/main" id="{69847A7D-54E9-EF69-AAEB-FBDBBB3F08F5}"/>
              </a:ext>
            </a:extLst>
          </p:cNvPr>
          <p:cNvCxnSpPr>
            <a:cxnSpLocks/>
            <a:stCxn id="686" idx="2"/>
            <a:endCxn id="643" idx="0"/>
          </p:cNvCxnSpPr>
          <p:nvPr/>
        </p:nvCxnSpPr>
        <p:spPr>
          <a:xfrm flipH="1">
            <a:off x="5872185" y="4133001"/>
            <a:ext cx="1584" cy="146262"/>
          </a:xfrm>
          <a:prstGeom prst="straightConnector1">
            <a:avLst/>
          </a:prstGeom>
          <a:noFill/>
          <a:ln w="9525" cap="flat" cmpd="sng">
            <a:solidFill>
              <a:schemeClr val="dk2"/>
            </a:solidFill>
            <a:prstDash val="solid"/>
            <a:round/>
            <a:headEnd type="none" w="med" len="med"/>
            <a:tailEnd type="triangle" w="med" len="med"/>
          </a:ln>
        </p:spPr>
      </p:cxnSp>
      <p:sp>
        <p:nvSpPr>
          <p:cNvPr id="481" name="Google Shape;953;p28">
            <a:extLst>
              <a:ext uri="{FF2B5EF4-FFF2-40B4-BE49-F238E27FC236}">
                <a16:creationId xmlns:a16="http://schemas.microsoft.com/office/drawing/2014/main" id="{6CA7AC93-254B-4425-8E5F-470382B54A60}"/>
              </a:ext>
            </a:extLst>
          </p:cNvPr>
          <p:cNvSpPr txBox="1"/>
          <p:nvPr/>
        </p:nvSpPr>
        <p:spPr>
          <a:xfrm>
            <a:off x="3601003" y="3053289"/>
            <a:ext cx="787512" cy="79129"/>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a:latin typeface="微软雅黑" panose="020B0503020204020204" pitchFamily="34" charset="-122"/>
                <a:ea typeface="微软雅黑" panose="020B0503020204020204" pitchFamily="34" charset="-122"/>
                <a:cs typeface="Consolas"/>
                <a:sym typeface="Consolas"/>
              </a:rPr>
              <a:t>×(1+</a:t>
            </a:r>
            <a:r>
              <a:rPr lang="en-US" altLang="zh-CN"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r>
              <a:rPr lang="en-US" altLang="zh-CN" sz="400" dirty="0">
                <a:latin typeface="微软雅黑" panose="020B0503020204020204" pitchFamily="34" charset="-122"/>
                <a:ea typeface="微软雅黑" panose="020B0503020204020204" pitchFamily="34" charset="-122"/>
                <a:cs typeface="Consolas"/>
                <a:sym typeface="Consolas"/>
              </a:rPr>
              <a:t>)</a:t>
            </a:r>
            <a:endParaRPr sz="400" dirty="0">
              <a:latin typeface="微软雅黑" panose="020B0503020204020204" pitchFamily="34" charset="-122"/>
              <a:ea typeface="微软雅黑" panose="020B0503020204020204" pitchFamily="34" charset="-122"/>
              <a:cs typeface="Consolas"/>
              <a:sym typeface="Consolas"/>
            </a:endParaRPr>
          </a:p>
        </p:txBody>
      </p:sp>
      <p:sp>
        <p:nvSpPr>
          <p:cNvPr id="491" name="Google Shape;953;p28">
            <a:extLst>
              <a:ext uri="{FF2B5EF4-FFF2-40B4-BE49-F238E27FC236}">
                <a16:creationId xmlns:a16="http://schemas.microsoft.com/office/drawing/2014/main" id="{237774A4-7AF2-D7C2-0D98-354DDE8AE1D0}"/>
              </a:ext>
            </a:extLst>
          </p:cNvPr>
          <p:cNvSpPr txBox="1"/>
          <p:nvPr/>
        </p:nvSpPr>
        <p:spPr>
          <a:xfrm>
            <a:off x="3594432" y="3485811"/>
            <a:ext cx="697146" cy="75047"/>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err="1">
                <a:latin typeface="微软雅黑" panose="020B0503020204020204" pitchFamily="34" charset="-122"/>
                <a:ea typeface="微软雅黑" panose="020B0503020204020204" pitchFamily="34" charset="-122"/>
                <a:cs typeface="Consolas"/>
                <a:sym typeface="Consolas"/>
              </a:rPr>
              <a:t>×</a:t>
            </a:r>
            <a:r>
              <a:rPr lang="en-US" altLang="zh-CN" sz="4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sp>
        <p:nvSpPr>
          <p:cNvPr id="492" name="Google Shape;953;p28">
            <a:extLst>
              <a:ext uri="{FF2B5EF4-FFF2-40B4-BE49-F238E27FC236}">
                <a16:creationId xmlns:a16="http://schemas.microsoft.com/office/drawing/2014/main" id="{A3643508-FD91-CCCA-04A2-83F7329170FB}"/>
              </a:ext>
            </a:extLst>
          </p:cNvPr>
          <p:cNvSpPr txBox="1"/>
          <p:nvPr/>
        </p:nvSpPr>
        <p:spPr>
          <a:xfrm>
            <a:off x="3568113" y="3912152"/>
            <a:ext cx="697146" cy="97949"/>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2</a:t>
            </a:r>
            <a:r>
              <a:rPr lang="en" sz="400" dirty="0">
                <a:latin typeface="微软雅黑" panose="020B0503020204020204" pitchFamily="34" charset="-122"/>
                <a:ea typeface="微软雅黑" panose="020B0503020204020204" pitchFamily="34" charset="-122"/>
                <a:cs typeface="Consolas"/>
                <a:sym typeface="Consolas"/>
              </a:rPr>
              <a:t>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err="1">
                <a:latin typeface="微软雅黑" panose="020B0503020204020204" pitchFamily="34" charset="-122"/>
                <a:ea typeface="微软雅黑" panose="020B0503020204020204" pitchFamily="34" charset="-122"/>
                <a:cs typeface="Consolas"/>
                <a:sym typeface="Consolas"/>
              </a:rPr>
              <a:t>×</a:t>
            </a:r>
            <a:r>
              <a:rPr lang="en-US" altLang="zh-CN" sz="4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sp>
        <p:nvSpPr>
          <p:cNvPr id="493" name="Google Shape;953;p28">
            <a:extLst>
              <a:ext uri="{FF2B5EF4-FFF2-40B4-BE49-F238E27FC236}">
                <a16:creationId xmlns:a16="http://schemas.microsoft.com/office/drawing/2014/main" id="{C015CB49-04C7-13CC-E850-6A5EB6F535B1}"/>
              </a:ext>
            </a:extLst>
          </p:cNvPr>
          <p:cNvSpPr txBox="1"/>
          <p:nvPr/>
        </p:nvSpPr>
        <p:spPr>
          <a:xfrm>
            <a:off x="3549250" y="2510537"/>
            <a:ext cx="647973" cy="8302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94" name="Google Shape;953;p28">
            <a:extLst>
              <a:ext uri="{FF2B5EF4-FFF2-40B4-BE49-F238E27FC236}">
                <a16:creationId xmlns:a16="http://schemas.microsoft.com/office/drawing/2014/main" id="{854D03B3-B781-CC82-DD9F-726F88828A2B}"/>
              </a:ext>
            </a:extLst>
          </p:cNvPr>
          <p:cNvSpPr txBox="1"/>
          <p:nvPr/>
        </p:nvSpPr>
        <p:spPr>
          <a:xfrm>
            <a:off x="5915948" y="4168828"/>
            <a:ext cx="876969" cy="13197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a:latin typeface="微软雅黑" panose="020B0503020204020204" pitchFamily="34" charset="-122"/>
                <a:ea typeface="微软雅黑" panose="020B0503020204020204" pitchFamily="34" charset="-122"/>
                <a:cs typeface="Consolas"/>
                <a:sym typeface="Consolas"/>
              </a:rPr>
              <a:t>×(1+</a:t>
            </a:r>
            <a:r>
              <a:rPr lang="en-US" altLang="zh-CN"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r>
              <a:rPr lang="en-US" altLang="zh-CN" sz="400" dirty="0">
                <a:latin typeface="微软雅黑" panose="020B0503020204020204" pitchFamily="34" charset="-122"/>
                <a:ea typeface="微软雅黑" panose="020B0503020204020204" pitchFamily="34" charset="-122"/>
                <a:cs typeface="Consolas"/>
                <a:sym typeface="Consolas"/>
              </a:rPr>
              <a:t>)</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sp>
        <p:nvSpPr>
          <p:cNvPr id="495" name="Google Shape;953;p28">
            <a:extLst>
              <a:ext uri="{FF2B5EF4-FFF2-40B4-BE49-F238E27FC236}">
                <a16:creationId xmlns:a16="http://schemas.microsoft.com/office/drawing/2014/main" id="{E8532F53-DF6E-46C7-A7E1-A183024A2904}"/>
              </a:ext>
            </a:extLst>
          </p:cNvPr>
          <p:cNvSpPr txBox="1"/>
          <p:nvPr/>
        </p:nvSpPr>
        <p:spPr>
          <a:xfrm>
            <a:off x="5915948" y="3747972"/>
            <a:ext cx="728520" cy="86840"/>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96" name="Google Shape;953;p28">
            <a:extLst>
              <a:ext uri="{FF2B5EF4-FFF2-40B4-BE49-F238E27FC236}">
                <a16:creationId xmlns:a16="http://schemas.microsoft.com/office/drawing/2014/main" id="{51172FA7-FA6C-9911-2C09-D40238C1F7E9}"/>
              </a:ext>
            </a:extLst>
          </p:cNvPr>
          <p:cNvSpPr txBox="1"/>
          <p:nvPr/>
        </p:nvSpPr>
        <p:spPr>
          <a:xfrm>
            <a:off x="3557140" y="1086514"/>
            <a:ext cx="647973" cy="8302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768</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97" name="Google Shape;953;p28">
            <a:extLst>
              <a:ext uri="{FF2B5EF4-FFF2-40B4-BE49-F238E27FC236}">
                <a16:creationId xmlns:a16="http://schemas.microsoft.com/office/drawing/2014/main" id="{5A57E45B-DFD2-085C-BD62-E3C90A0A42C2}"/>
              </a:ext>
            </a:extLst>
          </p:cNvPr>
          <p:cNvSpPr txBox="1"/>
          <p:nvPr/>
        </p:nvSpPr>
        <p:spPr>
          <a:xfrm>
            <a:off x="5952854" y="2280713"/>
            <a:ext cx="728520" cy="71025"/>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4</a:t>
            </a:r>
            <a:r>
              <a:rPr lang="en" sz="400" dirty="0">
                <a:latin typeface="微软雅黑" panose="020B0503020204020204" pitchFamily="34" charset="-122"/>
                <a:ea typeface="微软雅黑" panose="020B0503020204020204" pitchFamily="34" charset="-122"/>
                <a:cs typeface="Consolas"/>
                <a:sym typeface="Consolas"/>
              </a:rPr>
              <a:t>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768</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498" name="Google Shape;953;p28">
            <a:extLst>
              <a:ext uri="{FF2B5EF4-FFF2-40B4-BE49-F238E27FC236}">
                <a16:creationId xmlns:a16="http://schemas.microsoft.com/office/drawing/2014/main" id="{D027A197-75A1-A4A7-0B93-90E9EAFB3AC6}"/>
              </a:ext>
            </a:extLst>
          </p:cNvPr>
          <p:cNvSpPr txBox="1"/>
          <p:nvPr/>
        </p:nvSpPr>
        <p:spPr>
          <a:xfrm>
            <a:off x="5956525" y="1937006"/>
            <a:ext cx="728520" cy="74317"/>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4</a:t>
            </a:r>
            <a:r>
              <a:rPr lang="en" sz="400" dirty="0">
                <a:latin typeface="微软雅黑" panose="020B0503020204020204" pitchFamily="34" charset="-122"/>
                <a:ea typeface="微软雅黑" panose="020B0503020204020204" pitchFamily="34" charset="-122"/>
                <a:cs typeface="Consolas"/>
                <a:sym typeface="Consolas"/>
              </a:rPr>
              <a:t>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256</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517" name="Google Shape;953;p28">
            <a:extLst>
              <a:ext uri="{FF2B5EF4-FFF2-40B4-BE49-F238E27FC236}">
                <a16:creationId xmlns:a16="http://schemas.microsoft.com/office/drawing/2014/main" id="{6EA2FE19-9223-08B8-1B15-881CFF6ED912}"/>
              </a:ext>
            </a:extLst>
          </p:cNvPr>
          <p:cNvSpPr txBox="1"/>
          <p:nvPr/>
        </p:nvSpPr>
        <p:spPr>
          <a:xfrm>
            <a:off x="5952854" y="939809"/>
            <a:ext cx="728520" cy="74317"/>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256</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cxnSp>
        <p:nvCxnSpPr>
          <p:cNvPr id="518" name="Google Shape;394;p22">
            <a:extLst>
              <a:ext uri="{FF2B5EF4-FFF2-40B4-BE49-F238E27FC236}">
                <a16:creationId xmlns:a16="http://schemas.microsoft.com/office/drawing/2014/main" id="{DB31270B-355C-CBD0-D55E-129400F9182A}"/>
              </a:ext>
            </a:extLst>
          </p:cNvPr>
          <p:cNvCxnSpPr>
            <a:cxnSpLocks/>
            <a:stCxn id="820" idx="2"/>
            <a:endCxn id="700" idx="0"/>
          </p:cNvCxnSpPr>
          <p:nvPr/>
        </p:nvCxnSpPr>
        <p:spPr>
          <a:xfrm flipH="1">
            <a:off x="5886438" y="1384963"/>
            <a:ext cx="9254" cy="184399"/>
          </a:xfrm>
          <a:prstGeom prst="straightConnector1">
            <a:avLst/>
          </a:prstGeom>
          <a:noFill/>
          <a:ln w="9525" cap="flat" cmpd="sng">
            <a:solidFill>
              <a:schemeClr val="dk2"/>
            </a:solidFill>
            <a:prstDash val="solid"/>
            <a:round/>
            <a:headEnd type="none" w="med" len="med"/>
            <a:tailEnd type="triangle" w="med" len="med"/>
          </a:ln>
        </p:spPr>
      </p:cxnSp>
      <p:sp>
        <p:nvSpPr>
          <p:cNvPr id="519" name="Google Shape;953;p28">
            <a:extLst>
              <a:ext uri="{FF2B5EF4-FFF2-40B4-BE49-F238E27FC236}">
                <a16:creationId xmlns:a16="http://schemas.microsoft.com/office/drawing/2014/main" id="{92EE4154-9044-7254-A612-0FD0D0833B24}"/>
              </a:ext>
            </a:extLst>
          </p:cNvPr>
          <p:cNvSpPr txBox="1"/>
          <p:nvPr/>
        </p:nvSpPr>
        <p:spPr>
          <a:xfrm>
            <a:off x="3568113" y="1515775"/>
            <a:ext cx="647973" cy="8302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cxnSp>
        <p:nvCxnSpPr>
          <p:cNvPr id="520" name="Google Shape;394;p22">
            <a:extLst>
              <a:ext uri="{FF2B5EF4-FFF2-40B4-BE49-F238E27FC236}">
                <a16:creationId xmlns:a16="http://schemas.microsoft.com/office/drawing/2014/main" id="{23AFCAB7-9015-6F98-6695-DF7CF6498D76}"/>
              </a:ext>
            </a:extLst>
          </p:cNvPr>
          <p:cNvCxnSpPr>
            <a:cxnSpLocks/>
            <a:stCxn id="704" idx="0"/>
            <a:endCxn id="707" idx="2"/>
          </p:cNvCxnSpPr>
          <p:nvPr/>
        </p:nvCxnSpPr>
        <p:spPr>
          <a:xfrm flipH="1" flipV="1">
            <a:off x="3504590" y="1375580"/>
            <a:ext cx="10973" cy="244882"/>
          </a:xfrm>
          <a:prstGeom prst="straightConnector1">
            <a:avLst/>
          </a:prstGeom>
          <a:noFill/>
          <a:ln w="9525" cap="flat" cmpd="sng">
            <a:solidFill>
              <a:schemeClr val="dk2"/>
            </a:solidFill>
            <a:prstDash val="solid"/>
            <a:round/>
            <a:headEnd type="none" w="med" len="med"/>
            <a:tailEnd type="triangle" w="med" len="med"/>
          </a:ln>
        </p:spPr>
      </p:cxnSp>
      <p:cxnSp>
        <p:nvCxnSpPr>
          <p:cNvPr id="522" name="Google Shape;394;p22">
            <a:extLst>
              <a:ext uri="{FF2B5EF4-FFF2-40B4-BE49-F238E27FC236}">
                <a16:creationId xmlns:a16="http://schemas.microsoft.com/office/drawing/2014/main" id="{D2AF5A80-47AF-4B6A-4EE4-6EDF8AE8BACD}"/>
              </a:ext>
            </a:extLst>
          </p:cNvPr>
          <p:cNvCxnSpPr>
            <a:cxnSpLocks/>
            <a:stCxn id="580" idx="2"/>
            <a:endCxn id="809" idx="0"/>
          </p:cNvCxnSpPr>
          <p:nvPr/>
        </p:nvCxnSpPr>
        <p:spPr>
          <a:xfrm flipH="1">
            <a:off x="5873773" y="2644169"/>
            <a:ext cx="12664" cy="190888"/>
          </a:xfrm>
          <a:prstGeom prst="straightConnector1">
            <a:avLst/>
          </a:prstGeom>
          <a:noFill/>
          <a:ln w="9525" cap="flat" cmpd="sng">
            <a:solidFill>
              <a:schemeClr val="dk2"/>
            </a:solidFill>
            <a:prstDash val="solid"/>
            <a:round/>
            <a:headEnd type="none" w="med" len="med"/>
            <a:tailEnd type="triangle" w="med" len="med"/>
          </a:ln>
        </p:spPr>
      </p:cxnSp>
      <p:sp>
        <p:nvSpPr>
          <p:cNvPr id="523" name="Google Shape;953;p28">
            <a:extLst>
              <a:ext uri="{FF2B5EF4-FFF2-40B4-BE49-F238E27FC236}">
                <a16:creationId xmlns:a16="http://schemas.microsoft.com/office/drawing/2014/main" id="{D8304A51-F52D-9877-9587-4CD9232C434F}"/>
              </a:ext>
            </a:extLst>
          </p:cNvPr>
          <p:cNvSpPr txBox="1"/>
          <p:nvPr/>
        </p:nvSpPr>
        <p:spPr>
          <a:xfrm>
            <a:off x="5952854" y="2738455"/>
            <a:ext cx="728520" cy="85764"/>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524" name="Google Shape;953;p28">
            <a:extLst>
              <a:ext uri="{FF2B5EF4-FFF2-40B4-BE49-F238E27FC236}">
                <a16:creationId xmlns:a16="http://schemas.microsoft.com/office/drawing/2014/main" id="{B8884DFB-FC15-270B-B500-0882281F2AF4}"/>
              </a:ext>
            </a:extLst>
          </p:cNvPr>
          <p:cNvSpPr txBox="1"/>
          <p:nvPr/>
        </p:nvSpPr>
        <p:spPr>
          <a:xfrm>
            <a:off x="4648442" y="4107946"/>
            <a:ext cx="728520" cy="7806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err="1">
                <a:latin typeface="微软雅黑" panose="020B0503020204020204" pitchFamily="34" charset="-122"/>
                <a:ea typeface="微软雅黑" panose="020B0503020204020204" pitchFamily="34" charset="-122"/>
                <a:cs typeface="Consolas"/>
                <a:sym typeface="Consolas"/>
              </a:rPr>
              <a:t>×</a:t>
            </a:r>
            <a:r>
              <a:rPr lang="en-US" altLang="zh-CN" sz="4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sp>
        <p:nvSpPr>
          <p:cNvPr id="526" name="Google Shape;953;p28">
            <a:extLst>
              <a:ext uri="{FF2B5EF4-FFF2-40B4-BE49-F238E27FC236}">
                <a16:creationId xmlns:a16="http://schemas.microsoft.com/office/drawing/2014/main" id="{A7DB40B4-723C-2E53-BB24-D696A77704CB}"/>
              </a:ext>
            </a:extLst>
          </p:cNvPr>
          <p:cNvSpPr txBox="1"/>
          <p:nvPr/>
        </p:nvSpPr>
        <p:spPr>
          <a:xfrm>
            <a:off x="4465571" y="2279200"/>
            <a:ext cx="582541" cy="75480"/>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cxnSp>
        <p:nvCxnSpPr>
          <p:cNvPr id="527" name="Google Shape;394;p22">
            <a:extLst>
              <a:ext uri="{FF2B5EF4-FFF2-40B4-BE49-F238E27FC236}">
                <a16:creationId xmlns:a16="http://schemas.microsoft.com/office/drawing/2014/main" id="{751BF138-E8EC-DC04-7B18-BE9FE8BABCDD}"/>
              </a:ext>
            </a:extLst>
          </p:cNvPr>
          <p:cNvCxnSpPr>
            <a:cxnSpLocks/>
            <a:stCxn id="585" idx="3"/>
            <a:endCxn id="695" idx="1"/>
          </p:cNvCxnSpPr>
          <p:nvPr/>
        </p:nvCxnSpPr>
        <p:spPr>
          <a:xfrm flipV="1">
            <a:off x="4189039" y="2093835"/>
            <a:ext cx="1002692" cy="653731"/>
          </a:xfrm>
          <a:prstGeom prst="straightConnector1">
            <a:avLst/>
          </a:prstGeom>
          <a:noFill/>
          <a:ln w="9525" cap="flat" cmpd="sng">
            <a:solidFill>
              <a:schemeClr val="dk2"/>
            </a:solidFill>
            <a:prstDash val="solid"/>
            <a:round/>
            <a:headEnd type="none" w="med" len="med"/>
            <a:tailEnd type="triangle" w="med" len="med"/>
          </a:ln>
        </p:spPr>
      </p:cxnSp>
      <p:grpSp>
        <p:nvGrpSpPr>
          <p:cNvPr id="529" name="组合 240">
            <a:extLst>
              <a:ext uri="{FF2B5EF4-FFF2-40B4-BE49-F238E27FC236}">
                <a16:creationId xmlns:a16="http://schemas.microsoft.com/office/drawing/2014/main" id="{DB6AA454-E56C-002F-4113-5079375FD422}"/>
              </a:ext>
            </a:extLst>
          </p:cNvPr>
          <p:cNvGrpSpPr/>
          <p:nvPr/>
        </p:nvGrpSpPr>
        <p:grpSpPr>
          <a:xfrm>
            <a:off x="2820793" y="670892"/>
            <a:ext cx="1433708" cy="314854"/>
            <a:chOff x="8243120" y="5408533"/>
            <a:chExt cx="2085552" cy="594917"/>
          </a:xfrm>
        </p:grpSpPr>
        <p:sp>
          <p:nvSpPr>
            <p:cNvPr id="648" name="Google Shape;385;p22">
              <a:extLst>
                <a:ext uri="{FF2B5EF4-FFF2-40B4-BE49-F238E27FC236}">
                  <a16:creationId xmlns:a16="http://schemas.microsoft.com/office/drawing/2014/main" id="{E15E2CE0-1D67-00E0-28E2-450372E9C48E}"/>
                </a:ext>
              </a:extLst>
            </p:cNvPr>
            <p:cNvSpPr/>
            <p:nvPr/>
          </p:nvSpPr>
          <p:spPr>
            <a:xfrm>
              <a:off x="8243120" y="5408533"/>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shortcut=False, </a:t>
              </a:r>
              <a:r>
                <a:rPr lang="en-US" altLang="zh-CN" sz="500" dirty="0">
                  <a:solidFill>
                    <a:srgbClr val="0070C0"/>
                  </a:solidFill>
                  <a:latin typeface="微软雅黑" panose="020B0503020204020204" pitchFamily="34" charset="-122"/>
                  <a:ea typeface="微软雅黑" panose="020B0503020204020204" pitchFamily="34" charset="-122"/>
                </a:rPr>
                <a:t>n=3×d</a:t>
              </a:r>
              <a:endParaRPr sz="500" dirty="0">
                <a:solidFill>
                  <a:srgbClr val="0070C0"/>
                </a:solidFill>
                <a:latin typeface="微软雅黑" panose="020B0503020204020204" pitchFamily="34" charset="-122"/>
                <a:ea typeface="微软雅黑" panose="020B0503020204020204" pitchFamily="34" charset="-122"/>
              </a:endParaRPr>
            </a:p>
          </p:txBody>
        </p:sp>
        <p:cxnSp>
          <p:nvCxnSpPr>
            <p:cNvPr id="649" name="直接连接符 769">
              <a:extLst>
                <a:ext uri="{FF2B5EF4-FFF2-40B4-BE49-F238E27FC236}">
                  <a16:creationId xmlns:a16="http://schemas.microsoft.com/office/drawing/2014/main" id="{59B7D0CE-B42D-E265-7B3E-C97965988EA9}"/>
                </a:ext>
              </a:extLst>
            </p:cNvPr>
            <p:cNvCxnSpPr>
              <a:cxnSpLocks/>
            </p:cNvCxnSpPr>
            <p:nvPr/>
          </p:nvCxnSpPr>
          <p:spPr>
            <a:xfrm>
              <a:off x="9989048" y="5408533"/>
              <a:ext cx="0" cy="508577"/>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50" name="文本框 770">
              <a:extLst>
                <a:ext uri="{FF2B5EF4-FFF2-40B4-BE49-F238E27FC236}">
                  <a16:creationId xmlns:a16="http://schemas.microsoft.com/office/drawing/2014/main" id="{00E7CD26-4FDB-A231-CD2F-D8646DFBD730}"/>
                </a:ext>
              </a:extLst>
            </p:cNvPr>
            <p:cNvSpPr txBox="1"/>
            <p:nvPr/>
          </p:nvSpPr>
          <p:spPr>
            <a:xfrm>
              <a:off x="9924283" y="5433684"/>
              <a:ext cx="404389" cy="319849"/>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15</a:t>
              </a:r>
            </a:p>
          </p:txBody>
        </p:sp>
        <p:cxnSp>
          <p:nvCxnSpPr>
            <p:cNvPr id="651" name="直接连接符 771">
              <a:extLst>
                <a:ext uri="{FF2B5EF4-FFF2-40B4-BE49-F238E27FC236}">
                  <a16:creationId xmlns:a16="http://schemas.microsoft.com/office/drawing/2014/main" id="{C6F0CB38-7900-5F6D-45B4-0B1CDE543063}"/>
                </a:ext>
              </a:extLst>
            </p:cNvPr>
            <p:cNvCxnSpPr>
              <a:cxnSpLocks/>
            </p:cNvCxnSpPr>
            <p:nvPr/>
          </p:nvCxnSpPr>
          <p:spPr>
            <a:xfrm>
              <a:off x="9991194" y="5668369"/>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52" name="文本框 777">
              <a:extLst>
                <a:ext uri="{FF2B5EF4-FFF2-40B4-BE49-F238E27FC236}">
                  <a16:creationId xmlns:a16="http://schemas.microsoft.com/office/drawing/2014/main" id="{F1D3A09F-79D0-0B22-EC72-5CB2ECA989B5}"/>
                </a:ext>
              </a:extLst>
            </p:cNvPr>
            <p:cNvSpPr txBox="1"/>
            <p:nvPr/>
          </p:nvSpPr>
          <p:spPr>
            <a:xfrm>
              <a:off x="9924283" y="5683601"/>
              <a:ext cx="404389" cy="319849"/>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P3</a:t>
              </a:r>
            </a:p>
          </p:txBody>
        </p:sp>
      </p:grpSp>
      <p:grpSp>
        <p:nvGrpSpPr>
          <p:cNvPr id="531" name="组合 841">
            <a:extLst>
              <a:ext uri="{FF2B5EF4-FFF2-40B4-BE49-F238E27FC236}">
                <a16:creationId xmlns:a16="http://schemas.microsoft.com/office/drawing/2014/main" id="{5DB57FD1-B2BA-531F-851C-99F2A7A3BEF4}"/>
              </a:ext>
            </a:extLst>
          </p:cNvPr>
          <p:cNvGrpSpPr/>
          <p:nvPr/>
        </p:nvGrpSpPr>
        <p:grpSpPr>
          <a:xfrm>
            <a:off x="5179839" y="4279268"/>
            <a:ext cx="1433708" cy="314854"/>
            <a:chOff x="8243120" y="5408533"/>
            <a:chExt cx="2085552" cy="594917"/>
          </a:xfrm>
        </p:grpSpPr>
        <p:sp>
          <p:nvSpPr>
            <p:cNvPr id="643" name="Google Shape;385;p22">
              <a:extLst>
                <a:ext uri="{FF2B5EF4-FFF2-40B4-BE49-F238E27FC236}">
                  <a16:creationId xmlns:a16="http://schemas.microsoft.com/office/drawing/2014/main" id="{81E7628B-B68F-0907-FE3B-E615027B8840}"/>
                </a:ext>
              </a:extLst>
            </p:cNvPr>
            <p:cNvSpPr/>
            <p:nvPr/>
          </p:nvSpPr>
          <p:spPr>
            <a:xfrm>
              <a:off x="8243120" y="5408533"/>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shortcut=False, </a:t>
              </a:r>
              <a:r>
                <a:rPr lang="en-US" altLang="zh-CN" sz="500" dirty="0">
                  <a:solidFill>
                    <a:srgbClr val="0070C0"/>
                  </a:solidFill>
                  <a:latin typeface="微软雅黑" panose="020B0503020204020204" pitchFamily="34" charset="-122"/>
                  <a:ea typeface="微软雅黑" panose="020B0503020204020204" pitchFamily="34" charset="-122"/>
                </a:rPr>
                <a:t>n=3×d</a:t>
              </a:r>
            </a:p>
          </p:txBody>
        </p:sp>
        <p:cxnSp>
          <p:nvCxnSpPr>
            <p:cNvPr id="644" name="直接连接符 843">
              <a:extLst>
                <a:ext uri="{FF2B5EF4-FFF2-40B4-BE49-F238E27FC236}">
                  <a16:creationId xmlns:a16="http://schemas.microsoft.com/office/drawing/2014/main" id="{BE7ED592-0C16-F795-2503-8E11AAE29BEE}"/>
                </a:ext>
              </a:extLst>
            </p:cNvPr>
            <p:cNvCxnSpPr>
              <a:cxnSpLocks/>
            </p:cNvCxnSpPr>
            <p:nvPr/>
          </p:nvCxnSpPr>
          <p:spPr>
            <a:xfrm>
              <a:off x="9989048" y="5411800"/>
              <a:ext cx="0" cy="50531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45" name="文本框 844">
              <a:extLst>
                <a:ext uri="{FF2B5EF4-FFF2-40B4-BE49-F238E27FC236}">
                  <a16:creationId xmlns:a16="http://schemas.microsoft.com/office/drawing/2014/main" id="{8BD6B7A9-CF1A-FA19-F068-115D9492E323}"/>
                </a:ext>
              </a:extLst>
            </p:cNvPr>
            <p:cNvSpPr txBox="1"/>
            <p:nvPr/>
          </p:nvSpPr>
          <p:spPr>
            <a:xfrm>
              <a:off x="9924283" y="5433684"/>
              <a:ext cx="404389" cy="319849"/>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21</a:t>
              </a:r>
            </a:p>
          </p:txBody>
        </p:sp>
        <p:cxnSp>
          <p:nvCxnSpPr>
            <p:cNvPr id="646" name="直接连接符 845">
              <a:extLst>
                <a:ext uri="{FF2B5EF4-FFF2-40B4-BE49-F238E27FC236}">
                  <a16:creationId xmlns:a16="http://schemas.microsoft.com/office/drawing/2014/main" id="{9923A594-8042-6C1B-06CF-BEA32862039A}"/>
                </a:ext>
              </a:extLst>
            </p:cNvPr>
            <p:cNvCxnSpPr>
              <a:cxnSpLocks/>
            </p:cNvCxnSpPr>
            <p:nvPr/>
          </p:nvCxnSpPr>
          <p:spPr>
            <a:xfrm>
              <a:off x="9991194" y="5668369"/>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47" name="文本框 846">
              <a:extLst>
                <a:ext uri="{FF2B5EF4-FFF2-40B4-BE49-F238E27FC236}">
                  <a16:creationId xmlns:a16="http://schemas.microsoft.com/office/drawing/2014/main" id="{3CB65233-5D72-EE6C-FB7E-25E6FFC87A52}"/>
                </a:ext>
              </a:extLst>
            </p:cNvPr>
            <p:cNvSpPr txBox="1"/>
            <p:nvPr/>
          </p:nvSpPr>
          <p:spPr>
            <a:xfrm>
              <a:off x="9924283" y="5683601"/>
              <a:ext cx="404389" cy="319849"/>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P5</a:t>
              </a:r>
            </a:p>
          </p:txBody>
        </p:sp>
      </p:grpSp>
      <p:cxnSp>
        <p:nvCxnSpPr>
          <p:cNvPr id="534" name="Google Shape;394;p22">
            <a:extLst>
              <a:ext uri="{FF2B5EF4-FFF2-40B4-BE49-F238E27FC236}">
                <a16:creationId xmlns:a16="http://schemas.microsoft.com/office/drawing/2014/main" id="{1D98C35F-CC6E-B488-A421-4037AEC5E222}"/>
              </a:ext>
            </a:extLst>
          </p:cNvPr>
          <p:cNvCxnSpPr>
            <a:cxnSpLocks/>
            <a:stCxn id="710" idx="0"/>
            <a:endCxn id="713" idx="2"/>
          </p:cNvCxnSpPr>
          <p:nvPr/>
        </p:nvCxnSpPr>
        <p:spPr>
          <a:xfrm flipV="1">
            <a:off x="3496702" y="3340109"/>
            <a:ext cx="5168" cy="261516"/>
          </a:xfrm>
          <a:prstGeom prst="straightConnector1">
            <a:avLst/>
          </a:prstGeom>
          <a:noFill/>
          <a:ln w="9525" cap="flat" cmpd="sng">
            <a:solidFill>
              <a:schemeClr val="dk2"/>
            </a:solidFill>
            <a:prstDash val="solid"/>
            <a:round/>
            <a:headEnd type="none" w="med" len="med"/>
            <a:tailEnd type="triangle" w="med" len="med"/>
          </a:ln>
        </p:spPr>
      </p:cxnSp>
      <p:grpSp>
        <p:nvGrpSpPr>
          <p:cNvPr id="560" name="组合 759">
            <a:extLst>
              <a:ext uri="{FF2B5EF4-FFF2-40B4-BE49-F238E27FC236}">
                <a16:creationId xmlns:a16="http://schemas.microsoft.com/office/drawing/2014/main" id="{FC270451-5126-A55F-FDAD-C2E8E2FBA5DA}"/>
              </a:ext>
            </a:extLst>
          </p:cNvPr>
          <p:cNvGrpSpPr/>
          <p:nvPr/>
        </p:nvGrpSpPr>
        <p:grpSpPr>
          <a:xfrm>
            <a:off x="2804347" y="2612120"/>
            <a:ext cx="1433708" cy="270892"/>
            <a:chOff x="780535" y="4718306"/>
            <a:chExt cx="2085552" cy="511850"/>
          </a:xfrm>
        </p:grpSpPr>
        <p:sp>
          <p:nvSpPr>
            <p:cNvPr id="585" name="Google Shape;385;p22">
              <a:extLst>
                <a:ext uri="{FF2B5EF4-FFF2-40B4-BE49-F238E27FC236}">
                  <a16:creationId xmlns:a16="http://schemas.microsoft.com/office/drawing/2014/main" id="{909F6632-CC89-3828-B5AB-1E298B640DED}"/>
                </a:ext>
              </a:extLst>
            </p:cNvPr>
            <p:cNvSpPr/>
            <p:nvPr/>
          </p:nvSpPr>
          <p:spPr>
            <a:xfrm>
              <a:off x="780535" y="4718306"/>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shortcut=False</a:t>
              </a:r>
              <a:r>
                <a:rPr lang="en-US" sz="500" dirty="0">
                  <a:solidFill>
                    <a:srgbClr val="404040"/>
                  </a:solidFill>
                  <a:latin typeface="微软雅黑" panose="020B0503020204020204" pitchFamily="34" charset="-122"/>
                  <a:ea typeface="微软雅黑" panose="020B0503020204020204" pitchFamily="34" charset="-122"/>
                </a:rPr>
                <a:t>,</a:t>
              </a:r>
              <a:r>
                <a:rPr lang="zh-CN" altLang="en-US" sz="500" dirty="0">
                  <a:solidFill>
                    <a:srgbClr val="404040"/>
                  </a:solidFill>
                  <a:latin typeface="微软雅黑" panose="020B0503020204020204" pitchFamily="34" charset="-122"/>
                  <a:ea typeface="微软雅黑" panose="020B0503020204020204" pitchFamily="34" charset="-122"/>
                </a:rPr>
                <a:t> </a:t>
              </a:r>
              <a:r>
                <a:rPr lang="en-US" altLang="zh-CN" sz="500" dirty="0">
                  <a:solidFill>
                    <a:srgbClr val="0070C0"/>
                  </a:solidFill>
                  <a:latin typeface="微软雅黑" panose="020B0503020204020204" pitchFamily="34" charset="-122"/>
                  <a:ea typeface="微软雅黑" panose="020B0503020204020204" pitchFamily="34" charset="-122"/>
                </a:rPr>
                <a:t>n=3×d</a:t>
              </a:r>
              <a:endParaRPr sz="500" dirty="0">
                <a:solidFill>
                  <a:srgbClr val="0070C0"/>
                </a:solidFill>
                <a:latin typeface="微软雅黑" panose="020B0503020204020204" pitchFamily="34" charset="-122"/>
                <a:ea typeface="微软雅黑" panose="020B0503020204020204" pitchFamily="34" charset="-122"/>
              </a:endParaRPr>
            </a:p>
          </p:txBody>
        </p:sp>
        <p:cxnSp>
          <p:nvCxnSpPr>
            <p:cNvPr id="586" name="直接连接符 761">
              <a:extLst>
                <a:ext uri="{FF2B5EF4-FFF2-40B4-BE49-F238E27FC236}">
                  <a16:creationId xmlns:a16="http://schemas.microsoft.com/office/drawing/2014/main" id="{8C279F1F-9305-1345-2BB5-A7D3493E5A3B}"/>
                </a:ext>
              </a:extLst>
            </p:cNvPr>
            <p:cNvCxnSpPr>
              <a:cxnSpLocks/>
            </p:cNvCxnSpPr>
            <p:nvPr/>
          </p:nvCxnSpPr>
          <p:spPr>
            <a:xfrm>
              <a:off x="2526463" y="4718306"/>
              <a:ext cx="0" cy="508577"/>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7" name="文本框 762">
              <a:extLst>
                <a:ext uri="{FF2B5EF4-FFF2-40B4-BE49-F238E27FC236}">
                  <a16:creationId xmlns:a16="http://schemas.microsoft.com/office/drawing/2014/main" id="{CD41FCC7-43BA-7584-7C7B-84CCB943EACF}"/>
                </a:ext>
              </a:extLst>
            </p:cNvPr>
            <p:cNvSpPr txBox="1"/>
            <p:nvPr/>
          </p:nvSpPr>
          <p:spPr>
            <a:xfrm>
              <a:off x="2461698" y="4740736"/>
              <a:ext cx="404389" cy="319849"/>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12</a:t>
              </a:r>
            </a:p>
          </p:txBody>
        </p:sp>
        <p:cxnSp>
          <p:nvCxnSpPr>
            <p:cNvPr id="588" name="直接连接符 763">
              <a:extLst>
                <a:ext uri="{FF2B5EF4-FFF2-40B4-BE49-F238E27FC236}">
                  <a16:creationId xmlns:a16="http://schemas.microsoft.com/office/drawing/2014/main" id="{B8CCF00D-2F70-4560-3BDD-5570829F2479}"/>
                </a:ext>
              </a:extLst>
            </p:cNvPr>
            <p:cNvCxnSpPr>
              <a:cxnSpLocks/>
            </p:cNvCxnSpPr>
            <p:nvPr/>
          </p:nvCxnSpPr>
          <p:spPr>
            <a:xfrm>
              <a:off x="2528609" y="4978142"/>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grpSp>
      <p:grpSp>
        <p:nvGrpSpPr>
          <p:cNvPr id="564" name="组合 803">
            <a:extLst>
              <a:ext uri="{FF2B5EF4-FFF2-40B4-BE49-F238E27FC236}">
                <a16:creationId xmlns:a16="http://schemas.microsoft.com/office/drawing/2014/main" id="{CD6E1E5B-8A54-F580-DA2F-40A8B1A910D0}"/>
              </a:ext>
            </a:extLst>
          </p:cNvPr>
          <p:cNvGrpSpPr/>
          <p:nvPr/>
        </p:nvGrpSpPr>
        <p:grpSpPr>
          <a:xfrm>
            <a:off x="5194091" y="2373278"/>
            <a:ext cx="1433708" cy="318695"/>
            <a:chOff x="8243120" y="5408533"/>
            <a:chExt cx="2085552" cy="602176"/>
          </a:xfrm>
        </p:grpSpPr>
        <p:sp>
          <p:nvSpPr>
            <p:cNvPr id="580" name="Google Shape;385;p22">
              <a:extLst>
                <a:ext uri="{FF2B5EF4-FFF2-40B4-BE49-F238E27FC236}">
                  <a16:creationId xmlns:a16="http://schemas.microsoft.com/office/drawing/2014/main" id="{4C5B28E0-1FCF-5B59-4635-D7913BA478A0}"/>
                </a:ext>
              </a:extLst>
            </p:cNvPr>
            <p:cNvSpPr/>
            <p:nvPr/>
          </p:nvSpPr>
          <p:spPr>
            <a:xfrm>
              <a:off x="8243120" y="5408533"/>
              <a:ext cx="2014251" cy="511850"/>
            </a:xfrm>
            <a:prstGeom prst="roundRect">
              <a:avLst>
                <a:gd name="adj" fmla="val 16667"/>
              </a:avLst>
            </a:prstGeom>
            <a:solidFill>
              <a:schemeClr val="accent4">
                <a:lumMod val="40000"/>
                <a:lumOff val="60000"/>
              </a:schemeClr>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rgbClr val="404040"/>
                  </a:solidFill>
                  <a:latin typeface="微软雅黑" panose="020B0503020204020204" pitchFamily="34" charset="-122"/>
                  <a:ea typeface="微软雅黑" panose="020B0503020204020204" pitchFamily="34" charset="-122"/>
                </a:rPr>
                <a:t>C2f</a:t>
              </a:r>
            </a:p>
            <a:p>
              <a:r>
                <a:rPr lang="en-US" altLang="zh-CN" sz="500" dirty="0">
                  <a:solidFill>
                    <a:srgbClr val="404040"/>
                  </a:solidFill>
                  <a:latin typeface="微软雅黑" panose="020B0503020204020204" pitchFamily="34" charset="-122"/>
                  <a:ea typeface="微软雅黑" panose="020B0503020204020204" pitchFamily="34" charset="-122"/>
                </a:rPr>
                <a:t>shortcut=False, </a:t>
              </a:r>
              <a:r>
                <a:rPr lang="en-US" altLang="zh-CN" sz="500" dirty="0">
                  <a:solidFill>
                    <a:srgbClr val="0070C0"/>
                  </a:solidFill>
                  <a:latin typeface="微软雅黑" panose="020B0503020204020204" pitchFamily="34" charset="-122"/>
                  <a:ea typeface="微软雅黑" panose="020B0503020204020204" pitchFamily="34" charset="-122"/>
                </a:rPr>
                <a:t>n=3×d</a:t>
              </a:r>
            </a:p>
          </p:txBody>
        </p:sp>
        <p:cxnSp>
          <p:nvCxnSpPr>
            <p:cNvPr id="581" name="直接连接符 805">
              <a:extLst>
                <a:ext uri="{FF2B5EF4-FFF2-40B4-BE49-F238E27FC236}">
                  <a16:creationId xmlns:a16="http://schemas.microsoft.com/office/drawing/2014/main" id="{84A71EC9-AEEC-FE4A-F253-C069C96BD4B8}"/>
                </a:ext>
              </a:extLst>
            </p:cNvPr>
            <p:cNvCxnSpPr>
              <a:cxnSpLocks/>
            </p:cNvCxnSpPr>
            <p:nvPr/>
          </p:nvCxnSpPr>
          <p:spPr>
            <a:xfrm flipH="1">
              <a:off x="9989048" y="5408533"/>
              <a:ext cx="1068" cy="508577"/>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2" name="文本框 806">
              <a:extLst>
                <a:ext uri="{FF2B5EF4-FFF2-40B4-BE49-F238E27FC236}">
                  <a16:creationId xmlns:a16="http://schemas.microsoft.com/office/drawing/2014/main" id="{9FE25FCB-6014-88A9-28E4-515BD2142D0D}"/>
                </a:ext>
              </a:extLst>
            </p:cNvPr>
            <p:cNvSpPr txBox="1"/>
            <p:nvPr/>
          </p:nvSpPr>
          <p:spPr>
            <a:xfrm>
              <a:off x="9924283" y="5433684"/>
              <a:ext cx="404389" cy="319850"/>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18</a:t>
              </a:r>
            </a:p>
          </p:txBody>
        </p:sp>
        <p:cxnSp>
          <p:nvCxnSpPr>
            <p:cNvPr id="583" name="直接连接符 807">
              <a:extLst>
                <a:ext uri="{FF2B5EF4-FFF2-40B4-BE49-F238E27FC236}">
                  <a16:creationId xmlns:a16="http://schemas.microsoft.com/office/drawing/2014/main" id="{54726D2F-9FF9-8088-2A8A-0C05C1FC805B}"/>
                </a:ext>
              </a:extLst>
            </p:cNvPr>
            <p:cNvCxnSpPr>
              <a:cxnSpLocks/>
            </p:cNvCxnSpPr>
            <p:nvPr/>
          </p:nvCxnSpPr>
          <p:spPr>
            <a:xfrm>
              <a:off x="9991194" y="5668369"/>
              <a:ext cx="270565" cy="0"/>
            </a:xfrm>
            <a:prstGeom prst="line">
              <a:avLst/>
            </a:prstGeom>
            <a:ln w="19050" cap="flat" cmpd="sng" algn="ctr">
              <a:solidFill>
                <a:srgbClr val="999999"/>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4" name="文本框 808">
              <a:extLst>
                <a:ext uri="{FF2B5EF4-FFF2-40B4-BE49-F238E27FC236}">
                  <a16:creationId xmlns:a16="http://schemas.microsoft.com/office/drawing/2014/main" id="{A2EC20C7-2D90-3332-3E9B-BA78DD3F0391}"/>
                </a:ext>
              </a:extLst>
            </p:cNvPr>
            <p:cNvSpPr txBox="1"/>
            <p:nvPr/>
          </p:nvSpPr>
          <p:spPr>
            <a:xfrm>
              <a:off x="9924283" y="5690859"/>
              <a:ext cx="404389" cy="319850"/>
            </a:xfrm>
            <a:prstGeom prst="rect">
              <a:avLst/>
            </a:prstGeom>
            <a:noFill/>
          </p:spPr>
          <p:txBody>
            <a:bodyPr wrap="square" rtlCol="0">
              <a:spAutoFit/>
            </a:bodyPr>
            <a:lstStyle/>
            <a:p>
              <a:pPr algn="ctr"/>
              <a:r>
                <a:rPr lang="en-US" altLang="zh-CN" sz="500" dirty="0">
                  <a:solidFill>
                    <a:srgbClr val="404040"/>
                  </a:solidFill>
                  <a:latin typeface="微软雅黑" panose="020B0503020204020204" pitchFamily="34" charset="-122"/>
                  <a:ea typeface="微软雅黑" panose="020B0503020204020204" pitchFamily="34" charset="-122"/>
                </a:rPr>
                <a:t>P4</a:t>
              </a:r>
            </a:p>
          </p:txBody>
        </p:sp>
      </p:grpSp>
      <p:sp>
        <p:nvSpPr>
          <p:cNvPr id="809" name="Google Shape;385;p22">
            <a:extLst>
              <a:ext uri="{FF2B5EF4-FFF2-40B4-BE49-F238E27FC236}">
                <a16:creationId xmlns:a16="http://schemas.microsoft.com/office/drawing/2014/main" id="{8CE8B4C4-DB35-5659-FDD7-4774EC3BECA6}"/>
              </a:ext>
            </a:extLst>
          </p:cNvPr>
          <p:cNvSpPr/>
          <p:nvPr/>
        </p:nvSpPr>
        <p:spPr>
          <a:xfrm>
            <a:off x="5181427" y="2835057"/>
            <a:ext cx="1384692" cy="270891"/>
          </a:xfrm>
          <a:prstGeom prst="roundRect">
            <a:avLst>
              <a:gd name="adj" fmla="val 16667"/>
            </a:avLst>
          </a:prstGeom>
          <a:solidFill>
            <a:srgbClr val="FF0000"/>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chemeClr val="bg1"/>
                </a:solidFill>
                <a:latin typeface="微软雅黑" panose="020B0503020204020204" pitchFamily="34" charset="-122"/>
                <a:ea typeface="微软雅黑" panose="020B0503020204020204" pitchFamily="34" charset="-122"/>
              </a:rPr>
              <a:t>CBAM</a:t>
            </a:r>
          </a:p>
        </p:txBody>
      </p:sp>
      <p:cxnSp>
        <p:nvCxnSpPr>
          <p:cNvPr id="816" name="Google Shape;394;p22">
            <a:extLst>
              <a:ext uri="{FF2B5EF4-FFF2-40B4-BE49-F238E27FC236}">
                <a16:creationId xmlns:a16="http://schemas.microsoft.com/office/drawing/2014/main" id="{05BB2B77-E75F-8665-64A9-73EEF85C92AD}"/>
              </a:ext>
            </a:extLst>
          </p:cNvPr>
          <p:cNvCxnSpPr>
            <a:cxnSpLocks/>
            <a:stCxn id="809" idx="2"/>
            <a:endCxn id="691" idx="0"/>
          </p:cNvCxnSpPr>
          <p:nvPr/>
        </p:nvCxnSpPr>
        <p:spPr>
          <a:xfrm flipH="1">
            <a:off x="5873771" y="3105948"/>
            <a:ext cx="2" cy="250627"/>
          </a:xfrm>
          <a:prstGeom prst="straightConnector1">
            <a:avLst/>
          </a:prstGeom>
          <a:noFill/>
          <a:ln w="9525" cap="flat" cmpd="sng">
            <a:solidFill>
              <a:schemeClr val="dk2"/>
            </a:solidFill>
            <a:prstDash val="solid"/>
            <a:round/>
            <a:headEnd type="none" w="med" len="med"/>
            <a:tailEnd type="triangle" w="med" len="med"/>
          </a:ln>
        </p:spPr>
      </p:cxnSp>
      <p:sp>
        <p:nvSpPr>
          <p:cNvPr id="819" name="Google Shape;953;p28">
            <a:extLst>
              <a:ext uri="{FF2B5EF4-FFF2-40B4-BE49-F238E27FC236}">
                <a16:creationId xmlns:a16="http://schemas.microsoft.com/office/drawing/2014/main" id="{EAF6DD16-4283-30E9-E860-71C3152448D0}"/>
              </a:ext>
            </a:extLst>
          </p:cNvPr>
          <p:cNvSpPr txBox="1"/>
          <p:nvPr/>
        </p:nvSpPr>
        <p:spPr>
          <a:xfrm>
            <a:off x="5971291" y="3252683"/>
            <a:ext cx="728520" cy="85764"/>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820" name="Google Shape;385;p22">
            <a:extLst>
              <a:ext uri="{FF2B5EF4-FFF2-40B4-BE49-F238E27FC236}">
                <a16:creationId xmlns:a16="http://schemas.microsoft.com/office/drawing/2014/main" id="{DDEB48BA-B068-043A-B5CE-327F8819B1BF}"/>
              </a:ext>
            </a:extLst>
          </p:cNvPr>
          <p:cNvSpPr/>
          <p:nvPr/>
        </p:nvSpPr>
        <p:spPr>
          <a:xfrm>
            <a:off x="5203346" y="1114072"/>
            <a:ext cx="1384692" cy="270891"/>
          </a:xfrm>
          <a:prstGeom prst="roundRect">
            <a:avLst>
              <a:gd name="adj" fmla="val 16667"/>
            </a:avLst>
          </a:prstGeom>
          <a:solidFill>
            <a:srgbClr val="FF0000"/>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chemeClr val="bg1"/>
                </a:solidFill>
                <a:latin typeface="微软雅黑" panose="020B0503020204020204" pitchFamily="34" charset="-122"/>
                <a:ea typeface="微软雅黑" panose="020B0503020204020204" pitchFamily="34" charset="-122"/>
              </a:rPr>
              <a:t>CBAM</a:t>
            </a:r>
          </a:p>
        </p:txBody>
      </p:sp>
      <p:cxnSp>
        <p:nvCxnSpPr>
          <p:cNvPr id="822" name="Google Shape;394;p22">
            <a:extLst>
              <a:ext uri="{FF2B5EF4-FFF2-40B4-BE49-F238E27FC236}">
                <a16:creationId xmlns:a16="http://schemas.microsoft.com/office/drawing/2014/main" id="{9D4CA405-C53D-01B6-8358-0C0356696424}"/>
              </a:ext>
            </a:extLst>
          </p:cNvPr>
          <p:cNvCxnSpPr>
            <a:cxnSpLocks/>
            <a:endCxn id="820" idx="0"/>
          </p:cNvCxnSpPr>
          <p:nvPr/>
        </p:nvCxnSpPr>
        <p:spPr>
          <a:xfrm>
            <a:off x="5873773" y="793463"/>
            <a:ext cx="21919" cy="320609"/>
          </a:xfrm>
          <a:prstGeom prst="straightConnector1">
            <a:avLst/>
          </a:prstGeom>
          <a:noFill/>
          <a:ln w="9525" cap="flat" cmpd="sng">
            <a:solidFill>
              <a:schemeClr val="dk2"/>
            </a:solidFill>
            <a:prstDash val="solid"/>
            <a:round/>
            <a:headEnd type="none" w="med" len="med"/>
            <a:tailEnd type="triangle" w="med" len="med"/>
          </a:ln>
        </p:spPr>
      </p:cxnSp>
      <p:sp>
        <p:nvSpPr>
          <p:cNvPr id="826" name="Google Shape;953;p28">
            <a:extLst>
              <a:ext uri="{FF2B5EF4-FFF2-40B4-BE49-F238E27FC236}">
                <a16:creationId xmlns:a16="http://schemas.microsoft.com/office/drawing/2014/main" id="{F088E690-E6CA-B00C-6AEA-5F53A161A896}"/>
              </a:ext>
            </a:extLst>
          </p:cNvPr>
          <p:cNvSpPr txBox="1"/>
          <p:nvPr/>
        </p:nvSpPr>
        <p:spPr>
          <a:xfrm>
            <a:off x="5971291" y="1484352"/>
            <a:ext cx="728520" cy="74317"/>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80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256</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832" name="Google Shape;385;p22">
            <a:extLst>
              <a:ext uri="{FF2B5EF4-FFF2-40B4-BE49-F238E27FC236}">
                <a16:creationId xmlns:a16="http://schemas.microsoft.com/office/drawing/2014/main" id="{D1C732CB-FED6-6858-C6D4-4F68B1228B4E}"/>
              </a:ext>
            </a:extLst>
          </p:cNvPr>
          <p:cNvSpPr/>
          <p:nvPr/>
        </p:nvSpPr>
        <p:spPr>
          <a:xfrm>
            <a:off x="2809524" y="2115698"/>
            <a:ext cx="1384692" cy="270891"/>
          </a:xfrm>
          <a:prstGeom prst="roundRect">
            <a:avLst>
              <a:gd name="adj" fmla="val 16667"/>
            </a:avLst>
          </a:prstGeom>
          <a:solidFill>
            <a:srgbClr val="FF0000"/>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chemeClr val="bg1"/>
                </a:solidFill>
                <a:latin typeface="微软雅黑" panose="020B0503020204020204" pitchFamily="34" charset="-122"/>
                <a:ea typeface="微软雅黑" panose="020B0503020204020204" pitchFamily="34" charset="-122"/>
              </a:rPr>
              <a:t>CBAM</a:t>
            </a:r>
          </a:p>
        </p:txBody>
      </p:sp>
      <p:cxnSp>
        <p:nvCxnSpPr>
          <p:cNvPr id="833" name="Google Shape;394;p22">
            <a:extLst>
              <a:ext uri="{FF2B5EF4-FFF2-40B4-BE49-F238E27FC236}">
                <a16:creationId xmlns:a16="http://schemas.microsoft.com/office/drawing/2014/main" id="{B3AED245-7189-5488-0341-BBD0CDC60711}"/>
              </a:ext>
            </a:extLst>
          </p:cNvPr>
          <p:cNvCxnSpPr>
            <a:cxnSpLocks/>
            <a:stCxn id="585" idx="0"/>
            <a:endCxn id="832" idx="2"/>
          </p:cNvCxnSpPr>
          <p:nvPr/>
        </p:nvCxnSpPr>
        <p:spPr>
          <a:xfrm flipV="1">
            <a:off x="3496693" y="2386589"/>
            <a:ext cx="5177" cy="225531"/>
          </a:xfrm>
          <a:prstGeom prst="straightConnector1">
            <a:avLst/>
          </a:prstGeom>
          <a:noFill/>
          <a:ln w="9525" cap="flat" cmpd="sng">
            <a:solidFill>
              <a:schemeClr val="dk2"/>
            </a:solidFill>
            <a:prstDash val="solid"/>
            <a:round/>
            <a:headEnd type="none" w="med" len="med"/>
            <a:tailEnd type="triangle" w="med" len="med"/>
          </a:ln>
        </p:spPr>
      </p:cxnSp>
      <p:sp>
        <p:nvSpPr>
          <p:cNvPr id="837" name="Google Shape;953;p28">
            <a:extLst>
              <a:ext uri="{FF2B5EF4-FFF2-40B4-BE49-F238E27FC236}">
                <a16:creationId xmlns:a16="http://schemas.microsoft.com/office/drawing/2014/main" id="{06F7B40F-87A6-6BEA-ED2E-3D7162851B9F}"/>
              </a:ext>
            </a:extLst>
          </p:cNvPr>
          <p:cNvSpPr txBox="1"/>
          <p:nvPr/>
        </p:nvSpPr>
        <p:spPr>
          <a:xfrm>
            <a:off x="3587565" y="2010212"/>
            <a:ext cx="647973" cy="83022"/>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40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a:solidFill>
                  <a:srgbClr val="C55A11"/>
                </a:solidFill>
                <a:latin typeface="微软雅黑" panose="020B0503020204020204" pitchFamily="34" charset="-122"/>
                <a:ea typeface="微软雅黑" panose="020B0503020204020204" pitchFamily="34" charset="-122"/>
                <a:cs typeface="Consolas"/>
                <a:sym typeface="Consolas"/>
              </a:rPr>
              <a:t>w</a:t>
            </a:r>
            <a:endParaRPr sz="400" dirty="0">
              <a:solidFill>
                <a:srgbClr val="C55A11"/>
              </a:solidFill>
              <a:latin typeface="微软雅黑" panose="020B0503020204020204" pitchFamily="34" charset="-122"/>
              <a:ea typeface="微软雅黑" panose="020B0503020204020204" pitchFamily="34" charset="-122"/>
              <a:cs typeface="Consolas"/>
              <a:sym typeface="Consolas"/>
            </a:endParaRPr>
          </a:p>
        </p:txBody>
      </p:sp>
      <p:sp>
        <p:nvSpPr>
          <p:cNvPr id="841" name="Google Shape;385;p22">
            <a:extLst>
              <a:ext uri="{FF2B5EF4-FFF2-40B4-BE49-F238E27FC236}">
                <a16:creationId xmlns:a16="http://schemas.microsoft.com/office/drawing/2014/main" id="{05792C55-0320-E64F-40CE-C49EF88E3B87}"/>
              </a:ext>
            </a:extLst>
          </p:cNvPr>
          <p:cNvSpPr/>
          <p:nvPr/>
        </p:nvSpPr>
        <p:spPr>
          <a:xfrm>
            <a:off x="2803737" y="3986525"/>
            <a:ext cx="1384692" cy="270891"/>
          </a:xfrm>
          <a:prstGeom prst="roundRect">
            <a:avLst>
              <a:gd name="adj" fmla="val 16667"/>
            </a:avLst>
          </a:prstGeom>
          <a:solidFill>
            <a:srgbClr val="FF0000"/>
          </a:solidFill>
          <a:ln w="19050" cap="flat" cmpd="sng">
            <a:solidFill>
              <a:srgbClr val="999999"/>
            </a:solidFill>
            <a:prstDash val="solid"/>
            <a:round/>
            <a:headEnd type="none" w="sm" len="sm"/>
            <a:tailEnd type="none" w="sm" len="sm"/>
          </a:ln>
        </p:spPr>
        <p:txBody>
          <a:bodyPr spcFirstLastPara="1" wrap="square" lIns="195036" tIns="195036" rIns="195036" bIns="195036" anchor="ctr" anchorCtr="0">
            <a:noAutofit/>
          </a:bodyPr>
          <a:lstStyle/>
          <a:p>
            <a:r>
              <a:rPr lang="en-US" altLang="zh-CN" sz="600" b="1" dirty="0">
                <a:solidFill>
                  <a:schemeClr val="bg1"/>
                </a:solidFill>
                <a:latin typeface="微软雅黑" panose="020B0503020204020204" pitchFamily="34" charset="-122"/>
                <a:ea typeface="微软雅黑" panose="020B0503020204020204" pitchFamily="34" charset="-122"/>
              </a:rPr>
              <a:t>CBAM</a:t>
            </a:r>
          </a:p>
        </p:txBody>
      </p:sp>
      <p:cxnSp>
        <p:nvCxnSpPr>
          <p:cNvPr id="845" name="Google Shape;394;p22">
            <a:extLst>
              <a:ext uri="{FF2B5EF4-FFF2-40B4-BE49-F238E27FC236}">
                <a16:creationId xmlns:a16="http://schemas.microsoft.com/office/drawing/2014/main" id="{3F405994-B9D3-84C5-34B6-7196DDEAE6A0}"/>
              </a:ext>
            </a:extLst>
          </p:cNvPr>
          <p:cNvCxnSpPr>
            <a:cxnSpLocks/>
            <a:endCxn id="841" idx="2"/>
          </p:cNvCxnSpPr>
          <p:nvPr/>
        </p:nvCxnSpPr>
        <p:spPr>
          <a:xfrm flipH="1" flipV="1">
            <a:off x="3496083" y="4257416"/>
            <a:ext cx="8507" cy="179230"/>
          </a:xfrm>
          <a:prstGeom prst="straightConnector1">
            <a:avLst/>
          </a:prstGeom>
          <a:noFill/>
          <a:ln w="9525" cap="flat" cmpd="sng">
            <a:solidFill>
              <a:schemeClr val="dk2"/>
            </a:solidFill>
            <a:prstDash val="solid"/>
            <a:round/>
            <a:headEnd type="none" w="med" len="med"/>
            <a:tailEnd type="triangle" w="med" len="med"/>
          </a:ln>
        </p:spPr>
      </p:cxnSp>
      <p:sp>
        <p:nvSpPr>
          <p:cNvPr id="848" name="Google Shape;953;p28">
            <a:extLst>
              <a:ext uri="{FF2B5EF4-FFF2-40B4-BE49-F238E27FC236}">
                <a16:creationId xmlns:a16="http://schemas.microsoft.com/office/drawing/2014/main" id="{A90B8A47-2D61-5D63-ED11-F36A9F93531F}"/>
              </a:ext>
            </a:extLst>
          </p:cNvPr>
          <p:cNvSpPr txBox="1"/>
          <p:nvPr/>
        </p:nvSpPr>
        <p:spPr>
          <a:xfrm>
            <a:off x="3023367" y="4290429"/>
            <a:ext cx="697146" cy="97949"/>
          </a:xfrm>
          <a:prstGeom prst="rect">
            <a:avLst/>
          </a:prstGeom>
          <a:noFill/>
          <a:ln>
            <a:noFill/>
          </a:ln>
        </p:spPr>
        <p:txBody>
          <a:bodyPr spcFirstLastPara="1" wrap="square" lIns="0" tIns="0" rIns="0" bIns="0" anchor="t" anchorCtr="0">
            <a:noAutofit/>
          </a:bodyPr>
          <a:lstStyle/>
          <a:p>
            <a:pPr lvl="0"/>
            <a:r>
              <a:rPr lang="en" sz="400" dirty="0">
                <a:latin typeface="微软雅黑" panose="020B0503020204020204" pitchFamily="34" charset="-122"/>
                <a:ea typeface="微软雅黑" panose="020B0503020204020204" pitchFamily="34" charset="-122"/>
                <a:cs typeface="Consolas"/>
                <a:sym typeface="Consolas"/>
              </a:rPr>
              <a:t>20</a:t>
            </a:r>
            <a:r>
              <a:rPr lang="en-US" altLang="zh-CN" sz="400" dirty="0">
                <a:latin typeface="微软雅黑" panose="020B0503020204020204" pitchFamily="34" charset="-122"/>
                <a:ea typeface="微软雅黑" panose="020B0503020204020204" pitchFamily="34" charset="-122"/>
                <a:cs typeface="Consolas"/>
                <a:sym typeface="Consolas"/>
              </a:rPr>
              <a:t>×</a:t>
            </a:r>
            <a:r>
              <a:rPr lang="en" altLang="zh-CN" sz="400" dirty="0">
                <a:latin typeface="微软雅黑" panose="020B0503020204020204" pitchFamily="34" charset="-122"/>
                <a:ea typeface="微软雅黑" panose="020B0503020204020204" pitchFamily="34" charset="-122"/>
                <a:cs typeface="Consolas"/>
                <a:sym typeface="Consolas"/>
              </a:rPr>
              <a:t>2</a:t>
            </a:r>
            <a:r>
              <a:rPr lang="en" sz="400" dirty="0">
                <a:latin typeface="微软雅黑" panose="020B0503020204020204" pitchFamily="34" charset="-122"/>
                <a:ea typeface="微软雅黑" panose="020B0503020204020204" pitchFamily="34" charset="-122"/>
                <a:cs typeface="Consolas"/>
                <a:sym typeface="Consolas"/>
              </a:rPr>
              <a:t>0</a:t>
            </a:r>
            <a:r>
              <a:rPr lang="en-US" altLang="zh-CN" sz="400" dirty="0">
                <a:latin typeface="微软雅黑" panose="020B0503020204020204" pitchFamily="34" charset="-122"/>
                <a:ea typeface="微软雅黑" panose="020B0503020204020204" pitchFamily="34" charset="-122"/>
                <a:cs typeface="Consolas"/>
                <a:sym typeface="Consolas"/>
              </a:rPr>
              <a:t>×</a:t>
            </a:r>
            <a:r>
              <a:rPr lang="en" sz="400" dirty="0">
                <a:latin typeface="微软雅黑" panose="020B0503020204020204" pitchFamily="34" charset="-122"/>
                <a:ea typeface="微软雅黑" panose="020B0503020204020204" pitchFamily="34" charset="-122"/>
                <a:cs typeface="Consolas"/>
                <a:sym typeface="Consolas"/>
              </a:rPr>
              <a:t>512</a:t>
            </a:r>
            <a:r>
              <a:rPr lang="en-US" altLang="zh-CN" sz="400" dirty="0">
                <a:latin typeface="微软雅黑" panose="020B0503020204020204" pitchFamily="34" charset="-122"/>
                <a:ea typeface="微软雅黑" panose="020B0503020204020204" pitchFamily="34" charset="-122"/>
                <a:cs typeface="Consolas"/>
                <a:sym typeface="Consolas"/>
              </a:rPr>
              <a:t>×</a:t>
            </a:r>
            <a:r>
              <a:rPr lang="en-US" altLang="zh-CN" sz="400" dirty="0" err="1">
                <a:solidFill>
                  <a:srgbClr val="C55A11"/>
                </a:solidFill>
                <a:latin typeface="微软雅黑" panose="020B0503020204020204" pitchFamily="34" charset="-122"/>
                <a:ea typeface="微软雅黑" panose="020B0503020204020204" pitchFamily="34" charset="-122"/>
                <a:cs typeface="Consolas"/>
                <a:sym typeface="Consolas"/>
              </a:rPr>
              <a:t>w</a:t>
            </a:r>
            <a:r>
              <a:rPr lang="en-US" altLang="zh-CN" sz="400" dirty="0" err="1">
                <a:latin typeface="微软雅黑" panose="020B0503020204020204" pitchFamily="34" charset="-122"/>
                <a:ea typeface="微软雅黑" panose="020B0503020204020204" pitchFamily="34" charset="-122"/>
                <a:cs typeface="Consolas"/>
                <a:sym typeface="Consolas"/>
              </a:rPr>
              <a:t>×</a:t>
            </a:r>
            <a:r>
              <a:rPr lang="en-US" altLang="zh-CN" sz="400" dirty="0" err="1">
                <a:solidFill>
                  <a:schemeClr val="accent6">
                    <a:lumMod val="75000"/>
                  </a:schemeClr>
                </a:solidFill>
                <a:latin typeface="微软雅黑" panose="020B0503020204020204" pitchFamily="34" charset="-122"/>
                <a:ea typeface="微软雅黑" panose="020B0503020204020204" pitchFamily="34" charset="-122"/>
                <a:cs typeface="Consolas"/>
                <a:sym typeface="Consolas"/>
              </a:rPr>
              <a:t>r</a:t>
            </a:r>
            <a:endParaRPr sz="400" dirty="0">
              <a:solidFill>
                <a:schemeClr val="accent6">
                  <a:lumMod val="75000"/>
                </a:schemeClr>
              </a:solidFill>
              <a:latin typeface="微软雅黑" panose="020B0503020204020204" pitchFamily="34" charset="-122"/>
              <a:ea typeface="微软雅黑" panose="020B0503020204020204" pitchFamily="34" charset="-122"/>
              <a:cs typeface="Consolas"/>
              <a:sym typeface="Consolas"/>
            </a:endParaRPr>
          </a:p>
        </p:txBody>
      </p:sp>
      <p:sp>
        <p:nvSpPr>
          <p:cNvPr id="849" name="Rectangle 848">
            <a:extLst>
              <a:ext uri="{FF2B5EF4-FFF2-40B4-BE49-F238E27FC236}">
                <a16:creationId xmlns:a16="http://schemas.microsoft.com/office/drawing/2014/main" id="{BFA62B3A-6C77-0EFA-A280-7BD0B5E77876}"/>
              </a:ext>
            </a:extLst>
          </p:cNvPr>
          <p:cNvSpPr/>
          <p:nvPr/>
        </p:nvSpPr>
        <p:spPr>
          <a:xfrm>
            <a:off x="3127404" y="84516"/>
            <a:ext cx="3299283" cy="365427"/>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p>
        </p:txBody>
      </p:sp>
      <p:sp>
        <p:nvSpPr>
          <p:cNvPr id="850" name="TextBox 849">
            <a:extLst>
              <a:ext uri="{FF2B5EF4-FFF2-40B4-BE49-F238E27FC236}">
                <a16:creationId xmlns:a16="http://schemas.microsoft.com/office/drawing/2014/main" id="{DB21BE53-631B-B603-892B-AAF83CFF9897}"/>
              </a:ext>
            </a:extLst>
          </p:cNvPr>
          <p:cNvSpPr txBox="1"/>
          <p:nvPr/>
        </p:nvSpPr>
        <p:spPr>
          <a:xfrm>
            <a:off x="3675910" y="82652"/>
            <a:ext cx="2202270" cy="338554"/>
          </a:xfrm>
          <a:prstGeom prst="rect">
            <a:avLst/>
          </a:prstGeom>
          <a:noFill/>
        </p:spPr>
        <p:txBody>
          <a:bodyPr wrap="none">
            <a:spAutoFit/>
          </a:bodyPr>
          <a:lstStyle/>
          <a:p>
            <a:pPr>
              <a:defRPr sz="2600" b="1">
                <a:solidFill>
                  <a:srgbClr val="1E293B"/>
                </a:solidFill>
              </a:defRPr>
            </a:pPr>
            <a:r>
              <a:rPr sz="1600" dirty="0"/>
              <a:t>Proposed </a:t>
            </a:r>
            <a:r>
              <a:rPr lang="en-US" sz="1600" dirty="0"/>
              <a:t>Architecture </a:t>
            </a:r>
            <a:endParaRPr sz="1600" dirty="0"/>
          </a:p>
        </p:txBody>
      </p:sp>
      <p:sp>
        <p:nvSpPr>
          <p:cNvPr id="854" name="Left Brace 853">
            <a:extLst>
              <a:ext uri="{FF2B5EF4-FFF2-40B4-BE49-F238E27FC236}">
                <a16:creationId xmlns:a16="http://schemas.microsoft.com/office/drawing/2014/main" id="{93DC2E30-BA01-F8E0-4DAE-D2B1EC372C5B}"/>
              </a:ext>
            </a:extLst>
          </p:cNvPr>
          <p:cNvSpPr/>
          <p:nvPr/>
        </p:nvSpPr>
        <p:spPr>
          <a:xfrm>
            <a:off x="393054" y="263030"/>
            <a:ext cx="197525" cy="465055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55" name="Left Brace 854">
            <a:extLst>
              <a:ext uri="{FF2B5EF4-FFF2-40B4-BE49-F238E27FC236}">
                <a16:creationId xmlns:a16="http://schemas.microsoft.com/office/drawing/2014/main" id="{E1DE82F8-B801-98AB-EAFB-49BE1250C3F5}"/>
              </a:ext>
            </a:extLst>
          </p:cNvPr>
          <p:cNvSpPr/>
          <p:nvPr/>
        </p:nvSpPr>
        <p:spPr>
          <a:xfrm rot="16200000">
            <a:off x="4580067" y="2822082"/>
            <a:ext cx="170987" cy="392447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56" name="Left Brace 855">
            <a:extLst>
              <a:ext uri="{FF2B5EF4-FFF2-40B4-BE49-F238E27FC236}">
                <a16:creationId xmlns:a16="http://schemas.microsoft.com/office/drawing/2014/main" id="{0A7DC2A2-B7E3-0A29-ACD0-CD4ADB831481}"/>
              </a:ext>
            </a:extLst>
          </p:cNvPr>
          <p:cNvSpPr/>
          <p:nvPr/>
        </p:nvSpPr>
        <p:spPr>
          <a:xfrm rot="10800000">
            <a:off x="8528871" y="666616"/>
            <a:ext cx="245238" cy="398173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60" name="TextBox 859">
            <a:extLst>
              <a:ext uri="{FF2B5EF4-FFF2-40B4-BE49-F238E27FC236}">
                <a16:creationId xmlns:a16="http://schemas.microsoft.com/office/drawing/2014/main" id="{6A06D9FD-CA87-6CFF-FF12-7AC7A29150D2}"/>
              </a:ext>
            </a:extLst>
          </p:cNvPr>
          <p:cNvSpPr txBox="1"/>
          <p:nvPr/>
        </p:nvSpPr>
        <p:spPr>
          <a:xfrm rot="16200000">
            <a:off x="-298636" y="2371228"/>
            <a:ext cx="1103187" cy="369332"/>
          </a:xfrm>
          <a:prstGeom prst="rect">
            <a:avLst/>
          </a:prstGeom>
          <a:noFill/>
        </p:spPr>
        <p:txBody>
          <a:bodyPr wrap="none" rtlCol="0">
            <a:spAutoFit/>
          </a:bodyPr>
          <a:lstStyle/>
          <a:p>
            <a:r>
              <a:rPr lang="en-US" dirty="0"/>
              <a:t>Backbone</a:t>
            </a:r>
          </a:p>
        </p:txBody>
      </p:sp>
      <p:sp>
        <p:nvSpPr>
          <p:cNvPr id="861" name="TextBox 860">
            <a:extLst>
              <a:ext uri="{FF2B5EF4-FFF2-40B4-BE49-F238E27FC236}">
                <a16:creationId xmlns:a16="http://schemas.microsoft.com/office/drawing/2014/main" id="{90DA242A-9609-6D9C-E0D5-874114F128D9}"/>
              </a:ext>
            </a:extLst>
          </p:cNvPr>
          <p:cNvSpPr txBox="1"/>
          <p:nvPr/>
        </p:nvSpPr>
        <p:spPr>
          <a:xfrm rot="5400000">
            <a:off x="8556137" y="2488617"/>
            <a:ext cx="676788" cy="369332"/>
          </a:xfrm>
          <a:prstGeom prst="rect">
            <a:avLst/>
          </a:prstGeom>
          <a:noFill/>
        </p:spPr>
        <p:txBody>
          <a:bodyPr wrap="none" rtlCol="0">
            <a:spAutoFit/>
          </a:bodyPr>
          <a:lstStyle/>
          <a:p>
            <a:r>
              <a:rPr lang="en-US" dirty="0"/>
              <a:t>Head</a:t>
            </a:r>
          </a:p>
        </p:txBody>
      </p:sp>
      <p:sp>
        <p:nvSpPr>
          <p:cNvPr id="862" name="TextBox 861">
            <a:extLst>
              <a:ext uri="{FF2B5EF4-FFF2-40B4-BE49-F238E27FC236}">
                <a16:creationId xmlns:a16="http://schemas.microsoft.com/office/drawing/2014/main" id="{9E435244-1770-4FB0-D271-A6609B4D838C}"/>
              </a:ext>
            </a:extLst>
          </p:cNvPr>
          <p:cNvSpPr txBox="1"/>
          <p:nvPr/>
        </p:nvSpPr>
        <p:spPr>
          <a:xfrm>
            <a:off x="4349065" y="4815631"/>
            <a:ext cx="651140" cy="369332"/>
          </a:xfrm>
          <a:prstGeom prst="rect">
            <a:avLst/>
          </a:prstGeom>
          <a:noFill/>
        </p:spPr>
        <p:txBody>
          <a:bodyPr wrap="none" rtlCol="0">
            <a:spAutoFit/>
          </a:bodyPr>
          <a:lstStyle/>
          <a:p>
            <a:r>
              <a:rPr lang="en-US" dirty="0"/>
              <a:t>Neck</a:t>
            </a:r>
          </a:p>
        </p:txBody>
      </p:sp>
    </p:spTree>
    <p:extLst>
      <p:ext uri="{BB962C8B-B14F-4D97-AF65-F5344CB8AC3E}">
        <p14:creationId xmlns:p14="http://schemas.microsoft.com/office/powerpoint/2010/main" val="209833146"/>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D8FC9-99B8-04EF-4324-2EDF4772E54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3A6D378-CD55-8160-7FCE-32D9D61BD111}"/>
              </a:ext>
            </a:extLst>
          </p:cNvPr>
          <p:cNvSpPr/>
          <p:nvPr/>
        </p:nvSpPr>
        <p:spPr>
          <a:xfrm>
            <a:off x="0" y="1261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D15144D3-8B09-5763-23B7-FD23041A459F}"/>
              </a:ext>
            </a:extLst>
          </p:cNvPr>
          <p:cNvSpPr/>
          <p:nvPr/>
        </p:nvSpPr>
        <p:spPr>
          <a:xfrm>
            <a:off x="365760" y="365760"/>
            <a:ext cx="7315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0E06F1E-0586-952F-9313-D1B783572A3A}"/>
              </a:ext>
            </a:extLst>
          </p:cNvPr>
          <p:cNvSpPr txBox="1"/>
          <p:nvPr/>
        </p:nvSpPr>
        <p:spPr>
          <a:xfrm>
            <a:off x="548640" y="320040"/>
            <a:ext cx="3361305" cy="492443"/>
          </a:xfrm>
          <a:prstGeom prst="rect">
            <a:avLst/>
          </a:prstGeom>
          <a:noFill/>
        </p:spPr>
        <p:txBody>
          <a:bodyPr wrap="none">
            <a:spAutoFit/>
          </a:bodyPr>
          <a:lstStyle/>
          <a:p>
            <a:pPr>
              <a:defRPr sz="2600" b="1">
                <a:solidFill>
                  <a:srgbClr val="1E293B"/>
                </a:solidFill>
              </a:defRPr>
            </a:pPr>
            <a:r>
              <a:rPr lang="en-US" dirty="0"/>
              <a:t>Proposed Architecture</a:t>
            </a:r>
            <a:endParaRPr dirty="0"/>
          </a:p>
        </p:txBody>
      </p:sp>
      <p:pic>
        <p:nvPicPr>
          <p:cNvPr id="25" name="Picture 24" descr="A screenshot of a computer screen&#10;&#10;AI-generated content may be incorrect.">
            <a:extLst>
              <a:ext uri="{FF2B5EF4-FFF2-40B4-BE49-F238E27FC236}">
                <a16:creationId xmlns:a16="http://schemas.microsoft.com/office/drawing/2014/main" id="{57DE8FC8-F565-51CF-4B24-6A7876A61225}"/>
              </a:ext>
            </a:extLst>
          </p:cNvPr>
          <p:cNvPicPr>
            <a:picLocks noChangeAspect="1"/>
          </p:cNvPicPr>
          <p:nvPr/>
        </p:nvPicPr>
        <p:blipFill>
          <a:blip r:embed="rId2"/>
          <a:stretch>
            <a:fillRect/>
          </a:stretch>
        </p:blipFill>
        <p:spPr>
          <a:xfrm>
            <a:off x="647700" y="1119913"/>
            <a:ext cx="2915057" cy="3448531"/>
          </a:xfrm>
          <a:prstGeom prst="rect">
            <a:avLst/>
          </a:prstGeom>
        </p:spPr>
      </p:pic>
      <p:pic>
        <p:nvPicPr>
          <p:cNvPr id="27" name="Picture 26" descr="A computer screen shot of a computer program&#10;&#10;AI-generated content may be incorrect.">
            <a:extLst>
              <a:ext uri="{FF2B5EF4-FFF2-40B4-BE49-F238E27FC236}">
                <a16:creationId xmlns:a16="http://schemas.microsoft.com/office/drawing/2014/main" id="{FFAE7BD5-049D-4E9D-AF48-FE34DCF09BF2}"/>
              </a:ext>
            </a:extLst>
          </p:cNvPr>
          <p:cNvPicPr>
            <a:picLocks noChangeAspect="1"/>
          </p:cNvPicPr>
          <p:nvPr/>
        </p:nvPicPr>
        <p:blipFill>
          <a:blip r:embed="rId3"/>
          <a:stretch>
            <a:fillRect/>
          </a:stretch>
        </p:blipFill>
        <p:spPr>
          <a:xfrm>
            <a:off x="4724400" y="1119913"/>
            <a:ext cx="3639058" cy="3446376"/>
          </a:xfrm>
          <a:prstGeom prst="rect">
            <a:avLst/>
          </a:prstGeom>
        </p:spPr>
      </p:pic>
    </p:spTree>
    <p:extLst>
      <p:ext uri="{BB962C8B-B14F-4D97-AF65-F5344CB8AC3E}">
        <p14:creationId xmlns:p14="http://schemas.microsoft.com/office/powerpoint/2010/main" val="367887116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365760" y="365760"/>
            <a:ext cx="7315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320040"/>
            <a:ext cx="8229600" cy="548640"/>
          </a:xfrm>
          <a:prstGeom prst="rect">
            <a:avLst/>
          </a:prstGeom>
          <a:noFill/>
        </p:spPr>
        <p:txBody>
          <a:bodyPr wrap="none">
            <a:spAutoFit/>
          </a:bodyPr>
          <a:lstStyle/>
          <a:p>
            <a:pPr>
              <a:defRPr sz="2400" b="1">
                <a:solidFill>
                  <a:srgbClr val="1E293B"/>
                </a:solidFill>
              </a:defRPr>
            </a:pPr>
            <a:r>
              <a:t>Hypothesis &amp; Expected Outcomes</a:t>
            </a:r>
          </a:p>
        </p:txBody>
      </p:sp>
      <p:sp>
        <p:nvSpPr>
          <p:cNvPr id="5" name="Rounded Rectangle 4"/>
          <p:cNvSpPr/>
          <p:nvPr/>
        </p:nvSpPr>
        <p:spPr>
          <a:xfrm>
            <a:off x="365760" y="914400"/>
            <a:ext cx="8412480" cy="10972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0509" y="1188720"/>
            <a:ext cx="8242981" cy="523220"/>
          </a:xfrm>
          <a:prstGeom prst="rect">
            <a:avLst/>
          </a:prstGeom>
          <a:noFill/>
        </p:spPr>
        <p:txBody>
          <a:bodyPr wrap="square">
            <a:spAutoFit/>
          </a:bodyPr>
          <a:lstStyle/>
          <a:p>
            <a:pPr algn="ctr">
              <a:defRPr sz="1400">
                <a:solidFill>
                  <a:srgbClr val="FFFFFF"/>
                </a:solidFill>
              </a:defRPr>
            </a:pPr>
            <a:r>
              <a:rPr sz="1400" dirty="0"/>
              <a:t>Integrating CBAM attention mechanism with YOLOv8 and expanding the dataset will significantly improve detection accuracy, especially for challenging fracture types like Greenstick and Comminuted fractures.</a:t>
            </a:r>
            <a:endParaRPr lang="en-US" sz="1400" dirty="0"/>
          </a:p>
        </p:txBody>
      </p:sp>
      <p:graphicFrame>
        <p:nvGraphicFramePr>
          <p:cNvPr id="7" name="Table 6"/>
          <p:cNvGraphicFramePr>
            <a:graphicFrameLocks noGrp="1"/>
          </p:cNvGraphicFramePr>
          <p:nvPr>
            <p:extLst>
              <p:ext uri="{D42A27DB-BD31-4B8C-83A1-F6EECF244321}">
                <p14:modId xmlns:p14="http://schemas.microsoft.com/office/powerpoint/2010/main" val="3194730292"/>
              </p:ext>
            </p:extLst>
          </p:nvPr>
        </p:nvGraphicFramePr>
        <p:xfrm>
          <a:off x="365760" y="2194560"/>
          <a:ext cx="8412480" cy="2286000"/>
        </p:xfrm>
        <a:graphic>
          <a:graphicData uri="http://schemas.openxmlformats.org/drawingml/2006/table">
            <a:tbl>
              <a:tblPr firstRow="1" bandRow="1">
                <a:tableStyleId>{68D230F3-CF80-4859-8CE7-A43EE81993B5}</a:tableStyleId>
              </a:tblPr>
              <a:tblGrid>
                <a:gridCol w="2804160">
                  <a:extLst>
                    <a:ext uri="{9D8B030D-6E8A-4147-A177-3AD203B41FA5}">
                      <a16:colId xmlns:a16="http://schemas.microsoft.com/office/drawing/2014/main" val="20000"/>
                    </a:ext>
                  </a:extLst>
                </a:gridCol>
                <a:gridCol w="280416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tblGrid>
              <a:tr h="381000">
                <a:tc>
                  <a:txBody>
                    <a:bodyPr/>
                    <a:lstStyle/>
                    <a:p>
                      <a:pPr algn="ctr">
                        <a:defRPr sz="1200" b="1">
                          <a:solidFill>
                            <a:srgbClr val="FFFFFF"/>
                          </a:solidFill>
                        </a:defRPr>
                      </a:pPr>
                      <a:r>
                        <a:rPr dirty="0">
                          <a:solidFill>
                            <a:schemeClr val="tx1"/>
                          </a:solidFill>
                        </a:rPr>
                        <a:t>Metric</a:t>
                      </a:r>
                    </a:p>
                  </a:txBody>
                  <a:tcPr/>
                </a:tc>
                <a:tc>
                  <a:txBody>
                    <a:bodyPr/>
                    <a:lstStyle/>
                    <a:p>
                      <a:pPr algn="ctr">
                        <a:defRPr sz="1200" b="1">
                          <a:solidFill>
                            <a:srgbClr val="FFFFFF"/>
                          </a:solidFill>
                        </a:defRPr>
                      </a:pPr>
                      <a:r>
                        <a:rPr dirty="0">
                          <a:solidFill>
                            <a:schemeClr val="tx1"/>
                          </a:solidFill>
                        </a:rPr>
                        <a:t>Current</a:t>
                      </a:r>
                    </a:p>
                  </a:txBody>
                  <a:tcPr/>
                </a:tc>
                <a:tc>
                  <a:txBody>
                    <a:bodyPr/>
                    <a:lstStyle/>
                    <a:p>
                      <a:pPr algn="ctr">
                        <a:defRPr sz="1200" b="1">
                          <a:solidFill>
                            <a:srgbClr val="FFFFFF"/>
                          </a:solidFill>
                        </a:defRPr>
                      </a:pPr>
                      <a:r>
                        <a:rPr dirty="0">
                          <a:solidFill>
                            <a:schemeClr val="tx1"/>
                          </a:solidFill>
                        </a:rPr>
                        <a:t>Expected</a:t>
                      </a:r>
                    </a:p>
                  </a:txBody>
                  <a:tcPr/>
                </a:tc>
                <a:extLst>
                  <a:ext uri="{0D108BD9-81ED-4DB2-BD59-A6C34878D82A}">
                    <a16:rowId xmlns:a16="http://schemas.microsoft.com/office/drawing/2014/main" val="10000"/>
                  </a:ext>
                </a:extLst>
              </a:tr>
              <a:tr h="381000">
                <a:tc>
                  <a:txBody>
                    <a:bodyPr/>
                    <a:lstStyle/>
                    <a:p>
                      <a:pPr algn="ctr">
                        <a:defRPr sz="1100">
                          <a:solidFill>
                            <a:srgbClr val="1E293B"/>
                          </a:solidFill>
                        </a:defRPr>
                      </a:pPr>
                      <a:r>
                        <a:rPr dirty="0"/>
                        <a:t>mAP50</a:t>
                      </a:r>
                    </a:p>
                  </a:txBody>
                  <a:tcPr/>
                </a:tc>
                <a:tc>
                  <a:txBody>
                    <a:bodyPr/>
                    <a:lstStyle/>
                    <a:p>
                      <a:pPr algn="ctr">
                        <a:defRPr sz="1100">
                          <a:solidFill>
                            <a:srgbClr val="1E293B"/>
                          </a:solidFill>
                        </a:defRPr>
                      </a:pPr>
                      <a:r>
                        <a:rPr dirty="0"/>
                        <a:t>92%</a:t>
                      </a:r>
                    </a:p>
                  </a:txBody>
                  <a:tcPr/>
                </a:tc>
                <a:tc>
                  <a:txBody>
                    <a:bodyPr/>
                    <a:lstStyle/>
                    <a:p>
                      <a:pPr algn="ctr">
                        <a:defRPr sz="1100" b="1">
                          <a:solidFill>
                            <a:srgbClr val="16A085"/>
                          </a:solidFill>
                        </a:defRPr>
                      </a:pPr>
                      <a:r>
                        <a:rPr dirty="0"/>
                        <a:t>9</a:t>
                      </a:r>
                      <a:r>
                        <a:rPr lang="en-US" dirty="0"/>
                        <a:t>6</a:t>
                      </a:r>
                      <a:r>
                        <a:rPr dirty="0"/>
                        <a:t>%</a:t>
                      </a:r>
                    </a:p>
                  </a:txBody>
                  <a:tcPr/>
                </a:tc>
                <a:extLst>
                  <a:ext uri="{0D108BD9-81ED-4DB2-BD59-A6C34878D82A}">
                    <a16:rowId xmlns:a16="http://schemas.microsoft.com/office/drawing/2014/main" val="10001"/>
                  </a:ext>
                </a:extLst>
              </a:tr>
              <a:tr h="381000">
                <a:tc>
                  <a:txBody>
                    <a:bodyPr/>
                    <a:lstStyle/>
                    <a:p>
                      <a:pPr algn="ctr">
                        <a:defRPr sz="1100">
                          <a:solidFill>
                            <a:srgbClr val="1E293B"/>
                          </a:solidFill>
                        </a:defRPr>
                      </a:pPr>
                      <a:r>
                        <a:t>Precision</a:t>
                      </a:r>
                    </a:p>
                  </a:txBody>
                  <a:tcPr/>
                </a:tc>
                <a:tc>
                  <a:txBody>
                    <a:bodyPr/>
                    <a:lstStyle/>
                    <a:p>
                      <a:pPr algn="ctr">
                        <a:defRPr sz="1100">
                          <a:solidFill>
                            <a:srgbClr val="1E293B"/>
                          </a:solidFill>
                        </a:defRPr>
                      </a:pPr>
                      <a:r>
                        <a:t>95%</a:t>
                      </a:r>
                    </a:p>
                  </a:txBody>
                  <a:tcPr/>
                </a:tc>
                <a:tc>
                  <a:txBody>
                    <a:bodyPr/>
                    <a:lstStyle/>
                    <a:p>
                      <a:pPr algn="ctr">
                        <a:defRPr sz="1100" b="1">
                          <a:solidFill>
                            <a:srgbClr val="16A085"/>
                          </a:solidFill>
                        </a:defRPr>
                      </a:pPr>
                      <a:r>
                        <a:t>97%</a:t>
                      </a:r>
                    </a:p>
                  </a:txBody>
                  <a:tcPr/>
                </a:tc>
                <a:extLst>
                  <a:ext uri="{0D108BD9-81ED-4DB2-BD59-A6C34878D82A}">
                    <a16:rowId xmlns:a16="http://schemas.microsoft.com/office/drawing/2014/main" val="10002"/>
                  </a:ext>
                </a:extLst>
              </a:tr>
              <a:tr h="381000">
                <a:tc>
                  <a:txBody>
                    <a:bodyPr/>
                    <a:lstStyle/>
                    <a:p>
                      <a:pPr algn="ctr">
                        <a:defRPr sz="1100">
                          <a:solidFill>
                            <a:srgbClr val="1E293B"/>
                          </a:solidFill>
                        </a:defRPr>
                      </a:pPr>
                      <a:r>
                        <a:t>Recall</a:t>
                      </a:r>
                    </a:p>
                  </a:txBody>
                  <a:tcPr/>
                </a:tc>
                <a:tc>
                  <a:txBody>
                    <a:bodyPr/>
                    <a:lstStyle/>
                    <a:p>
                      <a:pPr algn="ctr">
                        <a:defRPr sz="1100">
                          <a:solidFill>
                            <a:srgbClr val="1E293B"/>
                          </a:solidFill>
                        </a:defRPr>
                      </a:pPr>
                      <a:r>
                        <a:t>93%</a:t>
                      </a:r>
                    </a:p>
                  </a:txBody>
                  <a:tcPr/>
                </a:tc>
                <a:tc>
                  <a:txBody>
                    <a:bodyPr/>
                    <a:lstStyle/>
                    <a:p>
                      <a:pPr algn="ctr">
                        <a:defRPr sz="1100" b="1">
                          <a:solidFill>
                            <a:srgbClr val="16A085"/>
                          </a:solidFill>
                        </a:defRPr>
                      </a:pPr>
                      <a:r>
                        <a:t>95%</a:t>
                      </a:r>
                    </a:p>
                  </a:txBody>
                  <a:tcPr/>
                </a:tc>
                <a:extLst>
                  <a:ext uri="{0D108BD9-81ED-4DB2-BD59-A6C34878D82A}">
                    <a16:rowId xmlns:a16="http://schemas.microsoft.com/office/drawing/2014/main" val="10003"/>
                  </a:ext>
                </a:extLst>
              </a:tr>
              <a:tr h="381000">
                <a:tc>
                  <a:txBody>
                    <a:bodyPr/>
                    <a:lstStyle/>
                    <a:p>
                      <a:pPr algn="ctr">
                        <a:defRPr sz="1100">
                          <a:solidFill>
                            <a:srgbClr val="1E293B"/>
                          </a:solidFill>
                        </a:defRPr>
                      </a:pPr>
                      <a:r>
                        <a:t>Greenstick</a:t>
                      </a:r>
                    </a:p>
                  </a:txBody>
                  <a:tcPr/>
                </a:tc>
                <a:tc>
                  <a:txBody>
                    <a:bodyPr/>
                    <a:lstStyle/>
                    <a:p>
                      <a:pPr algn="ctr">
                        <a:defRPr sz="1100">
                          <a:solidFill>
                            <a:srgbClr val="1E293B"/>
                          </a:solidFill>
                        </a:defRPr>
                      </a:pPr>
                      <a:r>
                        <a:t>68%</a:t>
                      </a:r>
                    </a:p>
                  </a:txBody>
                  <a:tcPr/>
                </a:tc>
                <a:tc>
                  <a:txBody>
                    <a:bodyPr/>
                    <a:lstStyle/>
                    <a:p>
                      <a:pPr algn="ctr">
                        <a:defRPr sz="1100" b="1">
                          <a:solidFill>
                            <a:srgbClr val="16A085"/>
                          </a:solidFill>
                        </a:defRPr>
                      </a:pPr>
                      <a:r>
                        <a:t>85%</a:t>
                      </a:r>
                    </a:p>
                  </a:txBody>
                  <a:tcPr/>
                </a:tc>
                <a:extLst>
                  <a:ext uri="{0D108BD9-81ED-4DB2-BD59-A6C34878D82A}">
                    <a16:rowId xmlns:a16="http://schemas.microsoft.com/office/drawing/2014/main" val="10004"/>
                  </a:ext>
                </a:extLst>
              </a:tr>
              <a:tr h="381000">
                <a:tc>
                  <a:txBody>
                    <a:bodyPr/>
                    <a:lstStyle/>
                    <a:p>
                      <a:pPr algn="ctr">
                        <a:defRPr sz="1100">
                          <a:solidFill>
                            <a:srgbClr val="1E293B"/>
                          </a:solidFill>
                        </a:defRPr>
                      </a:pPr>
                      <a:r>
                        <a:t>Comminuted</a:t>
                      </a:r>
                    </a:p>
                  </a:txBody>
                  <a:tcPr/>
                </a:tc>
                <a:tc>
                  <a:txBody>
                    <a:bodyPr/>
                    <a:lstStyle/>
                    <a:p>
                      <a:pPr algn="ctr">
                        <a:defRPr sz="1100">
                          <a:solidFill>
                            <a:srgbClr val="1E293B"/>
                          </a:solidFill>
                        </a:defRPr>
                      </a:pPr>
                      <a:r>
                        <a:t>82%</a:t>
                      </a:r>
                    </a:p>
                  </a:txBody>
                  <a:tcPr/>
                </a:tc>
                <a:tc>
                  <a:txBody>
                    <a:bodyPr/>
                    <a:lstStyle/>
                    <a:p>
                      <a:pPr algn="ctr">
                        <a:defRPr sz="1100" b="1">
                          <a:solidFill>
                            <a:srgbClr val="16A085"/>
                          </a:solidFill>
                        </a:defRPr>
                      </a:pPr>
                      <a:r>
                        <a:rPr dirty="0"/>
                        <a:t>92%</a:t>
                      </a:r>
                    </a:p>
                  </a:txBody>
                  <a:tcPr/>
                </a:tc>
                <a:extLst>
                  <a:ext uri="{0D108BD9-81ED-4DB2-BD59-A6C34878D82A}">
                    <a16:rowId xmlns:a16="http://schemas.microsoft.com/office/drawing/2014/main" val="10005"/>
                  </a:ext>
                </a:extLst>
              </a:tr>
            </a:tbl>
          </a:graphicData>
        </a:graphic>
      </p:graphicFrame>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914400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457200"/>
            <a:ext cx="8229600" cy="731520"/>
          </a:xfrm>
          <a:prstGeom prst="rect">
            <a:avLst/>
          </a:prstGeom>
          <a:noFill/>
        </p:spPr>
        <p:txBody>
          <a:bodyPr wrap="none">
            <a:spAutoFit/>
          </a:bodyPr>
          <a:lstStyle/>
          <a:p>
            <a:pPr algn="ctr">
              <a:defRPr sz="3200" b="1">
                <a:solidFill>
                  <a:srgbClr val="FFFFFF"/>
                </a:solidFill>
              </a:defRPr>
            </a:pPr>
            <a:r>
              <a:t>Conclusion &amp; Summary</a:t>
            </a:r>
          </a:p>
        </p:txBody>
      </p:sp>
      <p:sp>
        <p:nvSpPr>
          <p:cNvPr id="5" name="TextBox 4"/>
          <p:cNvSpPr txBox="1"/>
          <p:nvPr/>
        </p:nvSpPr>
        <p:spPr>
          <a:xfrm>
            <a:off x="548640" y="1371600"/>
            <a:ext cx="1828800" cy="548640"/>
          </a:xfrm>
          <a:prstGeom prst="rect">
            <a:avLst/>
          </a:prstGeom>
          <a:noFill/>
        </p:spPr>
        <p:txBody>
          <a:bodyPr wrap="none">
            <a:spAutoFit/>
          </a:bodyPr>
          <a:lstStyle/>
          <a:p>
            <a:pPr algn="ctr">
              <a:defRPr sz="2800" b="1">
                <a:solidFill>
                  <a:srgbClr val="F59E0B"/>
                </a:solidFill>
              </a:defRPr>
            </a:pPr>
            <a:r>
              <a:t>95%</a:t>
            </a:r>
          </a:p>
        </p:txBody>
      </p:sp>
      <p:sp>
        <p:nvSpPr>
          <p:cNvPr id="6" name="TextBox 5"/>
          <p:cNvSpPr txBox="1"/>
          <p:nvPr/>
        </p:nvSpPr>
        <p:spPr>
          <a:xfrm>
            <a:off x="548640" y="1828800"/>
            <a:ext cx="1828800" cy="365760"/>
          </a:xfrm>
          <a:prstGeom prst="rect">
            <a:avLst/>
          </a:prstGeom>
          <a:noFill/>
        </p:spPr>
        <p:txBody>
          <a:bodyPr wrap="none">
            <a:spAutoFit/>
          </a:bodyPr>
          <a:lstStyle/>
          <a:p>
            <a:pPr algn="ctr">
              <a:defRPr sz="1200">
                <a:solidFill>
                  <a:srgbClr val="94A3B8"/>
                </a:solidFill>
              </a:defRPr>
            </a:pPr>
            <a:r>
              <a:t>Precision</a:t>
            </a:r>
          </a:p>
        </p:txBody>
      </p:sp>
      <p:sp>
        <p:nvSpPr>
          <p:cNvPr id="7" name="TextBox 6"/>
          <p:cNvSpPr txBox="1"/>
          <p:nvPr/>
        </p:nvSpPr>
        <p:spPr>
          <a:xfrm>
            <a:off x="2651760" y="1371600"/>
            <a:ext cx="1828800" cy="548640"/>
          </a:xfrm>
          <a:prstGeom prst="rect">
            <a:avLst/>
          </a:prstGeom>
          <a:noFill/>
        </p:spPr>
        <p:txBody>
          <a:bodyPr wrap="none">
            <a:spAutoFit/>
          </a:bodyPr>
          <a:lstStyle/>
          <a:p>
            <a:pPr algn="ctr">
              <a:defRPr sz="2800" b="1">
                <a:solidFill>
                  <a:srgbClr val="F59E0B"/>
                </a:solidFill>
              </a:defRPr>
            </a:pPr>
            <a:r>
              <a:t>92%</a:t>
            </a:r>
          </a:p>
        </p:txBody>
      </p:sp>
      <p:sp>
        <p:nvSpPr>
          <p:cNvPr id="8" name="TextBox 7"/>
          <p:cNvSpPr txBox="1"/>
          <p:nvPr/>
        </p:nvSpPr>
        <p:spPr>
          <a:xfrm>
            <a:off x="2651760" y="1828800"/>
            <a:ext cx="1828800" cy="365760"/>
          </a:xfrm>
          <a:prstGeom prst="rect">
            <a:avLst/>
          </a:prstGeom>
          <a:noFill/>
        </p:spPr>
        <p:txBody>
          <a:bodyPr wrap="none">
            <a:spAutoFit/>
          </a:bodyPr>
          <a:lstStyle/>
          <a:p>
            <a:pPr algn="ctr">
              <a:defRPr sz="1200">
                <a:solidFill>
                  <a:srgbClr val="94A3B8"/>
                </a:solidFill>
              </a:defRPr>
            </a:pPr>
            <a:r>
              <a:t>mAP50</a:t>
            </a:r>
          </a:p>
        </p:txBody>
      </p:sp>
      <p:sp>
        <p:nvSpPr>
          <p:cNvPr id="9" name="TextBox 8"/>
          <p:cNvSpPr txBox="1"/>
          <p:nvPr/>
        </p:nvSpPr>
        <p:spPr>
          <a:xfrm>
            <a:off x="4754879" y="1371600"/>
            <a:ext cx="1828800" cy="548640"/>
          </a:xfrm>
          <a:prstGeom prst="rect">
            <a:avLst/>
          </a:prstGeom>
          <a:noFill/>
        </p:spPr>
        <p:txBody>
          <a:bodyPr wrap="none">
            <a:spAutoFit/>
          </a:bodyPr>
          <a:lstStyle/>
          <a:p>
            <a:pPr algn="ctr">
              <a:defRPr sz="2800" b="1">
                <a:solidFill>
                  <a:srgbClr val="F59E0B"/>
                </a:solidFill>
              </a:defRPr>
            </a:pPr>
            <a:r>
              <a:t>49.7MB</a:t>
            </a:r>
          </a:p>
        </p:txBody>
      </p:sp>
      <p:sp>
        <p:nvSpPr>
          <p:cNvPr id="10" name="TextBox 9"/>
          <p:cNvSpPr txBox="1"/>
          <p:nvPr/>
        </p:nvSpPr>
        <p:spPr>
          <a:xfrm>
            <a:off x="4754879" y="1828800"/>
            <a:ext cx="1828800" cy="365760"/>
          </a:xfrm>
          <a:prstGeom prst="rect">
            <a:avLst/>
          </a:prstGeom>
          <a:noFill/>
        </p:spPr>
        <p:txBody>
          <a:bodyPr wrap="none">
            <a:spAutoFit/>
          </a:bodyPr>
          <a:lstStyle/>
          <a:p>
            <a:pPr algn="ctr">
              <a:defRPr sz="1200">
                <a:solidFill>
                  <a:srgbClr val="94A3B8"/>
                </a:solidFill>
              </a:defRPr>
            </a:pPr>
            <a:r>
              <a:t>Model Size</a:t>
            </a:r>
          </a:p>
        </p:txBody>
      </p:sp>
      <p:sp>
        <p:nvSpPr>
          <p:cNvPr id="11" name="TextBox 10"/>
          <p:cNvSpPr txBox="1"/>
          <p:nvPr/>
        </p:nvSpPr>
        <p:spPr>
          <a:xfrm>
            <a:off x="6857999" y="1371600"/>
            <a:ext cx="1828800" cy="548640"/>
          </a:xfrm>
          <a:prstGeom prst="rect">
            <a:avLst/>
          </a:prstGeom>
          <a:noFill/>
        </p:spPr>
        <p:txBody>
          <a:bodyPr wrap="none">
            <a:spAutoFit/>
          </a:bodyPr>
          <a:lstStyle/>
          <a:p>
            <a:pPr algn="ctr">
              <a:defRPr sz="2800" b="1">
                <a:solidFill>
                  <a:srgbClr val="F59E0B"/>
                </a:solidFill>
              </a:defRPr>
            </a:pPr>
            <a:r>
              <a:t>10</a:t>
            </a:r>
          </a:p>
        </p:txBody>
      </p:sp>
      <p:sp>
        <p:nvSpPr>
          <p:cNvPr id="12" name="TextBox 11"/>
          <p:cNvSpPr txBox="1"/>
          <p:nvPr/>
        </p:nvSpPr>
        <p:spPr>
          <a:xfrm>
            <a:off x="6857999" y="1828800"/>
            <a:ext cx="1828800" cy="365760"/>
          </a:xfrm>
          <a:prstGeom prst="rect">
            <a:avLst/>
          </a:prstGeom>
          <a:noFill/>
        </p:spPr>
        <p:txBody>
          <a:bodyPr wrap="none">
            <a:spAutoFit/>
          </a:bodyPr>
          <a:lstStyle/>
          <a:p>
            <a:pPr algn="ctr">
              <a:defRPr sz="1200">
                <a:solidFill>
                  <a:srgbClr val="94A3B8"/>
                </a:solidFill>
              </a:defRPr>
            </a:pPr>
            <a:r>
              <a:t>Classes</a:t>
            </a:r>
          </a:p>
        </p:txBody>
      </p:sp>
      <p:sp>
        <p:nvSpPr>
          <p:cNvPr id="13" name="TextBox 12"/>
          <p:cNvSpPr txBox="1"/>
          <p:nvPr/>
        </p:nvSpPr>
        <p:spPr>
          <a:xfrm>
            <a:off x="457200" y="2468880"/>
            <a:ext cx="8229600" cy="2286000"/>
          </a:xfrm>
          <a:prstGeom prst="rect">
            <a:avLst/>
          </a:prstGeom>
          <a:noFill/>
        </p:spPr>
        <p:txBody>
          <a:bodyPr wrap="square">
            <a:spAutoFit/>
          </a:bodyPr>
          <a:lstStyle/>
          <a:p>
            <a:pPr>
              <a:spcAft>
                <a:spcPts val="1000"/>
              </a:spcAft>
              <a:defRPr sz="1400">
                <a:solidFill>
                  <a:srgbClr val="FFFFFF"/>
                </a:solidFill>
              </a:defRPr>
            </a:pPr>
            <a:r>
              <a:t>• YOLOv8 achieves state-of-the-art performance for bone fracture detection</a:t>
            </a:r>
          </a:p>
          <a:p>
            <a:pPr>
              <a:spcAft>
                <a:spcPts val="1000"/>
              </a:spcAft>
              <a:defRPr sz="1400">
                <a:solidFill>
                  <a:srgbClr val="FFFFFF"/>
                </a:solidFill>
              </a:defRPr>
            </a:pPr>
            <a:r>
              <a:t>• Multi-modal approach (X-ray + MRI) enhances diagnostic capability</a:t>
            </a:r>
          </a:p>
          <a:p>
            <a:pPr>
              <a:spcAft>
                <a:spcPts val="1000"/>
              </a:spcAft>
              <a:defRPr sz="1400">
                <a:solidFill>
                  <a:srgbClr val="FFFFFF"/>
                </a:solidFill>
              </a:defRPr>
            </a:pPr>
            <a:r>
              <a:t>• Compact model (49.7 MB) enables real-time clinical deployment</a:t>
            </a:r>
          </a:p>
          <a:p>
            <a:pPr>
              <a:spcAft>
                <a:spcPts val="1000"/>
              </a:spcAft>
              <a:defRPr sz="1400">
                <a:solidFill>
                  <a:srgbClr val="FFFFFF"/>
                </a:solidFill>
              </a:defRPr>
            </a:pPr>
            <a:r>
              <a:t>• Proposed CBAM integration expected to improve accuracy by 4%</a:t>
            </a:r>
          </a:p>
          <a:p>
            <a:pPr>
              <a:spcAft>
                <a:spcPts val="1000"/>
              </a:spcAft>
              <a:defRPr sz="1400">
                <a:solidFill>
                  <a:srgbClr val="FFFFFF"/>
                </a:solidFill>
              </a:defRPr>
            </a:pPr>
            <a:r>
              <a:t>• Future work: CT integration, severity grading, larger datasets</a:t>
            </a: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DCC06-C42C-FC7A-3984-99A4B54121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4A34C3B-433C-CE37-5524-75C8D454FDF4}"/>
              </a:ext>
            </a:extLst>
          </p:cNvPr>
          <p:cNvSpPr/>
          <p:nvPr/>
        </p:nvSpPr>
        <p:spPr>
          <a:xfrm>
            <a:off x="0" y="0"/>
            <a:ext cx="9144000" cy="51435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78B01AE5-76E7-1928-A7A1-9FFF9EED6215}"/>
              </a:ext>
            </a:extLst>
          </p:cNvPr>
          <p:cNvSpPr/>
          <p:nvPr/>
        </p:nvSpPr>
        <p:spPr>
          <a:xfrm>
            <a:off x="0" y="0"/>
            <a:ext cx="914400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D156FE1-BAF9-764A-7618-4A06A3DDB386}"/>
              </a:ext>
            </a:extLst>
          </p:cNvPr>
          <p:cNvSpPr txBox="1"/>
          <p:nvPr/>
        </p:nvSpPr>
        <p:spPr>
          <a:xfrm>
            <a:off x="3271291" y="2187029"/>
            <a:ext cx="2601418" cy="769441"/>
          </a:xfrm>
          <a:prstGeom prst="rect">
            <a:avLst/>
          </a:prstGeom>
          <a:noFill/>
        </p:spPr>
        <p:txBody>
          <a:bodyPr wrap="none">
            <a:spAutoFit/>
          </a:bodyPr>
          <a:lstStyle/>
          <a:p>
            <a:pPr algn="ctr">
              <a:defRPr sz="3200" b="1">
                <a:solidFill>
                  <a:srgbClr val="FFFFFF"/>
                </a:solidFill>
              </a:defRPr>
            </a:pPr>
            <a:r>
              <a:rPr lang="en-US" sz="4400" dirty="0"/>
              <a:t>Thank You</a:t>
            </a:r>
            <a:endParaRPr sz="4400" dirty="0"/>
          </a:p>
        </p:txBody>
      </p:sp>
    </p:spTree>
    <p:extLst>
      <p:ext uri="{BB962C8B-B14F-4D97-AF65-F5344CB8AC3E}">
        <p14:creationId xmlns:p14="http://schemas.microsoft.com/office/powerpoint/2010/main" val="2861102038"/>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1055</TotalTime>
  <Words>2469</Words>
  <Application>Microsoft Office PowerPoint</Application>
  <PresentationFormat>On-screen Show (16:9)</PresentationFormat>
  <Paragraphs>376</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微软雅黑</vt: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RAIYEN ZAYED RAKIN</cp:lastModifiedBy>
  <cp:revision>6</cp:revision>
  <dcterms:created xsi:type="dcterms:W3CDTF">2013-01-27T09:14:16Z</dcterms:created>
  <dcterms:modified xsi:type="dcterms:W3CDTF">2025-12-30T05:23:10Z</dcterms:modified>
  <cp:category/>
</cp:coreProperties>
</file>