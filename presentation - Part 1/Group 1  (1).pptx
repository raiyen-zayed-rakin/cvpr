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66" r:id="rId4"/>
    <p:sldId id="267" r:id="rId5"/>
    <p:sldId id="292" r:id="rId6"/>
    <p:sldId id="268" r:id="rId7"/>
    <p:sldId id="259" r:id="rId8"/>
    <p:sldId id="289" r:id="rId9"/>
    <p:sldId id="290" r:id="rId10"/>
    <p:sldId id="294" r:id="rId11"/>
    <p:sldId id="296" r:id="rId12"/>
    <p:sldId id="308" r:id="rId13"/>
    <p:sldId id="309" r:id="rId14"/>
    <p:sldId id="319" r:id="rId15"/>
    <p:sldId id="310" r:id="rId16"/>
    <p:sldId id="311" r:id="rId17"/>
    <p:sldId id="270" r:id="rId18"/>
    <p:sldId id="291" r:id="rId19"/>
    <p:sldId id="312" r:id="rId20"/>
    <p:sldId id="293" r:id="rId21"/>
    <p:sldId id="313" r:id="rId22"/>
    <p:sldId id="314" r:id="rId23"/>
    <p:sldId id="295" r:id="rId24"/>
    <p:sldId id="282" r:id="rId25"/>
    <p:sldId id="283" r:id="rId26"/>
    <p:sldId id="315" r:id="rId27"/>
    <p:sldId id="318" r:id="rId28"/>
    <p:sldId id="316" r:id="rId29"/>
    <p:sldId id="317" r:id="rId30"/>
    <p:sldId id="320" r:id="rId31"/>
    <p:sldId id="28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75" d="100"/>
          <a:sy n="75" d="100"/>
        </p:scale>
        <p:origin x="96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B6BEF3-D214-8484-2A9F-C7685D6AD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AFA0C-DE71-368C-D368-67F9921D7A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13EC1-3398-40A2-B09B-B3B16059A87D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CEBE2-CA61-1B77-E089-CF7B930830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E2AEB-4BD2-904C-9001-665E058DE9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C4459-2867-4673-8755-DA2C8F152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9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3D166-2171-4A67-ABFB-2F87CDE0C6E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52650-1C4C-43C8-8F49-F3E4E1C72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36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57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3E39-E5D4-8B75-757F-766FF744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17024-FC2C-45CE-DDF5-3A14764BC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23B67-6D87-5374-9895-CC282A857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model's improvements are marginal over YOLOv8s, and the additional parameters may slightly impact deployment efficiency in resource-constrained environments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EC000-0F15-E423-7E9C-C1FB192D2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78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5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model's improvements are marginal over YOLOv8s, and the additional parameters may slightly impact deployment efficiency in resource-constrained environments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4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53F6-16E5-D75F-DED0-565E9C13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22061-D13D-FD58-45BE-BFF1FCE2B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1CFF3-21D1-371D-AD35-A165107AF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model's improvements are marginal over YOLOv8s, and the additional parameters may slightly impact deployment efficiency in resource-constrained environments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C7B9A-284F-58BD-45CF-3A93BB51E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21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7D36-772C-497A-2E8A-EA07E6A06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A33A8-E846-D4F5-019F-20196542D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BFBC7-2B31-EF4C-8DE3-565F76F7F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model's improvements are marginal over YOLOv8s, and the additional parameters may slightly impact deployment efficiency in resource-constrained environments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C57CF-0846-DD25-9B08-A7C152708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7039A-56C0-408D-B362-09383F6F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4E26D-1EAA-88A3-E22A-8ECE2899C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A4000-EEEC-D782-5E20-E2C5B089A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493C-9897-8B8D-6CFD-65539E883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81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B437-C5DA-03C6-F996-7058CA73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82071-ECC1-0F65-C3FB-F91BBD78C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099D9-923B-BB23-8D0F-B0828ED04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C0BA5-822B-FD40-31CD-049542E8D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EE3A7-7A90-2853-4EDE-D728D907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ABD1D-63D3-1854-7E79-E89E9F824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BDD30-87E3-1E8C-CCE6-5EC79FF9A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9116C-98D0-B6C9-29ED-CC74B7069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2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0FDB-C44A-2CE5-D9D7-60F95FE6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D2198-0F80-B0CE-AA99-199D1550F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7ACA9-BF00-1819-7B97-BED067040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15CD5-1F42-C3AD-4F05-9074A8835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22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73BF-561B-7F52-83A3-AB781A11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975D-3953-C21A-0B83-37D464D53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FFA29-ABD8-2A0F-34CF-369517650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0AD05-D68C-7162-44F8-ABD6008B4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84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2AE9-D86A-AAF8-4F6D-D93EA9BF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FA064-78C8-581B-275F-2866B1EF5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DE7C1-F982-40E6-ADEC-B08C1915D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F6035-7ED2-0CF3-69CF-ECF9256B2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21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EEBD-3BBE-1025-DCA6-24CEE481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F6391-D019-A64B-DB15-EB1890A53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CCEAA-A8B0-2FF7-B829-093EEE9E5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1A1EF-3008-41EA-6776-A5E66662F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50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8155-C822-B943-CE4B-7F6E16CC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9E662-CACF-6B1B-CF95-4BC3E17E4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FCE8E-3B7D-E280-FFCF-F9AF6744D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44A4A-AA00-9C7F-840F-96AF93C99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97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87B8-CBAB-BA0D-A7D2-54C9C021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61AE2-AAE7-B2CF-A482-2A70C7EA5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DBE76-FD4E-2F00-46AF-2FFF5C4A8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optimized Conv layers improve feature extraction while maintaining high detection accuracy.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5EA9D-301A-AAD6-995D-841212AA0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52650-1C4C-43C8-8F49-F3E4E1C7282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38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CFD5F6-354D-47E7-8011-C0221EDA82EB}" type="datetime1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2B83BE-0F24-4400-B35A-42BE56C3F403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ED2ED-9B9D-8042-7DF6-4C1360535C63}"/>
              </a:ext>
            </a:extLst>
          </p:cNvPr>
          <p:cNvSpPr/>
          <p:nvPr userDrawn="1"/>
        </p:nvSpPr>
        <p:spPr>
          <a:xfrm>
            <a:off x="0" y="1521824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1523F00-0231-4CC5-AACE-D79F8E419C06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6063E-CE90-8CA8-546B-15BA0997D153}"/>
              </a:ext>
            </a:extLst>
          </p:cNvPr>
          <p:cNvSpPr/>
          <p:nvPr userDrawn="1"/>
        </p:nvSpPr>
        <p:spPr>
          <a:xfrm>
            <a:off x="0" y="1521824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F46BA7-B04F-4514-98DA-320831CE2F9D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A21E7-839B-E08F-E24A-8EC34854BDB9}"/>
              </a:ext>
            </a:extLst>
          </p:cNvPr>
          <p:cNvSpPr/>
          <p:nvPr userDrawn="1"/>
        </p:nvSpPr>
        <p:spPr>
          <a:xfrm>
            <a:off x="0" y="1521824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A89226-7E92-4209-91CF-3F974D2EE4F7}" type="datetime1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0D6119-6614-4BCA-A7B6-27BA900AEB59}" type="datetime1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1B70D-09B1-617B-A152-27C92B8D2F6C}"/>
              </a:ext>
            </a:extLst>
          </p:cNvPr>
          <p:cNvSpPr/>
          <p:nvPr userDrawn="1"/>
        </p:nvSpPr>
        <p:spPr>
          <a:xfrm>
            <a:off x="0" y="1521824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E80A83-37E9-4420-B0DE-ABF40D4A8528}" type="datetime1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967B21-B2F4-4E21-AFC4-BD4F8AA315F9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1A26EF-00B0-4AB7-958D-BA47FA4E9EAE}" type="datetime1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D05A24-8D78-4469-8584-C338A4110589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86ED4-40F0-43EA-BF67-70F81268C8B2}" type="datetime1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slidescorner.com/ppt-backgrounds/health-and-medical-blue-ppt-background-hd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Computer Vision &amp; Pattern Recognition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8C9BAF4-A7AC-4917-CB4C-95C1E7E653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023" y="-85107"/>
            <a:ext cx="2293555" cy="16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6DD8E7-5C22-0B22-D32B-2AE2C04A5FEF}"/>
              </a:ext>
            </a:extLst>
          </p:cNvPr>
          <p:cNvSpPr/>
          <p:nvPr userDrawn="1"/>
        </p:nvSpPr>
        <p:spPr>
          <a:xfrm>
            <a:off x="0" y="6198078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>
            <a:lumMod val="75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3-47460-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s22031285" TargetMode="External"/><Relationship Id="rId5" Type="http://schemas.openxmlformats.org/officeDocument/2006/relationships/hyperlink" Target="https://doi.org/10.3390/s22155823" TargetMode="External"/><Relationship Id="rId4" Type="http://schemas.openxmlformats.org/officeDocument/2006/relationships/hyperlink" Target="https://doi.org/10.24423/cames.682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7" y="4169532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b="1" dirty="0"/>
              <a:t>Presented by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Yousha Rashid, Avoy Mollick, </a:t>
            </a:r>
            <a:r>
              <a:rPr lang="en-US" sz="1800" dirty="0" err="1"/>
              <a:t>Nawshin</a:t>
            </a:r>
            <a:r>
              <a:rPr lang="en-US" sz="1800" dirty="0"/>
              <a:t> Navin, Raiyen Zayed Rakin</a:t>
            </a:r>
            <a:endParaRPr lang="en-US" altLang="en-US" sz="1800" dirty="0"/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Department of Computer Science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American International University-Bangladesh (AIUB)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Dhaka, Bangladesh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3085" y="1826570"/>
            <a:ext cx="10665823" cy="1344562"/>
          </a:xfrm>
        </p:spPr>
        <p:txBody>
          <a:bodyPr>
            <a:noAutofit/>
          </a:bodyPr>
          <a:lstStyle/>
          <a:p>
            <a:r>
              <a:rPr lang="en-US" sz="3600" dirty="0"/>
              <a:t>Real-Time Human Bone Fracture Detection Using YOLOv8</a:t>
            </a:r>
            <a:endParaRPr lang="en-US" sz="2000" dirty="0"/>
          </a:p>
        </p:txBody>
      </p:sp>
      <p:pic>
        <p:nvPicPr>
          <p:cNvPr id="2050" name="Picture 2" descr="American International University-Bangladesh - Wikipedia">
            <a:extLst>
              <a:ext uri="{FF2B5EF4-FFF2-40B4-BE49-F238E27FC236}">
                <a16:creationId xmlns:a16="http://schemas.microsoft.com/office/drawing/2014/main" id="{60D05D3A-C36E-171F-375C-EDE562541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087" y="228771"/>
            <a:ext cx="1213825" cy="119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EC324C-8A58-1D0A-22C6-544F373555B0}"/>
              </a:ext>
            </a:extLst>
          </p:cNvPr>
          <p:cNvSpPr txBox="1"/>
          <p:nvPr/>
        </p:nvSpPr>
        <p:spPr>
          <a:xfrm>
            <a:off x="2635972" y="3094704"/>
            <a:ext cx="6920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</a:p>
          <a:p>
            <a:pPr algn="ctr"/>
            <a:r>
              <a:rPr lang="en-US" dirty="0" err="1"/>
              <a:t>Shahnaj</a:t>
            </a:r>
            <a:r>
              <a:rPr lang="en-US" dirty="0"/>
              <a:t> Parvin &amp; Abdur Rahman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449AF7-78BE-F8E8-7ACD-6E5D794C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6B74E5E-23C3-2939-BA62-015185A0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29C43D-57D7-4E32-C4AC-A673B6E85757}"/>
              </a:ext>
            </a:extLst>
          </p:cNvPr>
          <p:cNvSpPr txBox="1">
            <a:spLocks/>
          </p:cNvSpPr>
          <p:nvPr/>
        </p:nvSpPr>
        <p:spPr>
          <a:xfrm>
            <a:off x="-533400" y="63563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Section C, 28/12/25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C96301-7D6F-7BD1-A3F0-2D445715D359}"/>
              </a:ext>
            </a:extLst>
          </p:cNvPr>
          <p:cNvSpPr txBox="1">
            <a:spLocks/>
          </p:cNvSpPr>
          <p:nvPr/>
        </p:nvSpPr>
        <p:spPr>
          <a:xfrm>
            <a:off x="763085" y="1343655"/>
            <a:ext cx="10665823" cy="691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3200" b="1" u="sng" dirty="0"/>
              <a:t>CASE STUDY:</a:t>
            </a:r>
            <a:endParaRPr lang="en-US" sz="1800" b="1" u="sng" dirty="0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B29E-52DE-EA62-6B7F-35847264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6A3C-E5EF-F2BE-AC93-82F828E4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Clr>
                <a:srgbClr val="C08E00"/>
              </a:buClr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Problem Background 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Research Objectives 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Research Gaps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Research Contributions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Related Studies</a:t>
            </a:r>
          </a:p>
          <a:p>
            <a:pPr marL="514350" indent="-514350">
              <a:buClr>
                <a:srgbClr val="C08E00"/>
              </a:buClr>
              <a:buFont typeface="+mj-lt"/>
              <a:buAutoNum type="arabicPeriod"/>
            </a:pPr>
            <a:r>
              <a:rPr lang="en-US" dirty="0"/>
              <a:t>Methodology 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 Collection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 Pre-processing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Data Analysis Process</a:t>
            </a:r>
          </a:p>
          <a:p>
            <a:pPr marL="514350" indent="-514350">
              <a:buClr>
                <a:srgbClr val="C08E00"/>
              </a:buClr>
              <a:buFont typeface="+mj-lt"/>
              <a:buAutoNum type="arabicPeriod"/>
            </a:pPr>
            <a:r>
              <a:rPr lang="en-US" dirty="0"/>
              <a:t>Results and Findings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Key Findings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Solution &amp; Validation</a:t>
            </a:r>
          </a:p>
          <a:p>
            <a:pPr marL="514350" indent="-514350">
              <a:buClr>
                <a:srgbClr val="C08E00"/>
              </a:buClr>
              <a:buFont typeface="+mj-lt"/>
              <a:buAutoNum type="arabicPeriod"/>
            </a:pPr>
            <a:r>
              <a:rPr lang="en-US" dirty="0"/>
              <a:t>Hypothesis &amp; Conclusion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Hypothesis discussion</a:t>
            </a:r>
          </a:p>
          <a:p>
            <a:pPr lvl="1">
              <a:buClr>
                <a:srgbClr val="C08E00"/>
              </a:buClr>
              <a:buFont typeface="Wingdings" panose="05000000000000000000" pitchFamily="2" charset="2"/>
              <a:buChar char="Ø"/>
            </a:pPr>
            <a:r>
              <a:rPr lang="en-US" dirty="0"/>
              <a:t>Conclusion Remarks, Limitations &amp; Future Scope</a:t>
            </a:r>
          </a:p>
          <a:p>
            <a:pPr marL="514350" indent="-514350">
              <a:buClr>
                <a:srgbClr val="C08E00"/>
              </a:buClr>
              <a:buFont typeface="+mj-lt"/>
              <a:buAutoNum type="arabicPeriod"/>
            </a:pPr>
            <a:r>
              <a:rPr lang="en-US" dirty="0"/>
              <a:t>References</a:t>
            </a:r>
          </a:p>
          <a:p>
            <a:pPr marL="0" indent="0">
              <a:buClr>
                <a:srgbClr val="C08E00"/>
              </a:buCl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02292-1337-4979-FFA4-54E3E40DF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1156B2C-BBAB-7049-B475-FA8EF7DB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476092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76FA-32BE-2CD7-FDCC-D85B55E2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Background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59BA4-0DD6-883E-BA79-413B17D6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F4DE319-4CE3-1382-7132-2B653240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Pattern Recognition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00358-DE25-A569-095C-D888C670258F}"/>
              </a:ext>
            </a:extLst>
          </p:cNvPr>
          <p:cNvSpPr txBox="1"/>
          <p:nvPr/>
        </p:nvSpPr>
        <p:spPr>
          <a:xfrm>
            <a:off x="988142" y="1690688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D19CBF-082D-DBA5-4652-51AF1C0E5CDD}"/>
              </a:ext>
            </a:extLst>
          </p:cNvPr>
          <p:cNvSpPr txBox="1"/>
          <p:nvPr/>
        </p:nvSpPr>
        <p:spPr>
          <a:xfrm>
            <a:off x="1133168" y="2079852"/>
            <a:ext cx="709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206 bones in human body - fractures are common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6E46F-73A9-A20F-B7EA-0036EDEC65D6}"/>
              </a:ext>
            </a:extLst>
          </p:cNvPr>
          <p:cNvSpPr txBox="1"/>
          <p:nvPr/>
        </p:nvSpPr>
        <p:spPr>
          <a:xfrm>
            <a:off x="1133167" y="2370136"/>
            <a:ext cx="86892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X-ray/MRI evaluation: Time-consuming &amp; error-prone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59002-0CCF-BAF5-5DC5-301CC58AF328}"/>
              </a:ext>
            </a:extLst>
          </p:cNvPr>
          <p:cNvSpPr txBox="1"/>
          <p:nvPr/>
        </p:nvSpPr>
        <p:spPr>
          <a:xfrm>
            <a:off x="1133168" y="266312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Tired radiologists may miss fractures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2DBB50-1C1E-DF8D-DD1F-6177A89AF1CD}"/>
              </a:ext>
            </a:extLst>
          </p:cNvPr>
          <p:cNvSpPr txBox="1"/>
          <p:nvPr/>
        </p:nvSpPr>
        <p:spPr>
          <a:xfrm>
            <a:off x="1133167" y="2996866"/>
            <a:ext cx="8295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Non-orthopedic physicians in remote locations need assistance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D9292F-B235-0854-A357-D9A5FB4A4233}"/>
              </a:ext>
            </a:extLst>
          </p:cNvPr>
          <p:cNvSpPr txBox="1"/>
          <p:nvPr/>
        </p:nvSpPr>
        <p:spPr>
          <a:xfrm>
            <a:off x="988142" y="3604157"/>
            <a:ext cx="79100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Need: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Automated, real-time system for accurate fracture detection and classification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B1C098-9676-2A0B-7530-4891A8301E8E}"/>
              </a:ext>
            </a:extLst>
          </p:cNvPr>
          <p:cNvSpPr txBox="1"/>
          <p:nvPr/>
        </p:nvSpPr>
        <p:spPr>
          <a:xfrm>
            <a:off x="988142" y="4549491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EF0D2C-0CBB-FCE0-C62C-09581141ADB3}"/>
              </a:ext>
            </a:extLst>
          </p:cNvPr>
          <p:cNvSpPr txBox="1"/>
          <p:nvPr/>
        </p:nvSpPr>
        <p:spPr>
          <a:xfrm>
            <a:off x="1133168" y="4957980"/>
            <a:ext cx="6100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diagnosis → Better patient outcomes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8EAA36-7D4F-AD4F-9605-92A7262E32AC}"/>
              </a:ext>
            </a:extLst>
          </p:cNvPr>
          <p:cNvSpPr txBox="1"/>
          <p:nvPr/>
        </p:nvSpPr>
        <p:spPr>
          <a:xfrm>
            <a:off x="1133168" y="5248264"/>
            <a:ext cx="6880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human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68F1C2-7366-28E1-3912-4C7E8CCBEFB8}"/>
              </a:ext>
            </a:extLst>
          </p:cNvPr>
          <p:cNvSpPr txBox="1"/>
          <p:nvPr/>
        </p:nvSpPr>
        <p:spPr>
          <a:xfrm>
            <a:off x="1133167" y="5541252"/>
            <a:ext cx="6880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under-resourced medical facilities</a:t>
            </a:r>
          </a:p>
        </p:txBody>
      </p:sp>
    </p:spTree>
    <p:extLst>
      <p:ext uri="{BB962C8B-B14F-4D97-AF65-F5344CB8AC3E}">
        <p14:creationId xmlns:p14="http://schemas.microsoft.com/office/powerpoint/2010/main" val="32108032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0" grpId="0"/>
      <p:bldP spid="21" grpId="0" build="allAtOnce"/>
      <p:bldP spid="26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0A1F-9D53-8CA8-0A62-FD45B86E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26095-DB98-B942-30CA-8BA62A73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1042483-E602-800B-5622-87A8A2EB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6CE850-83F0-9EAF-3106-A957E708F575}"/>
              </a:ext>
            </a:extLst>
          </p:cNvPr>
          <p:cNvSpPr txBox="1"/>
          <p:nvPr/>
        </p:nvSpPr>
        <p:spPr>
          <a:xfrm>
            <a:off x="988142" y="2110282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Goals: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0A7F91-CE9B-8731-817C-BF6EAD54E72A}"/>
              </a:ext>
            </a:extLst>
          </p:cNvPr>
          <p:cNvSpPr txBox="1"/>
          <p:nvPr/>
        </p:nvSpPr>
        <p:spPr>
          <a:xfrm>
            <a:off x="1133167" y="2594337"/>
            <a:ext cx="8217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Detect</a:t>
            </a:r>
            <a:r>
              <a:rPr lang="en-US" sz="2400" dirty="0"/>
              <a:t> fractured vs. healthy bones from multi-modal images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8E607-51F5-FE30-3280-ABCDD7327C1C}"/>
              </a:ext>
            </a:extLst>
          </p:cNvPr>
          <p:cNvSpPr txBox="1"/>
          <p:nvPr/>
        </p:nvSpPr>
        <p:spPr>
          <a:xfrm>
            <a:off x="1133167" y="3077806"/>
            <a:ext cx="86892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Classify</a:t>
            </a:r>
            <a:r>
              <a:rPr lang="en-US" sz="2400" dirty="0"/>
              <a:t> 10 different types of bone fractures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BBD51-94D7-B8CD-2B5A-3FE6654EC44E}"/>
              </a:ext>
            </a:extLst>
          </p:cNvPr>
          <p:cNvSpPr txBox="1"/>
          <p:nvPr/>
        </p:nvSpPr>
        <p:spPr>
          <a:xfrm>
            <a:off x="1133167" y="3561275"/>
            <a:ext cx="7627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Achieve</a:t>
            </a:r>
            <a:r>
              <a:rPr lang="en-US" sz="2400" dirty="0"/>
              <a:t> real-time performance suitable for clinical 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6EA0B6-19FA-582A-9421-423A2A3CC8B0}"/>
              </a:ext>
            </a:extLst>
          </p:cNvPr>
          <p:cNvSpPr txBox="1"/>
          <p:nvPr/>
        </p:nvSpPr>
        <p:spPr>
          <a:xfrm>
            <a:off x="1133167" y="4644093"/>
            <a:ext cx="79100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Innovation:</a:t>
            </a:r>
            <a:r>
              <a:rPr lang="en-US" sz="2400" dirty="0"/>
              <a:t> Multi-modal approach combining X-ray and MRI images for comprehensive analysis</a:t>
            </a:r>
          </a:p>
        </p:txBody>
      </p:sp>
    </p:spTree>
    <p:extLst>
      <p:ext uri="{BB962C8B-B14F-4D97-AF65-F5344CB8AC3E}">
        <p14:creationId xmlns:p14="http://schemas.microsoft.com/office/powerpoint/2010/main" val="4272172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F563-C94D-3A1D-CD11-E104FB85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A164-5DE7-D26B-47D5-570CD1B6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36E41-C698-BED0-3523-12FBD577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60C5B5E-0D41-5E83-6615-1A3D6CAA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85F7D7-D8B0-8ABA-2744-44D6FEB2C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581"/>
              </p:ext>
            </p:extLst>
          </p:nvPr>
        </p:nvGraphicFramePr>
        <p:xfrm>
          <a:off x="98322" y="2102516"/>
          <a:ext cx="11995355" cy="160178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2735976075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3113955708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1590356582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3510449470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4233876891"/>
                    </a:ext>
                  </a:extLst>
                </a:gridCol>
              </a:tblGrid>
              <a:tr h="4004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Study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Model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Dataset Size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Precision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Limitations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4903586"/>
                  </a:ext>
                </a:extLst>
              </a:tr>
              <a:tr h="4004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Karanam et al.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InceptionResNetV2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6 classes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94.58%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Single modality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558731"/>
                  </a:ext>
                </a:extLst>
              </a:tr>
              <a:tr h="4004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Vironicka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Faster R-CNN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2 classes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94.7%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Limited classes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8732185"/>
                  </a:ext>
                </a:extLst>
              </a:tr>
              <a:tr h="4004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Nguyn et al.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YOLOv7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MURA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</a:rPr>
                        <a:t>84.03%</a:t>
                      </a:r>
                      <a:endParaRPr lang="en-US" sz="2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</a:rPr>
                        <a:t>Lower accuracy</a:t>
                      </a:r>
                      <a:endParaRPr lang="en-US" sz="2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34948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DEDF79-623D-7239-0301-F362205C9E0B}"/>
              </a:ext>
            </a:extLst>
          </p:cNvPr>
          <p:cNvSpPr txBox="1"/>
          <p:nvPr/>
        </p:nvSpPr>
        <p:spPr>
          <a:xfrm>
            <a:off x="1133167" y="1566826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Approaches: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95AF8-51E8-1D33-BD93-30F86C780713}"/>
              </a:ext>
            </a:extLst>
          </p:cNvPr>
          <p:cNvSpPr txBox="1"/>
          <p:nvPr/>
        </p:nvSpPr>
        <p:spPr>
          <a:xfrm>
            <a:off x="988142" y="3994588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Research Gap: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51A977-500B-1FFF-ABDF-3C0A1ED0373A}"/>
              </a:ext>
            </a:extLst>
          </p:cNvPr>
          <p:cNvSpPr txBox="1"/>
          <p:nvPr/>
        </p:nvSpPr>
        <p:spPr>
          <a:xfrm>
            <a:off x="1133167" y="4383346"/>
            <a:ext cx="6100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Limited multi-modal datasets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58747-A6A2-9C3C-DF11-748C08B39828}"/>
              </a:ext>
            </a:extLst>
          </p:cNvPr>
          <p:cNvSpPr txBox="1"/>
          <p:nvPr/>
        </p:nvSpPr>
        <p:spPr>
          <a:xfrm>
            <a:off x="1133167" y="4837260"/>
            <a:ext cx="68801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Few comprehensive fracture classification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50537-7077-E52C-AD93-E11D6D2AEE18}"/>
              </a:ext>
            </a:extLst>
          </p:cNvPr>
          <p:cNvSpPr txBox="1"/>
          <p:nvPr/>
        </p:nvSpPr>
        <p:spPr>
          <a:xfrm>
            <a:off x="1133167" y="5291174"/>
            <a:ext cx="6880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for improved real-time performance</a:t>
            </a:r>
          </a:p>
        </p:txBody>
      </p:sp>
    </p:spTree>
    <p:extLst>
      <p:ext uri="{BB962C8B-B14F-4D97-AF65-F5344CB8AC3E}">
        <p14:creationId xmlns:p14="http://schemas.microsoft.com/office/powerpoint/2010/main" val="35595294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43A4-9AA4-13A1-9BBC-5218EA64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Contributions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A3BB-F2DF-9B16-A1D0-DA428C90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b="0" smtClean="0"/>
              <a:t>6</a:t>
            </a:fld>
            <a:endParaRPr lang="en-US" b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1C49A97-032A-9AA4-EE56-88365EF8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&amp; Pattern Recognition </a:t>
            </a:r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7070B-71E2-1D86-3301-B297A4F68FDA}"/>
              </a:ext>
            </a:extLst>
          </p:cNvPr>
          <p:cNvSpPr txBox="1"/>
          <p:nvPr/>
        </p:nvSpPr>
        <p:spPr>
          <a:xfrm>
            <a:off x="838199" y="2001834"/>
            <a:ext cx="9751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multi-modal dataset (HBFMID) - 1,539 images (X-ray + MRI) with 10 fracture classes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A8290-452F-8402-7DE3-97ED5CBFEC35}"/>
              </a:ext>
            </a:extLst>
          </p:cNvPr>
          <p:cNvSpPr txBox="1"/>
          <p:nvPr/>
        </p:nvSpPr>
        <p:spPr>
          <a:xfrm>
            <a:off x="838199" y="2832831"/>
            <a:ext cx="109211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YOLOv8-based detection system achieving 95% precision and 93% recall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7B828-AC5B-C6CB-024B-0BACBF0DC29C}"/>
              </a:ext>
            </a:extLst>
          </p:cNvPr>
          <p:cNvSpPr txBox="1"/>
          <p:nvPr/>
        </p:nvSpPr>
        <p:spPr>
          <a:xfrm>
            <a:off x="838199" y="3294496"/>
            <a:ext cx="87482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strategy to overcome small dataset limitations (641 → 1,539 images)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BABCD-7A13-E6D4-2030-DC45A30482C0}"/>
              </a:ext>
            </a:extLst>
          </p:cNvPr>
          <p:cNvSpPr txBox="1"/>
          <p:nvPr/>
        </p:nvSpPr>
        <p:spPr>
          <a:xfrm>
            <a:off x="838201" y="4104616"/>
            <a:ext cx="10350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performance comparison with existing state-of-the-art models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44BEE1-A10B-65F5-41C5-9B3F4E69FA4C}"/>
              </a:ext>
            </a:extLst>
          </p:cNvPr>
          <p:cNvSpPr txBox="1"/>
          <p:nvPr/>
        </p:nvSpPr>
        <p:spPr>
          <a:xfrm>
            <a:off x="838201" y="4587158"/>
            <a:ext cx="10055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capability with 4ms inference time per image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A1BB86-9A2A-12F7-0DE4-0340716E6CC4}"/>
              </a:ext>
            </a:extLst>
          </p:cNvPr>
          <p:cNvSpPr txBox="1"/>
          <p:nvPr/>
        </p:nvSpPr>
        <p:spPr>
          <a:xfrm>
            <a:off x="838200" y="5045816"/>
            <a:ext cx="107245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applicability - System suitable for emergency and remote healthcare settings </a:t>
            </a:r>
          </a:p>
        </p:txBody>
      </p:sp>
    </p:spTree>
    <p:extLst>
      <p:ext uri="{BB962C8B-B14F-4D97-AF65-F5344CB8AC3E}">
        <p14:creationId xmlns:p14="http://schemas.microsoft.com/office/powerpoint/2010/main" val="4002748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D08F-498F-BF26-D532-B07D0856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FA041-CFD4-C541-14A7-9F0C2E15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6BD81F-A30A-23F0-949C-9F500A820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605"/>
            <a:ext cx="5887065" cy="263550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“Fracture detection in pediatric wrist trauma x-ray images using yolov8 algorithm” [1]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- </a:t>
            </a:r>
            <a:r>
              <a:rPr lang="en-US" sz="2400" dirty="0"/>
              <a:t>Ju R, Cai W (2023)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/>
              <a:t>Used GRAZPEDWRI-DX dataset with 20,327 X-ray images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/>
              <a:t>Achieved mAP50 of 0.638 with YOLOv8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/>
              <a:t>Limitation</a:t>
            </a:r>
            <a:r>
              <a:rPr lang="en-US" altLang="en-US" sz="2000" b="1" dirty="0"/>
              <a:t>:</a:t>
            </a:r>
            <a:r>
              <a:rPr lang="en-US" altLang="en-US" sz="2000" dirty="0"/>
              <a:t> Single anatomical region, lower precision (73%)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696B73-9903-F563-1B59-2215BFBF3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8F5119F-8BA5-0AA1-3C1E-C5D7ADD6D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885" y="2457605"/>
            <a:ext cx="4539427" cy="270885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4312C-E389-64FC-B9EE-EC19AFAB405D}"/>
              </a:ext>
            </a:extLst>
          </p:cNvPr>
          <p:cNvSpPr txBox="1">
            <a:spLocks/>
          </p:cNvSpPr>
          <p:nvPr/>
        </p:nvSpPr>
        <p:spPr>
          <a:xfrm>
            <a:off x="7370198" y="512306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Fig 1: </a:t>
            </a:r>
            <a:r>
              <a:rPr lang="en-US" sz="1600" b="0" dirty="0"/>
              <a:t>Model Architecture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73069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1B84-3167-9D11-5E74-4C752B39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F36E-C385-51B3-12D1-071F7F1C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F166B-F879-DF8E-7462-F2A10BB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86F926-6592-A0BE-AC1D-283621BA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A5F8DC8-8012-8030-A5F2-AB79CE31A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25"/>
            <a:ext cx="6162368" cy="244869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“A supervised approach to musculoskeletal imaging fracture detection and classification using deep learning algorithms”[2]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- </a:t>
            </a:r>
            <a:r>
              <a:rPr lang="en-US" sz="2400" dirty="0"/>
              <a:t>Karanam et al. (2023)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2400" dirty="0"/>
          </a:p>
          <a:p>
            <a:pPr lvl="1"/>
            <a:r>
              <a:rPr lang="en-US" sz="2000" dirty="0"/>
              <a:t>Deep learning approach for 6 fracture types using MURA dataset</a:t>
            </a:r>
          </a:p>
          <a:p>
            <a:pPr lvl="1"/>
            <a:r>
              <a:rPr lang="en-US" sz="2000" dirty="0"/>
              <a:t>Applied CLAHE for image enhancement</a:t>
            </a:r>
          </a:p>
          <a:p>
            <a:pPr lvl="1"/>
            <a:r>
              <a:rPr lang="en-US" sz="2000" dirty="0"/>
              <a:t>Achieved 94.58% precision</a:t>
            </a:r>
          </a:p>
          <a:p>
            <a:pPr lvl="1"/>
            <a:r>
              <a:rPr lang="en-US" sz="2000" dirty="0"/>
              <a:t>Limitation</a:t>
            </a:r>
            <a:r>
              <a:rPr lang="en-US" sz="2000" b="1" dirty="0"/>
              <a:t>:</a:t>
            </a:r>
            <a:r>
              <a:rPr lang="en-US" sz="2000" dirty="0"/>
              <a:t> X-ray only, no real-time focus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400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055070E-3D59-7301-29E8-B19C4432BB62}"/>
              </a:ext>
            </a:extLst>
          </p:cNvPr>
          <p:cNvSpPr txBox="1">
            <a:spLocks/>
          </p:cNvSpPr>
          <p:nvPr/>
        </p:nvSpPr>
        <p:spPr>
          <a:xfrm>
            <a:off x="838201" y="4044182"/>
            <a:ext cx="5955889" cy="24486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“Hybrid </a:t>
            </a:r>
            <a:r>
              <a:rPr lang="en-US" sz="2400" dirty="0" err="1"/>
              <a:t>sfnet</a:t>
            </a:r>
            <a:r>
              <a:rPr lang="en-US" sz="2400" dirty="0"/>
              <a:t> model for bone fracture detection </a:t>
            </a:r>
            <a:r>
              <a:rPr lang="en-US" sz="2400" dirty="0" err="1"/>
              <a:t>andclassification</a:t>
            </a:r>
            <a:r>
              <a:rPr lang="en-US" sz="2400" dirty="0"/>
              <a:t> using ml/dl” [3]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- </a:t>
            </a:r>
            <a:r>
              <a:rPr lang="en-US" sz="2400" dirty="0"/>
              <a:t>Yadav &amp; Sharma (2022)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Hybrid CNN combining edge detection with deep learning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Achieved 99.12% F1-score and 100% recall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Arial" panose="020B0604020202020204" pitchFamily="34" charset="0"/>
              </a:rPr>
              <a:t>Limitation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latin typeface="Arial" panose="020B0604020202020204" pitchFamily="34" charset="0"/>
              </a:rPr>
              <a:t> Not tested on multi-modal data, small dataset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en-US" altLang="en-US" sz="2400" dirty="0"/>
          </a:p>
        </p:txBody>
      </p:sp>
      <p:pic>
        <p:nvPicPr>
          <p:cNvPr id="4" name="Picture 3" descr="A diagram of a model&#10;&#10;AI-generated content may be incorrect.">
            <a:extLst>
              <a:ext uri="{FF2B5EF4-FFF2-40B4-BE49-F238E27FC236}">
                <a16:creationId xmlns:a16="http://schemas.microsoft.com/office/drawing/2014/main" id="{66D2E37B-BFF4-2B71-C0A5-0CD5F0D04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568" y="1956779"/>
            <a:ext cx="4761271" cy="1104478"/>
          </a:xfrm>
          <a:prstGeom prst="rect">
            <a:avLst/>
          </a:prstGeom>
        </p:spPr>
      </p:pic>
      <p:pic>
        <p:nvPicPr>
          <p:cNvPr id="8" name="Picture 7" descr="A diagram of a diagram of a number of squares&#10;&#10;AI-generated content may be incorrect.">
            <a:extLst>
              <a:ext uri="{FF2B5EF4-FFF2-40B4-BE49-F238E27FC236}">
                <a16:creationId xmlns:a16="http://schemas.microsoft.com/office/drawing/2014/main" id="{75169B6C-2CD5-B3E4-F60A-8E5CEEB92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568" y="4049566"/>
            <a:ext cx="4761271" cy="191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58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5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8479C-DF06-5BB1-6881-DC05503F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3D3D-B05F-3E25-3055-41F7858D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78586-E205-E939-B502-B8507AE1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8F8D19-ACB3-6100-5005-2A2E2693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02563A8-E7EB-EFD7-58AD-F56ED0609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25"/>
            <a:ext cx="5817914" cy="24486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“Framework for classifying long bone detection using image processing techniques” [4]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- </a:t>
            </a:r>
            <a:r>
              <a:rPr lang="en-US" sz="2400" dirty="0"/>
              <a:t>Selin </a:t>
            </a:r>
            <a:r>
              <a:rPr lang="en-US" sz="2400" dirty="0" err="1"/>
              <a:t>Vironicka</a:t>
            </a:r>
            <a:r>
              <a:rPr lang="en-US" sz="2400" dirty="0"/>
              <a:t> (2022).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latin typeface="Arial" panose="020B0604020202020204" pitchFamily="34" charset="0"/>
              </a:rPr>
              <a:t>Used CT and X-ray images for classification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latin typeface="Arial" panose="020B0604020202020204" pitchFamily="34" charset="0"/>
              </a:rPr>
              <a:t>Transfer learning with Faster-RCNN and rotating bounding boxes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latin typeface="Arial" panose="020B0604020202020204" pitchFamily="34" charset="0"/>
              </a:rPr>
              <a:t>Achieved 94.7% accuracy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latin typeface="Arial" panose="020B0604020202020204" pitchFamily="34" charset="0"/>
              </a:rPr>
              <a:t>Limitation:</a:t>
            </a:r>
            <a:r>
              <a:rPr lang="en-US" altLang="en-US" sz="1400" dirty="0">
                <a:latin typeface="Arial" panose="020B0604020202020204" pitchFamily="34" charset="0"/>
              </a:rPr>
              <a:t> Computationally expensive (207.07 GFLOPs)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400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3E613A2-95B4-07AB-BF63-2EF1ACD6776C}"/>
              </a:ext>
            </a:extLst>
          </p:cNvPr>
          <p:cNvSpPr txBox="1">
            <a:spLocks/>
          </p:cNvSpPr>
          <p:nvPr/>
        </p:nvSpPr>
        <p:spPr>
          <a:xfrm>
            <a:off x="838200" y="3956277"/>
            <a:ext cx="5817914" cy="24486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“Fracture detection </a:t>
            </a:r>
            <a:r>
              <a:rPr lang="en-US" dirty="0" err="1"/>
              <a:t>inwrist</a:t>
            </a:r>
            <a:r>
              <a:rPr lang="en-US" dirty="0"/>
              <a:t> x-ray images </a:t>
            </a:r>
            <a:r>
              <a:rPr lang="en-US" dirty="0" err="1"/>
              <a:t>usingdeep</a:t>
            </a:r>
            <a:r>
              <a:rPr lang="en-US" dirty="0"/>
              <a:t> learning-based object </a:t>
            </a:r>
            <a:r>
              <a:rPr lang="en-US" dirty="0" err="1"/>
              <a:t>detectionmodels</a:t>
            </a:r>
            <a:r>
              <a:rPr lang="en-US" dirty="0"/>
              <a:t>” [5]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	- </a:t>
            </a:r>
            <a:r>
              <a:rPr lang="en-US" sz="2400" dirty="0" err="1"/>
              <a:t>Hardalaç</a:t>
            </a:r>
            <a:r>
              <a:rPr lang="en-US" sz="2400" dirty="0"/>
              <a:t> et al. (2022).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latin typeface="Arial" panose="020B0604020202020204" pitchFamily="34" charset="0"/>
              </a:rPr>
              <a:t>Ensemble-based model for wrist fracture detection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latin typeface="Arial" panose="020B0604020202020204" pitchFamily="34" charset="0"/>
              </a:rPr>
              <a:t>Combined multiple CNN architectures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latin typeface="Arial" panose="020B0604020202020204" pitchFamily="34" charset="0"/>
              </a:rPr>
              <a:t>Limitation:</a:t>
            </a:r>
            <a:r>
              <a:rPr lang="en-US" altLang="en-US" sz="1400" dirty="0">
                <a:latin typeface="Arial" panose="020B0604020202020204" pitchFamily="34" charset="0"/>
              </a:rPr>
              <a:t> Specific to wrist fractures, complex ensemble approach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en-US" altLang="en-US" sz="2400" dirty="0"/>
          </a:p>
        </p:txBody>
      </p:sp>
      <p:pic>
        <p:nvPicPr>
          <p:cNvPr id="4" name="Picture 3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49AAD386-03B6-36CA-E4AD-49ECC2F9F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14" y="1672066"/>
            <a:ext cx="5140462" cy="2138348"/>
          </a:xfrm>
          <a:prstGeom prst="rect">
            <a:avLst/>
          </a:prstGeom>
        </p:spPr>
      </p:pic>
      <p:pic>
        <p:nvPicPr>
          <p:cNvPr id="8" name="Picture 7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CAF35C81-88CB-FE1D-989C-FF019FA8E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114" y="4072139"/>
            <a:ext cx="5140462" cy="21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37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35C1-C8D4-C1E3-D372-340FDB93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5165-C05E-749E-A52F-5326AD32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3C19D-46DD-428E-BBA3-3D11B6E4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9D4E339-20D9-45B7-36F2-04D19C343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3FAC9EA-C870-6579-89DD-A8F255906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6599583-414B-C3D5-4349-45126192F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010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6483E1E-3982-8B2F-CF5D-52BC1C73B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255" y="2135264"/>
            <a:ext cx="9613490" cy="34887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Human Bone Fractures Multi-modal Image Dataset (HBFMID)</a:t>
            </a:r>
            <a:endParaRPr lang="en-US" sz="3200" dirty="0"/>
          </a:p>
          <a:p>
            <a:pPr marL="0" indent="0">
              <a:buNone/>
            </a:pPr>
            <a:r>
              <a:rPr lang="en-US" sz="2400" b="1" dirty="0"/>
              <a:t>Sources:</a:t>
            </a:r>
          </a:p>
          <a:p>
            <a:r>
              <a:rPr lang="en-US" sz="2400" dirty="0"/>
              <a:t>Public databases (MURA, medical repositories)</a:t>
            </a:r>
          </a:p>
          <a:p>
            <a:r>
              <a:rPr lang="en-US" sz="2400" dirty="0"/>
              <a:t>Web-based MRI image collections</a:t>
            </a:r>
          </a:p>
          <a:p>
            <a:r>
              <a:rPr lang="en-US" sz="2400" dirty="0"/>
              <a:t>Multiple anatomical regions covered</a:t>
            </a:r>
          </a:p>
          <a:p>
            <a:r>
              <a:rPr lang="en-US" sz="2400" dirty="0"/>
              <a:t>Total Original Images: 641 – (X-ray images: 510, MRI images: 131)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72011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4A30-91A7-03E8-A680-29E9C8F9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230A-4521-D5C3-81E7-3ECB509F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2049F-340D-3999-68D7-593D4CB4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D9EDC3D-AE24-0682-F3A7-2EBE2C38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27FF07E4-4D59-0222-1461-CDC2D97FD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957302" cy="28201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Anatomical Coverage:</a:t>
            </a:r>
          </a:p>
          <a:p>
            <a:pPr lvl="1"/>
            <a:r>
              <a:rPr lang="en-US" dirty="0"/>
              <a:t>Elbow, Finger, Forearm, Humerus, Shoulder</a:t>
            </a:r>
          </a:p>
          <a:p>
            <a:pPr lvl="1"/>
            <a:r>
              <a:rPr lang="en-US" dirty="0"/>
              <a:t>Wrist, Spinal Cord, Knee, Ankle</a:t>
            </a:r>
          </a:p>
          <a:p>
            <a:pPr lvl="1"/>
            <a:r>
              <a:rPr lang="en-US" dirty="0"/>
              <a:t>Femur, Shinbone, Hip</a:t>
            </a:r>
          </a:p>
          <a:p>
            <a:pPr lvl="1"/>
            <a:r>
              <a:rPr lang="en-US" dirty="0"/>
              <a:t>Healthy bones included for comparison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C38A88F5-566D-FDFE-C807-D08E6A4E4DF0}"/>
              </a:ext>
            </a:extLst>
          </p:cNvPr>
          <p:cNvSpPr txBox="1">
            <a:spLocks/>
          </p:cNvSpPr>
          <p:nvPr/>
        </p:nvSpPr>
        <p:spPr>
          <a:xfrm>
            <a:off x="6096000" y="1721590"/>
            <a:ext cx="4957302" cy="2820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Fracture Types (10 Classes):</a:t>
            </a:r>
          </a:p>
          <a:p>
            <a:pPr lvl="1"/>
            <a:r>
              <a:rPr lang="en-US" dirty="0"/>
              <a:t>Comminuted, Greenstick, Linear, Oblique</a:t>
            </a:r>
          </a:p>
          <a:p>
            <a:pPr lvl="1"/>
            <a:r>
              <a:rPr lang="en-US" dirty="0"/>
              <a:t>Oblique Displaced, Segmental, Spiral</a:t>
            </a:r>
          </a:p>
          <a:p>
            <a:pPr lvl="1"/>
            <a:r>
              <a:rPr lang="en-US" dirty="0"/>
              <a:t>Transverse, Transverse Displaced, Healthy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37812D-01F5-1E4B-1E6B-F46608F11613}"/>
              </a:ext>
            </a:extLst>
          </p:cNvPr>
          <p:cNvGrpSpPr/>
          <p:nvPr/>
        </p:nvGrpSpPr>
        <p:grpSpPr>
          <a:xfrm>
            <a:off x="540774" y="4607282"/>
            <a:ext cx="11110451" cy="1325563"/>
            <a:chOff x="540774" y="4999884"/>
            <a:chExt cx="11110451" cy="132556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8FCC943-13B7-5032-1EB9-34F7CF3B10E5}"/>
                </a:ext>
              </a:extLst>
            </p:cNvPr>
            <p:cNvSpPr/>
            <p:nvPr/>
          </p:nvSpPr>
          <p:spPr>
            <a:xfrm>
              <a:off x="540774" y="4999884"/>
              <a:ext cx="11110451" cy="1325563"/>
            </a:xfrm>
            <a:prstGeom prst="roundRect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D6949B-FEAC-B39A-3BF3-80CC51054BCB}"/>
                </a:ext>
              </a:extLst>
            </p:cNvPr>
            <p:cNvSpPr txBox="1"/>
            <p:nvPr/>
          </p:nvSpPr>
          <p:spPr>
            <a:xfrm>
              <a:off x="555752" y="5282807"/>
              <a:ext cx="228845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Data </a:t>
              </a:r>
            </a:p>
            <a:p>
              <a:pPr algn="ctr"/>
              <a:r>
                <a:rPr lang="en-US" sz="2400" dirty="0"/>
                <a:t>Annotation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19C250-64B7-6F06-66CE-A128E29DD28C}"/>
                </a:ext>
              </a:extLst>
            </p:cNvPr>
            <p:cNvSpPr txBox="1"/>
            <p:nvPr/>
          </p:nvSpPr>
          <p:spPr>
            <a:xfrm>
              <a:off x="3587159" y="5247166"/>
              <a:ext cx="228845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Data </a:t>
              </a:r>
            </a:p>
            <a:p>
              <a:pPr algn="ctr"/>
              <a:r>
                <a:rPr lang="en-US" sz="2400" dirty="0"/>
                <a:t>Pre-processing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C2EFC6-07E1-6B38-4A07-30D65F19C95F}"/>
                </a:ext>
              </a:extLst>
            </p:cNvPr>
            <p:cNvSpPr txBox="1"/>
            <p:nvPr/>
          </p:nvSpPr>
          <p:spPr>
            <a:xfrm>
              <a:off x="6617187" y="5282806"/>
              <a:ext cx="228845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Data </a:t>
              </a:r>
            </a:p>
            <a:p>
              <a:pPr algn="ctr"/>
              <a:r>
                <a:rPr lang="en-US" sz="2400" dirty="0"/>
                <a:t>Augmentation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DE554D-A1D6-5640-5EEA-BD7A3506178B}"/>
                </a:ext>
              </a:extLst>
            </p:cNvPr>
            <p:cNvSpPr txBox="1"/>
            <p:nvPr/>
          </p:nvSpPr>
          <p:spPr>
            <a:xfrm>
              <a:off x="9362767" y="5300645"/>
              <a:ext cx="228845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Final Dataset:</a:t>
              </a:r>
            </a:p>
            <a:p>
              <a:pPr algn="ctr"/>
              <a:r>
                <a:rPr lang="en-US" sz="2400" dirty="0"/>
                <a:t>1539</a:t>
              </a: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7438AEA8-652F-C28D-0DAB-0B182E6C4AB2}"/>
                </a:ext>
              </a:extLst>
            </p:cNvPr>
            <p:cNvSpPr/>
            <p:nvPr/>
          </p:nvSpPr>
          <p:spPr>
            <a:xfrm>
              <a:off x="2505536" y="5611413"/>
              <a:ext cx="746176" cy="173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B20F9A97-1DEB-E50C-8873-CB636724CEE8}"/>
                </a:ext>
              </a:extLst>
            </p:cNvPr>
            <p:cNvSpPr/>
            <p:nvPr/>
          </p:nvSpPr>
          <p:spPr>
            <a:xfrm>
              <a:off x="6045109" y="5599180"/>
              <a:ext cx="746176" cy="173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3CA499A2-745A-DDED-4E31-9E50C711B925}"/>
                </a:ext>
              </a:extLst>
            </p:cNvPr>
            <p:cNvSpPr/>
            <p:nvPr/>
          </p:nvSpPr>
          <p:spPr>
            <a:xfrm>
              <a:off x="8783970" y="5565854"/>
              <a:ext cx="746176" cy="17378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015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D136-9B58-0788-5398-AB97FACD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980A-3F15-91A0-91A8-8CCC748C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132A-3C1B-5B63-9951-29329B433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6932885-2BDA-A4B6-116D-5DB7952A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DA2632FF-DEE2-1FF3-38AA-B5A9B8C0F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2384"/>
            <a:ext cx="4957302" cy="26693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Why YOLOv8?</a:t>
            </a:r>
          </a:p>
          <a:p>
            <a:pPr lvl="1"/>
            <a:r>
              <a:rPr lang="en-US" sz="2000" b="1" dirty="0"/>
              <a:t>State-of-the-art performance</a:t>
            </a:r>
            <a:r>
              <a:rPr lang="en-US" sz="2000" dirty="0"/>
              <a:t> - Highest </a:t>
            </a:r>
            <a:r>
              <a:rPr lang="en-US" sz="2000" dirty="0" err="1"/>
              <a:t>mAP</a:t>
            </a:r>
            <a:r>
              <a:rPr lang="en-US" sz="2000" dirty="0"/>
              <a:t> among YOLO versions</a:t>
            </a:r>
          </a:p>
          <a:p>
            <a:pPr lvl="1"/>
            <a:r>
              <a:rPr lang="en-US" sz="2000" b="1" dirty="0"/>
              <a:t>Real-time detection</a:t>
            </a:r>
            <a:r>
              <a:rPr lang="en-US" sz="2000" dirty="0"/>
              <a:t> capability</a:t>
            </a:r>
          </a:p>
          <a:p>
            <a:pPr lvl="1"/>
            <a:r>
              <a:rPr lang="en-US" sz="2000" b="1" dirty="0"/>
              <a:t>Balance:</a:t>
            </a:r>
            <a:r>
              <a:rPr lang="en-US" sz="2000" dirty="0"/>
              <a:t> Accuracy + Speed + Efficiency</a:t>
            </a:r>
          </a:p>
          <a:p>
            <a:pPr lvl="1"/>
            <a:r>
              <a:rPr lang="en-US" sz="2000" dirty="0"/>
              <a:t>Released January 2023 - Latest advancement</a:t>
            </a:r>
          </a:p>
        </p:txBody>
      </p:sp>
      <p:pic>
        <p:nvPicPr>
          <p:cNvPr id="4" name="Picture 3" descr="A blue and pink background with white text&#10;&#10;AI-generated content may be incorrect.">
            <a:extLst>
              <a:ext uri="{FF2B5EF4-FFF2-40B4-BE49-F238E27FC236}">
                <a16:creationId xmlns:a16="http://schemas.microsoft.com/office/drawing/2014/main" id="{71B54DCE-5666-35B9-80C0-932F66D5B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65" b="24954"/>
          <a:stretch>
            <a:fillRect/>
          </a:stretch>
        </p:blipFill>
        <p:spPr>
          <a:xfrm>
            <a:off x="7720781" y="1778408"/>
            <a:ext cx="1963993" cy="39659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9D5415-ED21-B7B7-A2C5-E28BF1C59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759" y="2296988"/>
            <a:ext cx="5504038" cy="329242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80BE83-CB33-74F3-F362-6FF5D4896CB0}"/>
              </a:ext>
            </a:extLst>
          </p:cNvPr>
          <p:cNvSpPr txBox="1">
            <a:spLocks/>
          </p:cNvSpPr>
          <p:nvPr/>
        </p:nvSpPr>
        <p:spPr>
          <a:xfrm>
            <a:off x="6645377" y="558941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Computer Vision &amp; Pattern Recognition </a:t>
            </a:r>
          </a:p>
        </p:txBody>
      </p:sp>
    </p:spTree>
    <p:extLst>
      <p:ext uri="{BB962C8B-B14F-4D97-AF65-F5344CB8AC3E}">
        <p14:creationId xmlns:p14="http://schemas.microsoft.com/office/powerpoint/2010/main" val="36280478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21E8-98A1-D29D-4E6B-EFF6C43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C5E4-155E-C9F9-2766-3803519C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4282-0A32-BC6F-8B0E-DDB4EBCA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1889A81-5473-DE40-4B9A-E850E9DC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21BA3F31-7729-9C5E-66EF-08FD54031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714095"/>
            <a:ext cx="4195916" cy="1786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Backbone: CSPDarknet53</a:t>
            </a:r>
          </a:p>
          <a:p>
            <a:pPr lvl="1"/>
            <a:r>
              <a:rPr lang="en-US" sz="2000" dirty="0"/>
              <a:t>53 convolutional layers</a:t>
            </a:r>
          </a:p>
          <a:p>
            <a:pPr lvl="1"/>
            <a:r>
              <a:rPr lang="en-US" sz="2000" dirty="0"/>
              <a:t>Cross-stage partial connections</a:t>
            </a:r>
          </a:p>
          <a:p>
            <a:pPr lvl="1"/>
            <a:r>
              <a:rPr lang="en-US" sz="2000" dirty="0"/>
              <a:t>Enhanced information flow across layers</a:t>
            </a:r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3943EDE2-D283-28FF-A60B-C9EEDEC74FB0}"/>
              </a:ext>
            </a:extLst>
          </p:cNvPr>
          <p:cNvSpPr txBox="1">
            <a:spLocks/>
          </p:cNvSpPr>
          <p:nvPr/>
        </p:nvSpPr>
        <p:spPr>
          <a:xfrm>
            <a:off x="5132437" y="1714095"/>
            <a:ext cx="7285703" cy="178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Head: Detection Layers</a:t>
            </a:r>
          </a:p>
          <a:p>
            <a:pPr lvl="1"/>
            <a:r>
              <a:rPr lang="en-US" sz="2000" dirty="0"/>
              <a:t>Multiple fully connected layers</a:t>
            </a:r>
          </a:p>
          <a:p>
            <a:pPr lvl="1"/>
            <a:r>
              <a:rPr lang="en-US" sz="2000" b="1" dirty="0"/>
              <a:t>C2f Module:</a:t>
            </a:r>
            <a:r>
              <a:rPr lang="en-US" sz="2000" dirty="0"/>
              <a:t> Combines C3 + ELAN for feature extraction</a:t>
            </a:r>
          </a:p>
          <a:p>
            <a:pPr lvl="1"/>
            <a:r>
              <a:rPr lang="en-US" sz="2000" b="1" dirty="0"/>
              <a:t>SPPF Module:</a:t>
            </a:r>
            <a:r>
              <a:rPr lang="en-US" sz="2000" dirty="0"/>
              <a:t> Spatial Pyramid Pooling-Fast for faster inference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093D44EF-F96D-D6E8-4638-104954A9EC7F}"/>
              </a:ext>
            </a:extLst>
          </p:cNvPr>
          <p:cNvSpPr txBox="1">
            <a:spLocks/>
          </p:cNvSpPr>
          <p:nvPr/>
        </p:nvSpPr>
        <p:spPr>
          <a:xfrm>
            <a:off x="575187" y="3857179"/>
            <a:ext cx="7678994" cy="178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Training Configuration:</a:t>
            </a:r>
          </a:p>
          <a:p>
            <a:pPr lvl="1"/>
            <a:r>
              <a:rPr lang="en-US" sz="2000" b="1" dirty="0"/>
              <a:t>Model:</a:t>
            </a:r>
            <a:r>
              <a:rPr lang="en-US" sz="2000" dirty="0"/>
              <a:t> YOLOv8m.pt (medium variant)</a:t>
            </a:r>
          </a:p>
          <a:p>
            <a:pPr lvl="1"/>
            <a:r>
              <a:rPr lang="en-US" sz="2000" b="1" dirty="0"/>
              <a:t>Layers:</a:t>
            </a:r>
            <a:r>
              <a:rPr lang="en-US" sz="2000" dirty="0"/>
              <a:t> 295 | </a:t>
            </a:r>
            <a:r>
              <a:rPr lang="en-US" sz="2000" b="1" dirty="0"/>
              <a:t>Parameters:</a:t>
            </a:r>
            <a:r>
              <a:rPr lang="en-US" sz="2000" dirty="0"/>
              <a:t> 25,862,689</a:t>
            </a:r>
          </a:p>
          <a:p>
            <a:pPr lvl="1"/>
            <a:r>
              <a:rPr lang="en-US" sz="2000" b="1" dirty="0"/>
              <a:t>Learning rate:</a:t>
            </a:r>
            <a:r>
              <a:rPr lang="en-US" sz="2000" dirty="0"/>
              <a:t> 0.000667 | </a:t>
            </a:r>
            <a:r>
              <a:rPr lang="en-US" sz="2000" b="1" dirty="0"/>
              <a:t>Batch size:</a:t>
            </a:r>
            <a:r>
              <a:rPr lang="en-US" sz="2000" dirty="0"/>
              <a:t> 16</a:t>
            </a:r>
          </a:p>
          <a:p>
            <a:pPr lvl="1"/>
            <a:r>
              <a:rPr lang="en-US" sz="2000" b="1" dirty="0"/>
              <a:t>Epochs:</a:t>
            </a:r>
            <a:r>
              <a:rPr lang="en-US" sz="2000" dirty="0"/>
              <a:t> 50, 100, 200 (tested)</a:t>
            </a:r>
          </a:p>
          <a:p>
            <a:pPr lvl="1"/>
            <a:r>
              <a:rPr lang="en-US" sz="2000" b="1" dirty="0"/>
              <a:t>Loss Functions:</a:t>
            </a:r>
            <a:r>
              <a:rPr lang="en-US" sz="2000" dirty="0"/>
              <a:t> </a:t>
            </a:r>
            <a:r>
              <a:rPr lang="en-US" sz="2000" dirty="0" err="1"/>
              <a:t>CIoU</a:t>
            </a:r>
            <a:r>
              <a:rPr lang="en-US" sz="2000" dirty="0"/>
              <a:t> Loss + DFL Loss + BCE Loss</a:t>
            </a:r>
          </a:p>
        </p:txBody>
      </p:sp>
    </p:spTree>
    <p:extLst>
      <p:ext uri="{BB962C8B-B14F-4D97-AF65-F5344CB8AC3E}">
        <p14:creationId xmlns:p14="http://schemas.microsoft.com/office/powerpoint/2010/main" val="33777740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3" grpId="0" build="allAtOnce"/>
      <p:bldP spid="5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3A93C-5F4D-D0ED-7449-768A9FD55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25FE-9BC8-05F6-29CA-7ECB0988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9B81A74-2B65-2C2E-2DD4-A0A5A6BC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pic>
        <p:nvPicPr>
          <p:cNvPr id="14" name="Picture 13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7FCFB7DC-6E32-22F6-AE5B-B85E74D40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99" y="1620377"/>
            <a:ext cx="10370001" cy="47359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E17C18-D6E3-D5EE-8EEA-8B6764C988EF}"/>
              </a:ext>
            </a:extLst>
          </p:cNvPr>
          <p:cNvSpPr txBox="1"/>
          <p:nvPr/>
        </p:nvSpPr>
        <p:spPr>
          <a:xfrm>
            <a:off x="3050540" y="324433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Proposed Model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DFCD408-149E-5041-64BC-735D2962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Proposed Method </a:t>
            </a:r>
          </a:p>
        </p:txBody>
      </p:sp>
    </p:spTree>
    <p:extLst>
      <p:ext uri="{BB962C8B-B14F-4D97-AF65-F5344CB8AC3E}">
        <p14:creationId xmlns:p14="http://schemas.microsoft.com/office/powerpoint/2010/main" val="36676435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A7A48-E070-F3F7-F886-03CF3507F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AA563904-AE88-FAE7-318E-67004C20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19"/>
          <a:stretch>
            <a:fillRect/>
          </a:stretch>
        </p:blipFill>
        <p:spPr>
          <a:xfrm>
            <a:off x="745297" y="3689691"/>
            <a:ext cx="5025712" cy="1713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E4AB50-0DEF-1D56-54F8-0A4113257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19"/>
          <a:stretch>
            <a:fillRect/>
          </a:stretch>
        </p:blipFill>
        <p:spPr>
          <a:xfrm>
            <a:off x="6340309" y="3689691"/>
            <a:ext cx="4932808" cy="1713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D29A965-4F36-066C-7152-1DEC37DB7881}"/>
              </a:ext>
            </a:extLst>
          </p:cNvPr>
          <p:cNvSpPr txBox="1">
            <a:spLocks/>
          </p:cNvSpPr>
          <p:nvPr/>
        </p:nvSpPr>
        <p:spPr>
          <a:xfrm>
            <a:off x="2140936" y="2844580"/>
            <a:ext cx="1805421" cy="845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Hardware Setup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951760-1F18-749A-2CE9-21001A838672}"/>
              </a:ext>
            </a:extLst>
          </p:cNvPr>
          <p:cNvSpPr txBox="1">
            <a:spLocks/>
          </p:cNvSpPr>
          <p:nvPr/>
        </p:nvSpPr>
        <p:spPr>
          <a:xfrm>
            <a:off x="7904002" y="2844580"/>
            <a:ext cx="1805421" cy="845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Software Stack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3FD6DA3-3CB2-801E-A2A2-93CDAFAA9134}"/>
              </a:ext>
            </a:extLst>
          </p:cNvPr>
          <p:cNvSpPr txBox="1">
            <a:spLocks/>
          </p:cNvSpPr>
          <p:nvPr/>
        </p:nvSpPr>
        <p:spPr>
          <a:xfrm>
            <a:off x="3637921" y="1764255"/>
            <a:ext cx="49161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System Configuration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221CA7-3256-7D1A-8150-60F8D908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Experimental Setup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316B8-0788-7361-B497-74AA0D45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66474-C856-ABA5-FCE8-94C1852F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1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15268A-799C-F89C-ADAA-9588F0D2A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22" y="1936367"/>
            <a:ext cx="10531753" cy="441998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B8F3F5B-0E56-141E-291D-64CBBB453FD9}"/>
              </a:ext>
            </a:extLst>
          </p:cNvPr>
          <p:cNvSpPr txBox="1">
            <a:spLocks/>
          </p:cNvSpPr>
          <p:nvPr/>
        </p:nvSpPr>
        <p:spPr>
          <a:xfrm>
            <a:off x="3637919" y="1150746"/>
            <a:ext cx="49161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Training Parameters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9D337-567F-F07D-807C-A2AC4D1F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Experimental Setup (Cont’d)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90F2B-BFED-42ED-8C34-8E011732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954F-B251-588D-297C-C127AA9B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2138368D-1815-C43C-6343-C30C2CE20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49" y="2159608"/>
            <a:ext cx="6302651" cy="963587"/>
          </a:xfrm>
          <a:prstGeom prst="rect">
            <a:avLst/>
          </a:prstGeom>
        </p:spPr>
      </p:pic>
      <p:pic>
        <p:nvPicPr>
          <p:cNvPr id="12" name="Picture 11" descr="A math equation on a white background&#10;&#10;AI-generated content may be incorrect.">
            <a:extLst>
              <a:ext uri="{FF2B5EF4-FFF2-40B4-BE49-F238E27FC236}">
                <a16:creationId xmlns:a16="http://schemas.microsoft.com/office/drawing/2014/main" id="{A468F44E-8C41-EBA6-4F48-726C6F588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31" y="3288570"/>
            <a:ext cx="6302651" cy="1164247"/>
          </a:xfrm>
          <a:prstGeom prst="rect">
            <a:avLst/>
          </a:prstGeom>
        </p:spPr>
      </p:pic>
      <p:pic>
        <p:nvPicPr>
          <p:cNvPr id="14" name="Picture 13" descr="A close-up of a blue and white box&#10;&#10;AI-generated content may be incorrect.">
            <a:extLst>
              <a:ext uri="{FF2B5EF4-FFF2-40B4-BE49-F238E27FC236}">
                <a16:creationId xmlns:a16="http://schemas.microsoft.com/office/drawing/2014/main" id="{2E67B7C2-F9AF-9FF6-FF0F-08D484BE2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92" y="4630548"/>
            <a:ext cx="2959947" cy="873579"/>
          </a:xfrm>
          <a:prstGeom prst="rect">
            <a:avLst/>
          </a:prstGeom>
        </p:spPr>
      </p:pic>
      <p:pic>
        <p:nvPicPr>
          <p:cNvPr id="16" name="Picture 15" descr="A close-up of a blue and white box&#10;&#10;AI-generated content may be incorrect.">
            <a:extLst>
              <a:ext uri="{FF2B5EF4-FFF2-40B4-BE49-F238E27FC236}">
                <a16:creationId xmlns:a16="http://schemas.microsoft.com/office/drawing/2014/main" id="{A646B853-DB29-9486-812E-D7FEC4C4F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453" y="4630548"/>
            <a:ext cx="2959947" cy="874953"/>
          </a:xfrm>
          <a:prstGeom prst="rect">
            <a:avLst/>
          </a:prstGeom>
        </p:spPr>
      </p:pic>
      <p:pic>
        <p:nvPicPr>
          <p:cNvPr id="18" name="Picture 17" descr="A red and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390DB208-D411-AADF-D44D-F69EFB64491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6" r="-1"/>
          <a:stretch>
            <a:fillRect/>
          </a:stretch>
        </p:blipFill>
        <p:spPr>
          <a:xfrm>
            <a:off x="7974563" y="4101343"/>
            <a:ext cx="3475758" cy="1058410"/>
          </a:xfrm>
          <a:prstGeom prst="rect">
            <a:avLst/>
          </a:prstGeom>
        </p:spPr>
      </p:pic>
      <p:pic>
        <p:nvPicPr>
          <p:cNvPr id="20" name="Picture 19" descr="A group of black text&#10;&#10;AI-generated content may be incorrect.">
            <a:extLst>
              <a:ext uri="{FF2B5EF4-FFF2-40B4-BE49-F238E27FC236}">
                <a16:creationId xmlns:a16="http://schemas.microsoft.com/office/drawing/2014/main" id="{94EADEC9-2A1E-9FAB-3261-C71C281485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5597" y="2236694"/>
            <a:ext cx="3391194" cy="161558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001E9A7A-B6BD-A463-53C8-BD2F69C7DF86}"/>
              </a:ext>
            </a:extLst>
          </p:cNvPr>
          <p:cNvSpPr txBox="1">
            <a:spLocks/>
          </p:cNvSpPr>
          <p:nvPr/>
        </p:nvSpPr>
        <p:spPr>
          <a:xfrm>
            <a:off x="3963439" y="907671"/>
            <a:ext cx="49161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Model Evaluation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83103-5E55-83A3-7330-DCAE0B04F7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Setup (Cont’d)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24105-1274-4D6B-743A-BD30FCE1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E469B-79B5-F5E1-0B0B-417B1BED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02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1374C-B365-A23B-6CFA-2123714A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88A5C114-6645-D919-EE04-CF3F9F7C2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07" y="1191794"/>
            <a:ext cx="10296385" cy="493841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55AD1D-23E0-A6BD-3FD6-266640A6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F9D4B-06E0-27FD-C220-F240B938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392126-246C-CE63-ACA8-20E1D358243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</a:t>
            </a:r>
          </a:p>
        </p:txBody>
      </p:sp>
    </p:spTree>
    <p:extLst>
      <p:ext uri="{BB962C8B-B14F-4D97-AF65-F5344CB8AC3E}">
        <p14:creationId xmlns:p14="http://schemas.microsoft.com/office/powerpoint/2010/main" val="888860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2769F-88EE-746D-7744-8B50231F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&#10;&#10;AI-generated content may be incorrect.">
            <a:extLst>
              <a:ext uri="{FF2B5EF4-FFF2-40B4-BE49-F238E27FC236}">
                <a16:creationId xmlns:a16="http://schemas.microsoft.com/office/drawing/2014/main" id="{B1F576F2-3E07-7AA7-8158-B452E8D36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98" y="1338246"/>
            <a:ext cx="7222803" cy="475662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F7E9C1-ECD2-DF6C-C57C-A5A63D5F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2C204-1C18-2604-B298-BE4F7151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227D9-0032-E101-82AC-3E7930E49D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1059543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FBE8-2EF3-105D-77F2-F55B9E8C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86E5FE4C-DF3B-5425-F385-0642022A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725" y="1080355"/>
            <a:ext cx="6452549" cy="527599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E30503-381D-CA4A-592E-11D0A81C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44C45F-CB12-7786-688D-FB955F30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2158D0-BBAE-79CF-3C1D-128F0E7D900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101741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C041-5FD4-4B03-F007-2F50B7AF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DE6A040-70CB-3C87-0BD4-DD69BA7CDCDE}"/>
              </a:ext>
            </a:extLst>
          </p:cNvPr>
          <p:cNvSpPr txBox="1"/>
          <p:nvPr/>
        </p:nvSpPr>
        <p:spPr>
          <a:xfrm>
            <a:off x="1091681" y="1690690"/>
            <a:ext cx="9211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Metrics Across Training Epochs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8F87E-EBBD-AB41-73DE-FDA084E9C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58878"/>
              </p:ext>
            </p:extLst>
          </p:nvPr>
        </p:nvGraphicFramePr>
        <p:xfrm>
          <a:off x="1091681" y="2345110"/>
          <a:ext cx="9952836" cy="260340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40531">
                  <a:extLst>
                    <a:ext uri="{9D8B030D-6E8A-4147-A177-3AD203B41FA5}">
                      <a16:colId xmlns:a16="http://schemas.microsoft.com/office/drawing/2014/main" val="2586040454"/>
                    </a:ext>
                  </a:extLst>
                </a:gridCol>
                <a:gridCol w="1757082">
                  <a:extLst>
                    <a:ext uri="{9D8B030D-6E8A-4147-A177-3AD203B41FA5}">
                      <a16:colId xmlns:a16="http://schemas.microsoft.com/office/drawing/2014/main" val="1960973311"/>
                    </a:ext>
                  </a:extLst>
                </a:gridCol>
                <a:gridCol w="1757082">
                  <a:extLst>
                    <a:ext uri="{9D8B030D-6E8A-4147-A177-3AD203B41FA5}">
                      <a16:colId xmlns:a16="http://schemas.microsoft.com/office/drawing/2014/main" val="3248091170"/>
                    </a:ext>
                  </a:extLst>
                </a:gridCol>
                <a:gridCol w="1425389">
                  <a:extLst>
                    <a:ext uri="{9D8B030D-6E8A-4147-A177-3AD203B41FA5}">
                      <a16:colId xmlns:a16="http://schemas.microsoft.com/office/drawing/2014/main" val="3711433585"/>
                    </a:ext>
                  </a:extLst>
                </a:gridCol>
                <a:gridCol w="1577788">
                  <a:extLst>
                    <a:ext uri="{9D8B030D-6E8A-4147-A177-3AD203B41FA5}">
                      <a16:colId xmlns:a16="http://schemas.microsoft.com/office/drawing/2014/main" val="1283346301"/>
                    </a:ext>
                  </a:extLst>
                </a:gridCol>
                <a:gridCol w="2294964">
                  <a:extLst>
                    <a:ext uri="{9D8B030D-6E8A-4147-A177-3AD203B41FA5}">
                      <a16:colId xmlns:a16="http://schemas.microsoft.com/office/drawing/2014/main" val="1768347231"/>
                    </a:ext>
                  </a:extLst>
                </a:gridCol>
              </a:tblGrid>
              <a:tr h="830561">
                <a:tc>
                  <a:txBody>
                    <a:bodyPr/>
                    <a:lstStyle/>
                    <a:p>
                      <a:r>
                        <a:rPr lang="en-US" dirty="0"/>
                        <a:t>Epochs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Loss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mAP@50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mAP@50-95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511381"/>
                  </a:ext>
                </a:extLst>
              </a:tr>
              <a:tr h="590949"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0.53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94563"/>
                  </a:ext>
                </a:extLst>
              </a:tr>
              <a:tr h="590949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163958"/>
                  </a:ext>
                </a:extLst>
              </a:tr>
              <a:tr h="590949">
                <a:tc>
                  <a:txBody>
                    <a:bodyPr/>
                    <a:lstStyle/>
                    <a:p>
                      <a:r>
                        <a:rPr lang="en-US" b="1" dirty="0"/>
                        <a:t>200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0.32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0.95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0.93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0.92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0.48</a:t>
                      </a:r>
                      <a:endParaRPr lang="en-US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705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89725-A2BC-F280-661E-D77C14F0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9982D-3392-8834-A8BD-C6B45F3F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0DAF7F-C09E-7B61-E1A3-B5EF631D5F3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2641597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12AB-B3FB-297A-E372-F6C5990E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llage of x-ray images&#10;&#10;AI-generated content may be incorrect.">
            <a:extLst>
              <a:ext uri="{FF2B5EF4-FFF2-40B4-BE49-F238E27FC236}">
                <a16:creationId xmlns:a16="http://schemas.microsoft.com/office/drawing/2014/main" id="{337693ED-162C-2F88-898A-7134A310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380" y="1332983"/>
            <a:ext cx="4372713" cy="52059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227468-34E7-4C9A-0C43-2A6ACE0847BC}"/>
              </a:ext>
            </a:extLst>
          </p:cNvPr>
          <p:cNvSpPr txBox="1"/>
          <p:nvPr/>
        </p:nvSpPr>
        <p:spPr>
          <a:xfrm>
            <a:off x="735082" y="1193484"/>
            <a:ext cx="7272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 Light (Headings)"/>
              </a:rPr>
              <a:t>Model Confusion and Diagnosis</a:t>
            </a:r>
          </a:p>
        </p:txBody>
      </p:sp>
      <p:pic>
        <p:nvPicPr>
          <p:cNvPr id="8" name="Picture 7" descr="A close-up of a message&#10;&#10;AI-generated content may be incorrect.">
            <a:extLst>
              <a:ext uri="{FF2B5EF4-FFF2-40B4-BE49-F238E27FC236}">
                <a16:creationId xmlns:a16="http://schemas.microsoft.com/office/drawing/2014/main" id="{BB8A439D-1201-779E-C010-093E3D06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2" y="2253351"/>
            <a:ext cx="5723116" cy="1767993"/>
          </a:xfrm>
          <a:prstGeom prst="rect">
            <a:avLst/>
          </a:prstGeom>
        </p:spPr>
      </p:pic>
      <p:pic>
        <p:nvPicPr>
          <p:cNvPr id="10" name="Picture 9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88B52E0-5967-576D-B907-AE655CA73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2"/>
          <a:stretch>
            <a:fillRect/>
          </a:stretch>
        </p:blipFill>
        <p:spPr>
          <a:xfrm>
            <a:off x="753012" y="4297252"/>
            <a:ext cx="5723116" cy="115072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961790-2A6B-3CBF-9288-CED61872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C1725-0EAD-800D-CB10-83E3BB7B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AED9200-3322-99FC-6B59-EF6A4BAAE02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3986964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AAFD-2380-25FE-D77C-24C843D4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1C4A6-E576-3628-7FF9-C2293501780A}"/>
              </a:ext>
            </a:extLst>
          </p:cNvPr>
          <p:cNvSpPr txBox="1"/>
          <p:nvPr/>
        </p:nvSpPr>
        <p:spPr>
          <a:xfrm>
            <a:off x="4029658" y="1055395"/>
            <a:ext cx="41326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Calibri Light (Headings)"/>
              </a:rPr>
              <a:t>Simulated Results</a:t>
            </a:r>
          </a:p>
        </p:txBody>
      </p:sp>
      <p:pic>
        <p:nvPicPr>
          <p:cNvPr id="4" name="Picture 3" descr="A table of numbers and a few words&#10;&#10;AI-generated content may be incorrect.">
            <a:extLst>
              <a:ext uri="{FF2B5EF4-FFF2-40B4-BE49-F238E27FC236}">
                <a16:creationId xmlns:a16="http://schemas.microsoft.com/office/drawing/2014/main" id="{A91D7072-A360-E4CE-4CD1-71D6EEA92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089" y="1935350"/>
            <a:ext cx="9005821" cy="419273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D05897-CD17-10FA-8A0D-8D90750D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6DF58-3A9E-5051-A218-70F696DB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6364AE-B02B-005A-752E-08B4A2667476}"/>
              </a:ext>
            </a:extLst>
          </p:cNvPr>
          <p:cNvSpPr txBox="1">
            <a:spLocks/>
          </p:cNvSpPr>
          <p:nvPr/>
        </p:nvSpPr>
        <p:spPr>
          <a:xfrm>
            <a:off x="592394" y="38152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3317809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96C0-9560-4827-94C4-FE4C8CAD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E84DE7-E8A3-EC39-A2A2-233029B757A4}"/>
              </a:ext>
            </a:extLst>
          </p:cNvPr>
          <p:cNvSpPr txBox="1"/>
          <p:nvPr/>
        </p:nvSpPr>
        <p:spPr>
          <a:xfrm>
            <a:off x="1091681" y="1690690"/>
            <a:ext cx="9211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comparison with existing studies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ECC4BCD2-6F86-89D6-2A3E-C3BCD1196F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323029"/>
              </p:ext>
            </p:extLst>
          </p:nvPr>
        </p:nvGraphicFramePr>
        <p:xfrm>
          <a:off x="1091681" y="2459992"/>
          <a:ext cx="10096270" cy="25423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90790">
                  <a:extLst>
                    <a:ext uri="{9D8B030D-6E8A-4147-A177-3AD203B41FA5}">
                      <a16:colId xmlns:a16="http://schemas.microsoft.com/office/drawing/2014/main" val="694777974"/>
                    </a:ext>
                  </a:extLst>
                </a:gridCol>
                <a:gridCol w="1246094">
                  <a:extLst>
                    <a:ext uri="{9D8B030D-6E8A-4147-A177-3AD203B41FA5}">
                      <a16:colId xmlns:a16="http://schemas.microsoft.com/office/drawing/2014/main" val="1744739918"/>
                    </a:ext>
                  </a:extLst>
                </a:gridCol>
                <a:gridCol w="1541929">
                  <a:extLst>
                    <a:ext uri="{9D8B030D-6E8A-4147-A177-3AD203B41FA5}">
                      <a16:colId xmlns:a16="http://schemas.microsoft.com/office/drawing/2014/main" val="3017639731"/>
                    </a:ext>
                  </a:extLst>
                </a:gridCol>
                <a:gridCol w="1550894">
                  <a:extLst>
                    <a:ext uri="{9D8B030D-6E8A-4147-A177-3AD203B41FA5}">
                      <a16:colId xmlns:a16="http://schemas.microsoft.com/office/drawing/2014/main" val="589607849"/>
                    </a:ext>
                  </a:extLst>
                </a:gridCol>
                <a:gridCol w="1702026">
                  <a:extLst>
                    <a:ext uri="{9D8B030D-6E8A-4147-A177-3AD203B41FA5}">
                      <a16:colId xmlns:a16="http://schemas.microsoft.com/office/drawing/2014/main" val="241759950"/>
                    </a:ext>
                  </a:extLst>
                </a:gridCol>
                <a:gridCol w="1964537">
                  <a:extLst>
                    <a:ext uri="{9D8B030D-6E8A-4147-A177-3AD203B41FA5}">
                      <a16:colId xmlns:a16="http://schemas.microsoft.com/office/drawing/2014/main" val="46952770"/>
                    </a:ext>
                  </a:extLst>
                </a:gridCol>
              </a:tblGrid>
              <a:tr h="423719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mAP</a:t>
                      </a:r>
                      <a:r>
                        <a:rPr lang="en-US" dirty="0"/>
                        <a:t>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GFLOPs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Size (MB)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773124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r>
                        <a:rPr lang="en-US" dirty="0"/>
                        <a:t>Faster R-CNN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207.07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134.5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23534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r>
                        <a:rPr lang="en-US" dirty="0"/>
                        <a:t>YOLOv5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179554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r>
                        <a:rPr lang="en-US" dirty="0"/>
                        <a:t>YOLOX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70.21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278114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YOLOv7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104.7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91948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YOLOv8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95.3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92.8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91.6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78.7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49.7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43435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2CE782-1C68-0118-68E9-5CB7D370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ADCCD-969B-204B-0F5E-9E17BCFC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DD3FD7-3660-B19C-BBF3-2A22E1F6CBDC}"/>
              </a:ext>
            </a:extLst>
          </p:cNvPr>
          <p:cNvSpPr txBox="1">
            <a:spLocks/>
          </p:cNvSpPr>
          <p:nvPr/>
        </p:nvSpPr>
        <p:spPr>
          <a:xfrm>
            <a:off x="672351" y="62793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1053216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6766-1905-6DED-8B20-B62956C9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6C1E998-D842-D601-ED20-316B311DD315}"/>
              </a:ext>
            </a:extLst>
          </p:cNvPr>
          <p:cNvSpPr txBox="1"/>
          <p:nvPr/>
        </p:nvSpPr>
        <p:spPr>
          <a:xfrm>
            <a:off x="1091681" y="1690690"/>
            <a:ext cx="9211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Comparing the proposed model performance with existing studies.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D110FAA1-7B24-1B42-501B-C926BD8430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709918"/>
              </p:ext>
            </p:extLst>
          </p:nvPr>
        </p:nvGraphicFramePr>
        <p:xfrm>
          <a:off x="600635" y="2424146"/>
          <a:ext cx="11053484" cy="276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39153">
                  <a:extLst>
                    <a:ext uri="{9D8B030D-6E8A-4147-A177-3AD203B41FA5}">
                      <a16:colId xmlns:a16="http://schemas.microsoft.com/office/drawing/2014/main" val="694777974"/>
                    </a:ext>
                  </a:extLst>
                </a:gridCol>
                <a:gridCol w="1909483">
                  <a:extLst>
                    <a:ext uri="{9D8B030D-6E8A-4147-A177-3AD203B41FA5}">
                      <a16:colId xmlns:a16="http://schemas.microsoft.com/office/drawing/2014/main" val="2411252805"/>
                    </a:ext>
                  </a:extLst>
                </a:gridCol>
                <a:gridCol w="1272988">
                  <a:extLst>
                    <a:ext uri="{9D8B030D-6E8A-4147-A177-3AD203B41FA5}">
                      <a16:colId xmlns:a16="http://schemas.microsoft.com/office/drawing/2014/main" val="70678370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3110907731"/>
                    </a:ext>
                  </a:extLst>
                </a:gridCol>
                <a:gridCol w="1577788">
                  <a:extLst>
                    <a:ext uri="{9D8B030D-6E8A-4147-A177-3AD203B41FA5}">
                      <a16:colId xmlns:a16="http://schemas.microsoft.com/office/drawing/2014/main" val="1744739918"/>
                    </a:ext>
                  </a:extLst>
                </a:gridCol>
                <a:gridCol w="1479177">
                  <a:extLst>
                    <a:ext uri="{9D8B030D-6E8A-4147-A177-3AD203B41FA5}">
                      <a16:colId xmlns:a16="http://schemas.microsoft.com/office/drawing/2014/main" val="2901236692"/>
                    </a:ext>
                  </a:extLst>
                </a:gridCol>
                <a:gridCol w="1308848">
                  <a:extLst>
                    <a:ext uri="{9D8B030D-6E8A-4147-A177-3AD203B41FA5}">
                      <a16:colId xmlns:a16="http://schemas.microsoft.com/office/drawing/2014/main" val="58960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Fracture Type No.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Modality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Optimizer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(%)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773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 and Cai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GRAZPEDWRI-DX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X-ray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YOLOv8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SGD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2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Karanam et. Al.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MURA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X-ray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InceptionResNetV2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SGD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94.58%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84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Selin </a:t>
                      </a:r>
                      <a:r>
                        <a:rPr lang="en-US" dirty="0" err="1"/>
                        <a:t>Vironicka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X-ray, CT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Faster-RCNN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SGD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40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Nguyn et. Al.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MURA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X-ray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YOLOv7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SGD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84.03%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Proposed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HBFMID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X-ray, MRI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YOLOv8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AdamW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95%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17955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FC9C91-7805-B481-9994-732E1FA5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35993-E652-C689-D05B-E4C91706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C44C170-7AFD-1EFE-1D76-FE37A2AF2C1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Experimental Results (Cont’d)</a:t>
            </a:r>
          </a:p>
        </p:txBody>
      </p:sp>
    </p:spTree>
    <p:extLst>
      <p:ext uri="{BB962C8B-B14F-4D97-AF65-F5344CB8AC3E}">
        <p14:creationId xmlns:p14="http://schemas.microsoft.com/office/powerpoint/2010/main" val="958454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62E4998-9593-DA75-3641-97F67CFC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Small Dataset: contained only </a:t>
            </a:r>
            <a:r>
              <a:rPr lang="en-US" b="1" dirty="0"/>
              <a:t>641 images</a:t>
            </a:r>
            <a:r>
              <a:rPr lang="en-US" dirty="0"/>
              <a:t>, which can lead to over-fitting without augmentation.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Image Quality: Noise, motion artifacts, and low resolution in medical imaging can impact detection accuracy.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80FC01-744E-0AF8-B962-8619C344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Computer Vision &amp; Pattern Recognition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4DE0C-C1A3-0E8C-0E16-34A19885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09E9DE-0E34-B420-9661-1A3FEE913BDF}"/>
              </a:ext>
            </a:extLst>
          </p:cNvPr>
          <p:cNvSpPr txBox="1">
            <a:spLocks/>
          </p:cNvSpPr>
          <p:nvPr/>
        </p:nvSpPr>
        <p:spPr>
          <a:xfrm>
            <a:off x="838200" y="615182"/>
            <a:ext cx="10515600" cy="10310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Limitations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B4B3F-9DCF-9DF2-2B6E-C868F029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E9F1-DDBD-DD50-C6A6-BF2DB482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ABF54-AF9B-1F67-3202-17AB47C6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DB46381-3418-E813-A84F-8A632104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64255B5C-42C8-40C5-D8AD-58F98A7C7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5" y="1714095"/>
            <a:ext cx="10417279" cy="1786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Key Achievements:</a:t>
            </a:r>
          </a:p>
          <a:p>
            <a:pPr lvl="1"/>
            <a:r>
              <a:rPr lang="en-US" sz="2000" dirty="0"/>
              <a:t>Successfully developed </a:t>
            </a:r>
            <a:r>
              <a:rPr lang="en-US" sz="2000" b="1" dirty="0"/>
              <a:t>real-time automated fracture detection system</a:t>
            </a:r>
            <a:r>
              <a:rPr lang="en-US" sz="2000" dirty="0"/>
              <a:t> using YOLOv8</a:t>
            </a:r>
          </a:p>
          <a:p>
            <a:pPr lvl="1"/>
            <a:r>
              <a:rPr lang="en-US" sz="2000" dirty="0"/>
              <a:t>Created novel </a:t>
            </a:r>
            <a:r>
              <a:rPr lang="en-US" sz="2000" b="1" dirty="0"/>
              <a:t>HBFMID multi-modal dataset</a:t>
            </a:r>
            <a:r>
              <a:rPr lang="en-US" sz="2000" dirty="0"/>
              <a:t> (X-ray + MRI) with 10 fracture classes</a:t>
            </a:r>
          </a:p>
          <a:p>
            <a:pPr lvl="1"/>
            <a:r>
              <a:rPr lang="en-US" sz="2000" dirty="0"/>
              <a:t>Achieved </a:t>
            </a:r>
            <a:r>
              <a:rPr lang="en-US" sz="2000" b="1" dirty="0"/>
              <a:t>95% precision, 93% recall, and 92% </a:t>
            </a:r>
            <a:r>
              <a:rPr lang="en-US" sz="2000" b="1" dirty="0" err="1"/>
              <a:t>mAP</a:t>
            </a:r>
            <a:r>
              <a:rPr lang="en-US" sz="2000" dirty="0"/>
              <a:t> - exceeding clinical requirements</a:t>
            </a:r>
          </a:p>
          <a:p>
            <a:pPr lvl="1"/>
            <a:r>
              <a:rPr lang="en-US" sz="2000" b="1" dirty="0"/>
              <a:t>Outperformed state-of-the-art models</a:t>
            </a:r>
            <a:r>
              <a:rPr lang="en-US" sz="2000" dirty="0"/>
              <a:t> (Faster R-CNN, YOLOv5, YOLOv7)</a:t>
            </a:r>
          </a:p>
          <a:p>
            <a:pPr lvl="1"/>
            <a:r>
              <a:rPr lang="en-US" sz="2000" dirty="0"/>
              <a:t>Demonstrated </a:t>
            </a:r>
            <a:r>
              <a:rPr lang="en-US" sz="2000" b="1" dirty="0"/>
              <a:t>real-time capability</a:t>
            </a:r>
            <a:r>
              <a:rPr lang="en-US" sz="2000" dirty="0"/>
              <a:t> with 4ms inference time per image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D15D804A-1E76-F1E9-690F-13AEB750D9CF}"/>
              </a:ext>
            </a:extLst>
          </p:cNvPr>
          <p:cNvSpPr txBox="1">
            <a:spLocks/>
          </p:cNvSpPr>
          <p:nvPr/>
        </p:nvSpPr>
        <p:spPr>
          <a:xfrm>
            <a:off x="575186" y="3857179"/>
            <a:ext cx="10613923" cy="178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Clinical Impact:</a:t>
            </a:r>
          </a:p>
          <a:p>
            <a:pPr lvl="1"/>
            <a:r>
              <a:rPr lang="en-US" sz="2000" b="1" dirty="0"/>
              <a:t>Reduces diagnostic time</a:t>
            </a:r>
            <a:r>
              <a:rPr lang="en-US" sz="2000" dirty="0"/>
              <a:t> - Faster patient care in emergency settings</a:t>
            </a:r>
          </a:p>
          <a:p>
            <a:pPr lvl="1"/>
            <a:r>
              <a:rPr lang="en-US" sz="2000" b="1" dirty="0"/>
              <a:t>Minimizes human error</a:t>
            </a:r>
            <a:r>
              <a:rPr lang="en-US" sz="2000" dirty="0"/>
              <a:t> - Assists tired/inexperienced radiologists</a:t>
            </a:r>
          </a:p>
          <a:p>
            <a:pPr lvl="1"/>
            <a:r>
              <a:rPr lang="en-US" sz="2000" b="1" dirty="0"/>
              <a:t>Supports remote healthcare</a:t>
            </a:r>
            <a:r>
              <a:rPr lang="en-US" sz="2000" dirty="0"/>
              <a:t> - Enables diagnosis in under-resourced facilities</a:t>
            </a:r>
          </a:p>
          <a:p>
            <a:pPr lvl="1"/>
            <a:r>
              <a:rPr lang="en-US" sz="2000" b="1" dirty="0"/>
              <a:t>Handles multiple modalities</a:t>
            </a:r>
            <a:r>
              <a:rPr lang="en-US" sz="2000" dirty="0"/>
              <a:t> - Flexible integration with existing medical imaging systems</a:t>
            </a:r>
          </a:p>
        </p:txBody>
      </p:sp>
    </p:spTree>
    <p:extLst>
      <p:ext uri="{BB962C8B-B14F-4D97-AF65-F5344CB8AC3E}">
        <p14:creationId xmlns:p14="http://schemas.microsoft.com/office/powerpoint/2010/main" val="797092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5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23006-9B3E-D39B-9336-5563FC64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25FD-22FA-A0D4-FF3D-83338B2E4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Hypothesis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41BB-8D21-E839-D780-089FDCB0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4F1DD17-C4F6-CBED-5815-884ABB8F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13A057DF-66ED-59D5-27EC-496D689C2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26" y="1690688"/>
            <a:ext cx="8952272" cy="1786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Dataset Enhancement:</a:t>
            </a:r>
          </a:p>
          <a:p>
            <a:pPr lvl="1"/>
            <a:r>
              <a:rPr lang="en-US" sz="2000" dirty="0"/>
              <a:t>Expand to </a:t>
            </a:r>
            <a:r>
              <a:rPr lang="en-US" sz="2000" b="1" dirty="0"/>
              <a:t>5,000+ images</a:t>
            </a:r>
            <a:r>
              <a:rPr lang="en-US" sz="2000" dirty="0"/>
              <a:t> with balanced class distribution</a:t>
            </a:r>
          </a:p>
          <a:p>
            <a:pPr lvl="1"/>
            <a:r>
              <a:rPr lang="en-US" sz="2000" dirty="0"/>
              <a:t>Include </a:t>
            </a:r>
            <a:r>
              <a:rPr lang="en-US" sz="2000" b="1" dirty="0"/>
              <a:t>additional modalities</a:t>
            </a:r>
            <a:r>
              <a:rPr lang="en-US" sz="2000" dirty="0"/>
              <a:t> (CT scans, ultrasound)</a:t>
            </a:r>
          </a:p>
          <a:p>
            <a:pPr lvl="1"/>
            <a:r>
              <a:rPr lang="en-US" sz="2000" dirty="0"/>
              <a:t>Add </a:t>
            </a:r>
            <a:r>
              <a:rPr lang="en-US" sz="2000" b="1" dirty="0"/>
              <a:t>pediatric and geriatric</a:t>
            </a:r>
            <a:r>
              <a:rPr lang="en-US" sz="2000" dirty="0"/>
              <a:t> specific datasets</a:t>
            </a:r>
          </a:p>
          <a:p>
            <a:pPr lvl="1"/>
            <a:r>
              <a:rPr lang="en-US" sz="2000" dirty="0"/>
              <a:t>Incorporate </a:t>
            </a:r>
            <a:r>
              <a:rPr lang="en-US" sz="2000" b="1" dirty="0"/>
              <a:t>diverse populations</a:t>
            </a:r>
            <a:r>
              <a:rPr lang="en-US" sz="2000" dirty="0"/>
              <a:t> and imaging equipment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4987111C-B1CC-B6F3-2D4E-591A04CBA0A5}"/>
              </a:ext>
            </a:extLst>
          </p:cNvPr>
          <p:cNvSpPr txBox="1">
            <a:spLocks/>
          </p:cNvSpPr>
          <p:nvPr/>
        </p:nvSpPr>
        <p:spPr>
          <a:xfrm>
            <a:off x="209426" y="3762652"/>
            <a:ext cx="7217534" cy="2499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Function Customization (Focal Loss)</a:t>
            </a:r>
          </a:p>
          <a:p>
            <a:pPr lvl="1"/>
            <a:r>
              <a:rPr lang="en-US" sz="2000" b="1" dirty="0"/>
              <a:t>Current Challenge:</a:t>
            </a:r>
            <a:r>
              <a:rPr lang="en-US" sz="2000" dirty="0"/>
              <a:t> Class imbalance in dataset</a:t>
            </a:r>
          </a:p>
          <a:p>
            <a:pPr lvl="1"/>
            <a:r>
              <a:rPr lang="en-US" sz="2000" b="1" dirty="0"/>
              <a:t>Current Method:</a:t>
            </a:r>
            <a:r>
              <a:rPr lang="en-US" sz="2000" dirty="0"/>
              <a:t> Binary Cross Entropy (BCE) loss</a:t>
            </a:r>
          </a:p>
          <a:p>
            <a:pPr lvl="1"/>
            <a:r>
              <a:rPr lang="en-US" sz="2000" b="1" dirty="0"/>
              <a:t>Proposed Solution:</a:t>
            </a:r>
            <a:r>
              <a:rPr lang="en-US" sz="2000" dirty="0"/>
              <a:t> Implement </a:t>
            </a:r>
            <a:r>
              <a:rPr lang="en-US" sz="2000" b="1" dirty="0"/>
              <a:t>Focal Loss</a:t>
            </a:r>
            <a:r>
              <a:rPr lang="en-US" sz="2000" dirty="0"/>
              <a:t> with gamma parameter</a:t>
            </a:r>
          </a:p>
          <a:p>
            <a:pPr lvl="1"/>
            <a:r>
              <a:rPr lang="en-US" sz="2000" b="1" dirty="0"/>
              <a:t>Benefit:</a:t>
            </a:r>
            <a:r>
              <a:rPr lang="en-US" sz="2000" dirty="0"/>
              <a:t> Down-weights easy examples, forces model to focus on hard cases (rare spiral/greenstick fractures)</a:t>
            </a:r>
          </a:p>
          <a:p>
            <a:pPr lvl="1"/>
            <a:r>
              <a:rPr lang="en-US" sz="2000" b="1" dirty="0"/>
              <a:t>Expected Impact:</a:t>
            </a:r>
            <a:r>
              <a:rPr lang="en-US" sz="2000" dirty="0"/>
              <a:t> Improved performance on minority classes</a:t>
            </a:r>
          </a:p>
        </p:txBody>
      </p:sp>
      <p:pic>
        <p:nvPicPr>
          <p:cNvPr id="4" name="Picture 3" descr="A graph and diagram of a loss python&#10;&#10;AI-generated content may be incorrect.">
            <a:extLst>
              <a:ext uri="{FF2B5EF4-FFF2-40B4-BE49-F238E27FC236}">
                <a16:creationId xmlns:a16="http://schemas.microsoft.com/office/drawing/2014/main" id="{3F59787E-1BCB-6A6C-FC50-32D0207D9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960" y="2584186"/>
            <a:ext cx="4399280" cy="259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50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5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3B7C-8704-BA2A-D8A9-ED98D354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E8867-1EDD-4D24-A3D0-9F3E0DDF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Hypothesis (Cont’d)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FA5D7-151B-DE59-EF61-E040B529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292D206-6B79-A99C-D081-17489267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AEBBDF45-7F6B-356A-2D08-29820D1BC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5" y="1714095"/>
            <a:ext cx="9581537" cy="17869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Hyperparameter Optimization (Learning Rate Scheduling)</a:t>
            </a:r>
          </a:p>
          <a:p>
            <a:pPr lvl="1"/>
            <a:r>
              <a:rPr lang="en-US" sz="2000" b="1" dirty="0"/>
              <a:t>Current Challenge:</a:t>
            </a:r>
            <a:r>
              <a:rPr lang="en-US" sz="2000" dirty="0"/>
              <a:t> Training on small, high-variance multi-modal dataset</a:t>
            </a:r>
          </a:p>
          <a:p>
            <a:pPr lvl="1"/>
            <a:r>
              <a:rPr lang="en-US" sz="2000" b="1" dirty="0"/>
              <a:t>Current Method:</a:t>
            </a:r>
            <a:r>
              <a:rPr lang="en-US" sz="2000" dirty="0"/>
              <a:t> Fixed learning rate with cosine annealing</a:t>
            </a:r>
          </a:p>
          <a:p>
            <a:pPr lvl="1"/>
            <a:r>
              <a:rPr lang="en-US" sz="2000" b="1" dirty="0"/>
              <a:t>Proposed Solution:</a:t>
            </a:r>
            <a:r>
              <a:rPr lang="en-US" sz="2000" dirty="0"/>
              <a:t> </a:t>
            </a:r>
            <a:r>
              <a:rPr lang="en-US" sz="2000" b="1" dirty="0"/>
              <a:t>Cosine Annealing Warm Restarts</a:t>
            </a:r>
            <a:r>
              <a:rPr lang="en-US" sz="2000" dirty="0"/>
              <a:t> schedule</a:t>
            </a:r>
          </a:p>
          <a:p>
            <a:pPr lvl="1"/>
            <a:r>
              <a:rPr lang="en-US" sz="2000" b="1" dirty="0"/>
              <a:t>Benefit:</a:t>
            </a:r>
            <a:r>
              <a:rPr lang="en-US" sz="2000" dirty="0"/>
              <a:t> Helps model escape local minima during training</a:t>
            </a:r>
          </a:p>
          <a:p>
            <a:pPr lvl="1"/>
            <a:r>
              <a:rPr lang="en-US" sz="2000" b="1" dirty="0"/>
              <a:t>Expected Impact:</a:t>
            </a:r>
            <a:r>
              <a:rPr lang="en-US" sz="2000" dirty="0"/>
              <a:t> Better convergence and generalization</a:t>
            </a:r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09969EAF-0A51-0B96-ACD9-EEB98791C744}"/>
              </a:ext>
            </a:extLst>
          </p:cNvPr>
          <p:cNvSpPr txBox="1">
            <a:spLocks/>
          </p:cNvSpPr>
          <p:nvPr/>
        </p:nvSpPr>
        <p:spPr>
          <a:xfrm>
            <a:off x="575186" y="3857179"/>
            <a:ext cx="10613923" cy="178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Activation Function Swap</a:t>
            </a:r>
          </a:p>
          <a:p>
            <a:pPr lvl="1"/>
            <a:r>
              <a:rPr lang="en-US" sz="2000" b="1" dirty="0"/>
              <a:t>Current:</a:t>
            </a:r>
            <a:r>
              <a:rPr lang="en-US" sz="2000" dirty="0"/>
              <a:t> </a:t>
            </a:r>
            <a:r>
              <a:rPr lang="en-US" sz="2000" dirty="0" err="1"/>
              <a:t>SiLU</a:t>
            </a:r>
            <a:r>
              <a:rPr lang="en-US" sz="2000" dirty="0"/>
              <a:t> (default in YOLOv8)</a:t>
            </a:r>
          </a:p>
          <a:p>
            <a:pPr lvl="1"/>
            <a:r>
              <a:rPr lang="en-US" sz="2000" b="1" dirty="0"/>
              <a:t>Proposed Solution:</a:t>
            </a:r>
            <a:r>
              <a:rPr lang="en-US" sz="2000" dirty="0"/>
              <a:t> Switch to </a:t>
            </a:r>
            <a:r>
              <a:rPr lang="en-US" sz="2000" b="1" dirty="0"/>
              <a:t>Mish activation</a:t>
            </a:r>
            <a:r>
              <a:rPr lang="en-US" sz="2000" dirty="0"/>
              <a:t> function: x · tanh(ln(1 + </a:t>
            </a:r>
            <a:r>
              <a:rPr lang="en-US" sz="2000" dirty="0" err="1"/>
              <a:t>e^x</a:t>
            </a:r>
            <a:r>
              <a:rPr lang="en-US" sz="2000" dirty="0"/>
              <a:t>))</a:t>
            </a:r>
          </a:p>
          <a:p>
            <a:pPr lvl="1"/>
            <a:r>
              <a:rPr lang="en-US" sz="2000" b="1" dirty="0"/>
              <a:t>Benefit:</a:t>
            </a:r>
            <a:r>
              <a:rPr lang="en-US" sz="2000" dirty="0"/>
              <a:t> Smoother gradient flow for fine bone X-ray textures</a:t>
            </a:r>
          </a:p>
          <a:p>
            <a:pPr lvl="1"/>
            <a:r>
              <a:rPr lang="en-US" sz="2000" b="1" dirty="0"/>
              <a:t>Expected Impact:</a:t>
            </a:r>
            <a:r>
              <a:rPr lang="en-US" sz="2000" dirty="0"/>
              <a:t> Better generalization in medical CAD systems</a:t>
            </a:r>
          </a:p>
        </p:txBody>
      </p:sp>
    </p:spTree>
    <p:extLst>
      <p:ext uri="{BB962C8B-B14F-4D97-AF65-F5344CB8AC3E}">
        <p14:creationId xmlns:p14="http://schemas.microsoft.com/office/powerpoint/2010/main" val="2093749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5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E591-DC84-F890-A626-D96068D9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204C-FFAF-0F85-3A03-3EFAA7CF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DAFB-C6D5-7484-C4E3-601974B3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323C0AB-D918-FF64-773D-A34C5C94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 dirty="0"/>
              <a:t>Computer Vision &amp; Pattern Recognition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BBF2CB-D4AC-6B74-96D6-7805DB7F9880}"/>
              </a:ext>
            </a:extLst>
          </p:cNvPr>
          <p:cNvSpPr txBox="1"/>
          <p:nvPr/>
        </p:nvSpPr>
        <p:spPr>
          <a:xfrm>
            <a:off x="1303020" y="1690688"/>
            <a:ext cx="95859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[1]</a:t>
            </a:r>
            <a:r>
              <a:rPr lang="en-US"/>
              <a:t> Ju, R., &amp; Cai, W. </a:t>
            </a:r>
            <a:r>
              <a:rPr lang="en-US" dirty="0"/>
              <a:t>(2023). Fracture detection in pediatric wrist trauma x-ray images using YOLOv8 algorithm. </a:t>
            </a:r>
            <a:r>
              <a:rPr lang="en-US" i="1" dirty="0"/>
              <a:t>Scientific Reports</a:t>
            </a:r>
            <a:r>
              <a:rPr lang="en-US" dirty="0"/>
              <a:t>, 13(1). </a:t>
            </a:r>
            <a:r>
              <a:rPr lang="en-US" dirty="0">
                <a:hlinkClick r:id="rId3"/>
              </a:rPr>
              <a:t>https://doi.org/10.1038/s41598-023-47460-7</a:t>
            </a:r>
            <a:endParaRPr lang="en-US" dirty="0"/>
          </a:p>
          <a:p>
            <a:pPr>
              <a:buNone/>
            </a:pPr>
            <a:r>
              <a:rPr lang="en-US" b="1" dirty="0"/>
              <a:t>[2]</a:t>
            </a:r>
            <a:r>
              <a:rPr lang="en-US" dirty="0"/>
              <a:t> Karanam, S. R., Srinivas, Y., &amp; Chakravarty, S. (2023). A supervised approach to musculoskeletal imaging fracture detection and classification using deep learning algorithms. </a:t>
            </a:r>
            <a:r>
              <a:rPr lang="en-US" i="1" dirty="0"/>
              <a:t>Computer Assisted Methods in Engineering and Science</a:t>
            </a:r>
            <a:r>
              <a:rPr lang="en-US" dirty="0"/>
              <a:t>, 30(3), 369–385. </a:t>
            </a:r>
            <a:r>
              <a:rPr lang="en-US" dirty="0">
                <a:hlinkClick r:id="rId4"/>
              </a:rPr>
              <a:t>https://doi.org/10.24423/cames.682</a:t>
            </a:r>
            <a:endParaRPr lang="en-US" dirty="0"/>
          </a:p>
          <a:p>
            <a:pPr>
              <a:buNone/>
            </a:pPr>
            <a:r>
              <a:rPr lang="en-US" b="1" dirty="0"/>
              <a:t>[3]</a:t>
            </a:r>
            <a:r>
              <a:rPr lang="en-US" dirty="0"/>
              <a:t> Yadav, D. P., Sharma, A., Athithan, S., Bhola, A., Sharma, B., &amp; </a:t>
            </a:r>
            <a:r>
              <a:rPr lang="en-US" dirty="0" err="1"/>
              <a:t>Dhaou</a:t>
            </a:r>
            <a:r>
              <a:rPr lang="en-US" dirty="0"/>
              <a:t>, I. B. (2022). Hybrid </a:t>
            </a:r>
            <a:r>
              <a:rPr lang="en-US" dirty="0" err="1"/>
              <a:t>SFNet</a:t>
            </a:r>
            <a:r>
              <a:rPr lang="en-US" dirty="0"/>
              <a:t> model for bone fracture detection and classification using ML/DL. </a:t>
            </a:r>
            <a:r>
              <a:rPr lang="en-US" i="1" dirty="0"/>
              <a:t>Sensors</a:t>
            </a:r>
            <a:r>
              <a:rPr lang="en-US" dirty="0"/>
              <a:t>, 22(15). </a:t>
            </a:r>
            <a:r>
              <a:rPr lang="en-US" dirty="0">
                <a:hlinkClick r:id="rId5"/>
              </a:rPr>
              <a:t>https://doi.org/10.3390/s22155823</a:t>
            </a:r>
            <a:endParaRPr lang="en-US" dirty="0"/>
          </a:p>
          <a:p>
            <a:pPr>
              <a:buNone/>
            </a:pPr>
            <a:r>
              <a:rPr lang="en-US" b="1" dirty="0"/>
              <a:t>[4]</a:t>
            </a:r>
            <a:r>
              <a:rPr lang="en-US" dirty="0"/>
              <a:t> Selin </a:t>
            </a:r>
            <a:r>
              <a:rPr lang="en-US" dirty="0" err="1"/>
              <a:t>Vironicka</a:t>
            </a:r>
            <a:r>
              <a:rPr lang="en-US" dirty="0"/>
              <a:t>, A. D. J. G. R. S. (2022). Framework for classifying long bone detection using image processing techniques. </a:t>
            </a:r>
            <a:r>
              <a:rPr lang="en-US" i="1" dirty="0"/>
              <a:t>International Journal of Intelligent Systems and Applications in Engineering</a:t>
            </a:r>
            <a:r>
              <a:rPr lang="en-US" dirty="0"/>
              <a:t>, 10(1S), 56–66.</a:t>
            </a:r>
          </a:p>
          <a:p>
            <a:pPr>
              <a:buNone/>
            </a:pPr>
            <a:r>
              <a:rPr lang="en-US" b="1" dirty="0"/>
              <a:t>[5]</a:t>
            </a:r>
            <a:r>
              <a:rPr lang="en-US" dirty="0"/>
              <a:t> </a:t>
            </a:r>
            <a:r>
              <a:rPr lang="en-US" dirty="0" err="1"/>
              <a:t>Hardalaç</a:t>
            </a:r>
            <a:r>
              <a:rPr lang="en-US" dirty="0"/>
              <a:t>, F., Uysal, F., Peker, O., </a:t>
            </a:r>
            <a:r>
              <a:rPr lang="en-US" dirty="0" err="1"/>
              <a:t>Çiçeklidağ</a:t>
            </a:r>
            <a:r>
              <a:rPr lang="en-US" dirty="0"/>
              <a:t>, M., Tolunay, T., Tokgöz, N., </a:t>
            </a:r>
            <a:r>
              <a:rPr lang="en-US" dirty="0" err="1"/>
              <a:t>Kutbay</a:t>
            </a:r>
            <a:r>
              <a:rPr lang="en-US" dirty="0"/>
              <a:t>, U., </a:t>
            </a:r>
            <a:r>
              <a:rPr lang="en-US" dirty="0" err="1"/>
              <a:t>Demirciler</a:t>
            </a:r>
            <a:r>
              <a:rPr lang="en-US" dirty="0"/>
              <a:t>, B., &amp; Mert, F. (2022). Fracture detection in wrist X-ray images using deep learning-based object detection models. </a:t>
            </a:r>
            <a:r>
              <a:rPr lang="en-US" i="1" dirty="0"/>
              <a:t>Sensors</a:t>
            </a:r>
            <a:r>
              <a:rPr lang="en-US" dirty="0"/>
              <a:t>, 22(3). </a:t>
            </a:r>
            <a:r>
              <a:rPr lang="en-US" dirty="0">
                <a:hlinkClick r:id="rId6"/>
              </a:rPr>
              <a:t>https://doi.org/10.3390/s22031285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914594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333F-DE73-0334-0DDF-2739C3AB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705A3-74DF-E5EC-A887-F5D82FBC7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791CA-DC88-CED7-47E8-7D279F16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31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EAA1F6E-8241-012A-1CA8-202A5D70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sz="1600"/>
              <a:t>Computer Vision &amp; Pattern Recognition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835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1888</TotalTime>
  <Words>2082</Words>
  <Application>Microsoft Office PowerPoint</Application>
  <PresentationFormat>Widescreen</PresentationFormat>
  <Paragraphs>422</Paragraphs>
  <Slides>31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Calibri Light (Headings)</vt:lpstr>
      <vt:lpstr>Times New Roman</vt:lpstr>
      <vt:lpstr>Wingdings</vt:lpstr>
      <vt:lpstr>Office Theme</vt:lpstr>
      <vt:lpstr>Real-Time Human Bone Fracture Detection Using YOLOv8</vt:lpstr>
      <vt:lpstr>Talk Outline</vt:lpstr>
      <vt:lpstr>Problem Background</vt:lpstr>
      <vt:lpstr>Research Objectives</vt:lpstr>
      <vt:lpstr>Research Gap</vt:lpstr>
      <vt:lpstr>Research Contributions</vt:lpstr>
      <vt:lpstr>Related Studies</vt:lpstr>
      <vt:lpstr>Related Studies</vt:lpstr>
      <vt:lpstr>Related Studies</vt:lpstr>
      <vt:lpstr>Data Collection</vt:lpstr>
      <vt:lpstr>Data Collection</vt:lpstr>
      <vt:lpstr>Proposed Model</vt:lpstr>
      <vt:lpstr>Proposed Model</vt:lpstr>
      <vt:lpstr>Proposed Method </vt:lpstr>
      <vt:lpstr>Experimental Setup </vt:lpstr>
      <vt:lpstr>Experimental Setup (Cont’d)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Proposed Hypothesis</vt:lpstr>
      <vt:lpstr>Proposed Hypothesis (Cont’d)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Shahnaj shipu</dc:creator>
  <cp:lastModifiedBy>RAIYEN ZAYED RAKIN</cp:lastModifiedBy>
  <cp:revision>58</cp:revision>
  <dcterms:created xsi:type="dcterms:W3CDTF">2025-02-08T16:48:10Z</dcterms:created>
  <dcterms:modified xsi:type="dcterms:W3CDTF">2025-12-28T05:42:13Z</dcterms:modified>
</cp:coreProperties>
</file>